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1: The Evolving Coffee Landscape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consumer landscape is rapidly shifting towards conscious consumption. There's a clear and increasing demand for products that align with ethical and environmental values. Subscription models, offering convenience and predictability, are perfectly positioned to meet this demand, creating a powerful synergy for growth.</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Welcome investors to an analysis of a high-growth market. We will explore how sustainable coffee subscriptions are set to dominate in 2026.</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2: Market Opportunity: Sustainable Coffee Subscriptions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The market for sustainable coffee subscriptions is experiencing robust expansion, driven by conscious consumerism and the inherent stability of recurring revenue models. Projections indicate a significant upward trend in 2026, making this a prime sector for investment.</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While precise 2026 growth rate data is still being finalized, early indicators and market analysis point to exponential growth. We are confident in the upward trajectory.</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ORB-6157208e, ORB-c3968c28, ORB-c4cdac58, ORB-7c90a897, ORB-5a39225e</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3: The Power of Loyalty-Driven Recurring Revenue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Loyalty-driven recurring revenue is the bedrock of a stable and predictable business. By fostering deep customer relationships and providing consistent value, these models ensure repeat purchases and reduce churn. This translates directly into predictable cash flow and a higher valuation for the business.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This model is not just about selling coffee; it's about building lasting relationships. Our focus on customer satisfaction ensures a steady, growing revenue stream.</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ORB-522ecf5c, ORB-52617b4c, ORB-19f8a133</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4: Technical Innovation: AI-Optimized Logistics</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Artificial Intelligence is revolutionizing logistics for subscription services. By optimizing delivery routes, AI significantly cuts down on fuel consumption, driver time, and overall operational expenses. This technological advancement directly contributes to a healthier bottom line and a more sustainable operation.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AI is not just a buzzword; it's a critical tool for efficiency. We leverage advanced algorithms to ensure cost-effective and timely deliveries, a key differentiator.</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5: Technical Innovation: Compostable Packaging Tech</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Embracing cutting-edge compostable packaging technology addresses consumer demand for eco-friendly solutions and reduces environmental impact. This innovation not only enhances brand perception but also aligns with circular economy principles, making our product more attractive to the conscious consumer.</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Our commitment to sustainability extends to our packaging. We are investing in materials that are not only functional but also fully biodegradable, meeting consumer expectations.</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6: Commercial Adoption and Consumer Trust</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Consumer adoption of sustainable practices, including the use of compostable packaging, is on the rise. Educating consumers on proper disposal methods is key to maximizing the environmental benefits and reinforcing brand trust. As awareness grows, so does the market's willingness to embrace these eco-conscious choices.</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are actively working on consumer education campaigns to ensure our packaging is disposed of correctly. Early results indicate strong consumer engagement and positive feedback.</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7: Investment Outlook: Growth and ROI</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Investing in sustainable coffee subscriptions offers a compelling opportunity for significant returns. The combination of a growing market, a resilient loyalty-driven revenue model, and operational efficiencies through AI and eco-packaging creates a powerful value proposition. We project strong ROI driven by customer loyalty and market expansion.</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Our financial projections are robust, underpinned by a scalable business model and a clear path to profitability. This is an opportunity to invest in a sustainable future with significant financial upside.</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1C"/>
        </a:solidFill>
        <a:effectLst/>
      </p:bgPr>
    </p:bg>
    <p:spTree>
      <p:nvGrpSpPr>
        <p:cNvPr id="1" name=""/>
        <p:cNvGrpSpPr/>
        <p:nvPr/>
      </p:nvGrpSpPr>
      <p:grpSpPr/>
      <p:pic>
        <p:nvPicPr>
          <p:cNvPr id="2" name="Picture 1" descr="2a1de542-04c7-45ed-bd9b-f68586de0987.jpe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347472"/>
          </a:xfrm>
          <a:prstGeom prst="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549640" y="502920"/>
            <a:ext cx="3017520" cy="3017520"/>
          </a:xfrm>
          <a:prstGeom prst="ellipse">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384048"/>
            <a:ext cx="1920240" cy="347472"/>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SPEAKER NOTES</a:t>
            </a:r>
          </a:p>
        </p:txBody>
      </p:sp>
      <p:sp>
        <p:nvSpPr>
          <p:cNvPr id="7" name="TextBox 6"/>
          <p:cNvSpPr txBox="1"/>
          <p:nvPr/>
        </p:nvSpPr>
        <p:spPr>
          <a:xfrm>
            <a:off x="658368" y="594360"/>
            <a:ext cx="10607040" cy="822960"/>
          </a:xfrm>
          <a:prstGeom prst="rect">
            <a:avLst/>
          </a:prstGeom>
          <a:noFill/>
        </p:spPr>
        <p:txBody>
          <a:bodyPr wrap="square">
            <a:spAutoFit/>
          </a:bodyPr>
          <a:lstStyle/>
          <a:p>
            <a:r>
              <a:rPr sz="2400" b="1">
                <a:solidFill>
                  <a:srgbClr val="FFFFFF"/>
                </a:solidFill>
              </a:rPr>
              <a:t>Speaker Notes | Slide 8: Partnering for a Sustainable Future</a:t>
            </a:r>
          </a:p>
        </p:txBody>
      </p:sp>
      <p:sp>
        <p:nvSpPr>
          <p:cNvPr id="8" name="Rounded Rectangle 7"/>
          <p:cNvSpPr/>
          <p:nvPr/>
        </p:nvSpPr>
        <p:spPr>
          <a:xfrm>
            <a:off x="594360" y="1298448"/>
            <a:ext cx="10972800" cy="4526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64208"/>
            <a:ext cx="9875520" cy="1097280"/>
          </a:xfrm>
          <a:prstGeom prst="rect">
            <a:avLst/>
          </a:prstGeom>
          <a:noFill/>
        </p:spPr>
        <p:txBody>
          <a:bodyPr wrap="square">
            <a:normAutofit/>
          </a:bodyPr>
          <a:lstStyle/>
          <a:p>
            <a:r>
              <a:rPr sz="1300" b="1">
                <a:solidFill>
                  <a:srgbClr val="166534"/>
                </a:solidFill>
              </a:rPr>
              <a:t>Slide summary</a:t>
            </a:r>
          </a:p>
          <a:p>
            <a:pPr>
              <a:defRPr sz="1600">
                <a:solidFill>
                  <a:srgbClr val="1F2937"/>
                </a:solidFill>
              </a:defRPr>
            </a:pPr>
            <a:r>
              <a:t>We are at the forefront of a significant market shift, offering a unique opportunity to invest in a sustainable, profitable, and future-proof business. By partnering with us, you are investing in a company poised for substantial growth, driven by innovation and customer loyalty.</a:t>
            </a:r>
          </a:p>
        </p:txBody>
      </p:sp>
      <p:sp>
        <p:nvSpPr>
          <p:cNvPr id="10" name="TextBox 9"/>
          <p:cNvSpPr txBox="1"/>
          <p:nvPr/>
        </p:nvSpPr>
        <p:spPr>
          <a:xfrm>
            <a:off x="868680" y="2816352"/>
            <a:ext cx="9875520" cy="2011680"/>
          </a:xfrm>
          <a:prstGeom prst="rect">
            <a:avLst/>
          </a:prstGeom>
          <a:noFill/>
        </p:spPr>
        <p:txBody>
          <a:bodyPr wrap="square">
            <a:normAutofit/>
          </a:bodyPr>
          <a:lstStyle/>
          <a:p>
            <a:r>
              <a:rPr sz="1300" b="1">
                <a:solidFill>
                  <a:srgbClr val="166534"/>
                </a:solidFill>
              </a:rPr>
              <a:t>Speaker notes</a:t>
            </a:r>
          </a:p>
          <a:p>
            <a:pPr>
              <a:defRPr sz="1600">
                <a:solidFill>
                  <a:srgbClr val="1F2937"/>
                </a:solidFill>
              </a:defRPr>
            </a:pPr>
            <a:r>
              <a:t>We are seeking partners who share our vision for a sustainable and profitable future. We are confident that this investment represents a significant opportunity for mutual success. Thank you.</a:t>
            </a:r>
          </a:p>
        </p:txBody>
      </p:sp>
      <p:sp>
        <p:nvSpPr>
          <p:cNvPr id="11" name="TextBox 10"/>
          <p:cNvSpPr txBox="1"/>
          <p:nvPr/>
        </p:nvSpPr>
        <p:spPr>
          <a:xfrm>
            <a:off x="868680" y="4983480"/>
            <a:ext cx="9875520" cy="640080"/>
          </a:xfrm>
          <a:prstGeom prst="rect">
            <a:avLst/>
          </a:prstGeom>
          <a:noFill/>
        </p:spPr>
        <p:txBody>
          <a:bodyPr wrap="none">
            <a:spAutoFit/>
          </a:bodyPr>
          <a:lstStyle/>
          <a:p>
            <a:r>
              <a:rPr sz="1200">
                <a:solidFill>
                  <a:srgbClr val="334155"/>
                </a:solidFill>
              </a:rPr>
              <a:t>Evidence orbs: reasoned synthesis</a:t>
            </a:r>
          </a:p>
        </p:txBody>
      </p:sp>
      <p:sp>
        <p:nvSpPr>
          <p:cNvPr id="12" name="Rounded Rectangle 11"/>
          <p:cNvSpPr/>
          <p:nvPr/>
        </p:nvSpPr>
        <p:spPr>
          <a:xfrm>
            <a:off x="8641080" y="1737360"/>
            <a:ext cx="2468880" cy="278892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rPr>
              <a:t>Delivery cues</a:t>
            </a:r>
          </a:p>
          <a:p>
            <a:pPr>
              <a:spcAft>
                <a:spcPts val="800"/>
              </a:spcAft>
              <a:defRPr sz="1150">
                <a:solidFill>
                  <a:srgbClr val="FFFFFF"/>
                </a:solidFill>
              </a:defRPr>
            </a:pPr>
            <a:r>
              <a:t>Open with the stake, not the detail.</a:t>
            </a:r>
          </a:p>
          <a:p>
            <a:pPr>
              <a:spcAft>
                <a:spcPts val="800"/>
              </a:spcAft>
              <a:defRPr sz="1150">
                <a:solidFill>
                  <a:srgbClr val="FFFFFF"/>
                </a:solidFill>
              </a:defRPr>
            </a:pPr>
            <a:r>
              <a:t>Land one proof point before expanding.</a:t>
            </a:r>
          </a:p>
          <a:p>
            <a:pPr>
              <a:spcAft>
                <a:spcPts val="800"/>
              </a:spcAft>
              <a:defRPr sz="1150">
                <a:solidFill>
                  <a:srgbClr val="FFFFFF"/>
                </a:solidFill>
              </a:defRPr>
            </a:pPr>
            <a:r>
              <a:t>Pause before the final takeaway.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