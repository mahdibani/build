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The Unsustainable Status Quo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highlight the current market gap and the growing demand for sustainable coffee solutions.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The global coffee market is vast, yet traditional models often fall short on sustainability and customer loyalty. Consumers are increasingly aware of environmental and ethical impacts, creating a clear demand for better alternatives. This shift presents a prime opportunity for disruption and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Growing consumer consciousness around sustainability in food and beverage.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Limitations of current coffee supply chains regarding ethical sourcing and environmental impact.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Untapped potential in predictable, recurring revenue models within the coffee sector.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The market is ripe for a solution that aligns profit with purpose.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Chart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world map highlighting areas of coffee production with icons indicating environmental concerns (e.g., deforestation, water usage) contrasted with icons representing ethical sourcing certifications.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reasoned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1  |  Evidence: reasoned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The Loyalty-Driven Recurring Revenue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explain the business value of a subscription model focused on customer loyalty and predictable income.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Our model centers on 'loyalty-driven recurring revenue,' a powerful strategy for sustainable growth. By fostering deep customer relationships through a subscription service, we ensure predictable income streams and reduce customer acquisition costs. This approach builds a resilient business less susceptible to market volatility.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Subscription models create predictable revenue, enhancing financial forecasting.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Loyalty programs and curated experiences drive customer retention and lifetime value.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Reduced marketing spend due to high customer lifetime value.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Consistent cash flow supports reinvestment in quality and innovation.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Process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circular flow diagram illustrating the customer journey: Acquisition -&gt; Subscription -&gt; Engagement -&gt; Retention -&gt; Loyalty -&gt; Repeat Purchase/Referral, emphasizing the recurring nature of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reasoned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2  |  Evidence: reasoned synthesis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The 2026 Sustainable Coffee Market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present compelling market projections for sustainable coffee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The market for sustainable coffee is experiencing exponential growth, projected to reach significant figures by 2026. Consumer willingness to pay a premium for ethically sourced and environmentally friendly products is a key driver. This trend, combined with the inherent stability of subscription models, creates a compelling investment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Projected market growth of sustainable coffee subscriptions to $X billion by 2026.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Consumers are willing to pay an average of 15-20% more for sustainable products.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Increasing demand for transparency in sourcing and production.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Subscription services are capturing a larger share of the premium coffee market.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Chart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bar and line chart showing projected market growth for sustainable coffee subscriptions from 2023-2026, with a line indicating increasing consumer willingness to pay a premium for sustainability.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ORB-5c392235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3  |  Evidence: ORB-5c392235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Operational Excellence: AI-Optimized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detail the technical advantage of AI in optimizing delivery routes and operational efficiency.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We are leveraging cutting-edge AI to revolutionize our supply chain and delivery operations. AI-powered route optimization significantly reduces delivery times, fuel consumption, and costs, while enhancing customer satisfaction. This technological edge is crucial for scaling efficiently and maintaining a competitive advantage.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AI algorithms dynamically optimize delivery routes in real-time.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Reduced carbon footprint through efficient fuel consumption.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Lower operational costs and improved delivery reliability.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Enhanced customer experience with predictable and timely deliveries.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Architecture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diagram showing a central AI hub processing real-time data (weather, traffic, order volume) to optimize delivery routes for a fleet of vehicles, with feedback loops for continuous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ORB-10f68860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4  |  Evidence: ORB-10f68860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Operational Excellence: Advanced Compostable Packaging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showcase the innovation and market appeal of our sustainable packaging solutions.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Our commitment to sustainability extends to our packaging. We utilize advanced, fully compostable materials that minimize environmental impact without compromising product quality or customer experience. This eco-friendly approach resonates strongly with our target audience and differentiates us in the market.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Utilizing certified 100% compostable packaging materials.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Reducing plastic waste and landfill burden.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Enhancing brand image and customer perception of sustainability.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Meeting growing consumer demand for eco-conscious product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Process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visual showing the lifecycle of our coffee packaging: from raw sustainable materials, through production, to the customer, and finally to a compost bin, breaking down into soil.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ORB-06193c14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5  |  Evidence: ORB-06193c14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Investment Thesis: Balancing Costs and Market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outline the investment required and the projected ROI, emphasizing long-term market leadership.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Investing in our sustainable coffee subscription model offers a unique opportunity to capitalize on a high-growth market. While initial investments in technology and sustainable sourcing are necessary, the long-term benefits—including cost savings from AI optimization, premium pricing, and strong customer loyalty—promise substantial returns and market leadership.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Required investment for scaling operations, technology, and marketing.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Projected ROI driven by increased revenue and operational efficiencies.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Strategic advantage in capturing market share in the sustainable segment.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Mitigation of risks through a diversified and resilient business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Chart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financial projection chart showing initial investment, operational cost savings (from AI/packaging), revenue growth, and projected ROI over a 5-year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ORB-a131c70a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6  |  Evidence: ORB-a131c70a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Addressing Market Risks and Ensuring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proactively address potential market challenges and demonstrate mitigation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We acknowledge potential market risks, including competition, sourcing scalability, and consumer education. Our strategy includes continuous innovation, building strong supplier relationships, and transparent communication to overcome these hurdles. By focusing on a superior customer experience and unwavering commitment to sustainability, we are well-positioned for long-term success.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Competitive analysis and differentiation strategy.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Building resilient and scalable sustainable sourcing partnerships.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Consumer education campaigns on the value of compostable packaging and premium pricing.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Agile operational model to adapt to market shifts.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Comparison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 two-column comparison: 'Potential Risks' (e.g., Market Saturation, Sourcing Issues) vs. 'Mitigation Strategies' (e.g., Brand Differentiation, Long-Term Contracts).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reasoned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7  |  Evidence: reasoned synthesis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a1de542-04c7-45ed-bd9b-f68586de09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502920"/>
            <a:ext cx="3017520" cy="301752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384048"/>
            <a:ext cx="141732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SLIDE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41248"/>
            <a:ext cx="6583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Join Us in Brewing a Sustainable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72768"/>
            <a:ext cx="5760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6534"/>
                </a:solidFill>
              </a:rPr>
              <a:t>To provide a clear call to action for potential investors.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1298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>
                <a:solidFill>
                  <a:srgbClr val="334155"/>
                </a:solidFill>
              </a:rPr>
              <a:t>The sustainable coffee subscription market represents a significant and growing opportunity. With a proven business model, innovative technology, and a deep commitment to environmental responsibility, we are poised for substantial growth and attractive returns. We invite you to partner with us in shaping the future of coffee.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429000"/>
            <a:ext cx="5440680" cy="1965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Summary of market opportunity and unique value proposition.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Highlighting the strong ROI potential and market leadership.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Invitation to invest and be part of a sustainable revolution.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Next steps for investor engagement.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097280"/>
            <a:ext cx="4526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Closing concept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An inspiring image of a diverse group of people enjoying coffee in a natural, sustainable setting, with the company logo and contact information prominently displayed.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5623560"/>
            <a:ext cx="4443984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1F2937"/>
                </a:solidFill>
              </a:rPr>
              <a:t>Evidence: reasoned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630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</a:rPr>
              <a:t>Slide 8  |  Evidence: reasoned 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