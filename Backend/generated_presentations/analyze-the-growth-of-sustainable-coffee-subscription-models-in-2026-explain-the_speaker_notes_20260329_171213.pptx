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C121C"/>
        </a:solidFill>
        <a:effectLst/>
      </p:bgPr>
    </p:bg>
    <p:spTree>
      <p:nvGrpSpPr>
        <p:cNvPr id="1" name=""/>
        <p:cNvGrpSpPr/>
        <p:nvPr/>
      </p:nvGrpSpPr>
      <p:grpSpPr/>
      <p:pic>
        <p:nvPicPr>
          <p:cNvPr id="2" name="Picture 1" descr="2a1de542-04c7-45ed-bd9b-f68586de0987.jpe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347472"/>
          </a:xfrm>
          <a:prstGeom prst="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8549640" y="502920"/>
            <a:ext cx="3017520" cy="3017520"/>
          </a:xfrm>
          <a:prstGeom prst="ellipse">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384048"/>
            <a:ext cx="1920240" cy="347472"/>
          </a:xfrm>
          <a:prstGeom prst="round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FFFFFF"/>
                </a:solidFill>
              </a:rPr>
              <a:t>SPEAKER NOTES</a:t>
            </a:r>
          </a:p>
        </p:txBody>
      </p:sp>
      <p:sp>
        <p:nvSpPr>
          <p:cNvPr id="7" name="TextBox 6"/>
          <p:cNvSpPr txBox="1"/>
          <p:nvPr/>
        </p:nvSpPr>
        <p:spPr>
          <a:xfrm>
            <a:off x="658368" y="594360"/>
            <a:ext cx="10607040" cy="822960"/>
          </a:xfrm>
          <a:prstGeom prst="rect">
            <a:avLst/>
          </a:prstGeom>
          <a:noFill/>
        </p:spPr>
        <p:txBody>
          <a:bodyPr wrap="square">
            <a:spAutoFit/>
          </a:bodyPr>
          <a:lstStyle/>
          <a:p>
            <a:r>
              <a:rPr sz="2400" b="1">
                <a:solidFill>
                  <a:srgbClr val="FFFFFF"/>
                </a:solidFill>
              </a:rPr>
              <a:t>Speaker Notes | Slide 1: The Unsustainable Status Quo</a:t>
            </a:r>
          </a:p>
        </p:txBody>
      </p:sp>
      <p:sp>
        <p:nvSpPr>
          <p:cNvPr id="8" name="Rounded Rectangle 7"/>
          <p:cNvSpPr/>
          <p:nvPr/>
        </p:nvSpPr>
        <p:spPr>
          <a:xfrm>
            <a:off x="594360" y="1298448"/>
            <a:ext cx="10972800" cy="45262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1664208"/>
            <a:ext cx="9875520" cy="1097280"/>
          </a:xfrm>
          <a:prstGeom prst="rect">
            <a:avLst/>
          </a:prstGeom>
          <a:noFill/>
        </p:spPr>
        <p:txBody>
          <a:bodyPr wrap="square">
            <a:normAutofit/>
          </a:bodyPr>
          <a:lstStyle/>
          <a:p>
            <a:r>
              <a:rPr sz="1300" b="1">
                <a:solidFill>
                  <a:srgbClr val="166534"/>
                </a:solidFill>
              </a:rPr>
              <a:t>Slide summary</a:t>
            </a:r>
          </a:p>
          <a:p>
            <a:pPr>
              <a:defRPr sz="1600">
                <a:solidFill>
                  <a:srgbClr val="1F2937"/>
                </a:solidFill>
              </a:defRPr>
            </a:pPr>
            <a:r>
              <a:t>The global coffee market is vast, yet often plagued by supply chain inefficiencies, inconsistent quality, and a growing consumer demand for ethical and sustainable options. Traditional models struggle to meet these evolving expectations, leaving a significant gap for innovative solutions.</a:t>
            </a:r>
          </a:p>
        </p:txBody>
      </p:sp>
      <p:sp>
        <p:nvSpPr>
          <p:cNvPr id="10" name="TextBox 9"/>
          <p:cNvSpPr txBox="1"/>
          <p:nvPr/>
        </p:nvSpPr>
        <p:spPr>
          <a:xfrm>
            <a:off x="868680" y="2816352"/>
            <a:ext cx="9875520" cy="2011680"/>
          </a:xfrm>
          <a:prstGeom prst="rect">
            <a:avLst/>
          </a:prstGeom>
          <a:noFill/>
        </p:spPr>
        <p:txBody>
          <a:bodyPr wrap="square">
            <a:normAutofit/>
          </a:bodyPr>
          <a:lstStyle/>
          <a:p>
            <a:r>
              <a:rPr sz="1300" b="1">
                <a:solidFill>
                  <a:srgbClr val="166534"/>
                </a:solidFill>
              </a:rPr>
              <a:t>Speaker notes</a:t>
            </a:r>
          </a:p>
          <a:p>
            <a:pPr>
              <a:defRPr sz="1600">
                <a:solidFill>
                  <a:srgbClr val="1F2937"/>
                </a:solidFill>
              </a:defRPr>
            </a:pPr>
            <a:r>
              <a:t>We're here today to discuss a significant opportunity within the coffee industry. The market is ripe for disruption, and we have the solution.</a:t>
            </a:r>
          </a:p>
        </p:txBody>
      </p:sp>
      <p:sp>
        <p:nvSpPr>
          <p:cNvPr id="11" name="TextBox 10"/>
          <p:cNvSpPr txBox="1"/>
          <p:nvPr/>
        </p:nvSpPr>
        <p:spPr>
          <a:xfrm>
            <a:off x="868680" y="4983480"/>
            <a:ext cx="9875520" cy="640080"/>
          </a:xfrm>
          <a:prstGeom prst="rect">
            <a:avLst/>
          </a:prstGeom>
          <a:noFill/>
        </p:spPr>
        <p:txBody>
          <a:bodyPr wrap="none">
            <a:spAutoFit/>
          </a:bodyPr>
          <a:lstStyle/>
          <a:p>
            <a:r>
              <a:rPr sz="1200">
                <a:solidFill>
                  <a:srgbClr val="334155"/>
                </a:solidFill>
              </a:rPr>
              <a:t>Evidence orbs: reasoned synthesis</a:t>
            </a:r>
          </a:p>
        </p:txBody>
      </p:sp>
      <p:sp>
        <p:nvSpPr>
          <p:cNvPr id="12" name="Rounded Rectangle 11"/>
          <p:cNvSpPr/>
          <p:nvPr/>
        </p:nvSpPr>
        <p:spPr>
          <a:xfrm>
            <a:off x="8641080" y="1737360"/>
            <a:ext cx="2468880" cy="2788920"/>
          </a:xfrm>
          <a:prstGeom prst="round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FFFFFF"/>
                </a:solidFill>
              </a:rPr>
              <a:t>Delivery cues</a:t>
            </a:r>
          </a:p>
          <a:p>
            <a:pPr>
              <a:spcAft>
                <a:spcPts val="800"/>
              </a:spcAft>
              <a:defRPr sz="1150">
                <a:solidFill>
                  <a:srgbClr val="FFFFFF"/>
                </a:solidFill>
              </a:defRPr>
            </a:pPr>
            <a:r>
              <a:t>Open with the stake, not the detail.</a:t>
            </a:r>
          </a:p>
          <a:p>
            <a:pPr>
              <a:spcAft>
                <a:spcPts val="800"/>
              </a:spcAft>
              <a:defRPr sz="1150">
                <a:solidFill>
                  <a:srgbClr val="FFFFFF"/>
                </a:solidFill>
              </a:defRPr>
            </a:pPr>
            <a:r>
              <a:t>Land one proof point before expanding.</a:t>
            </a:r>
          </a:p>
          <a:p>
            <a:pPr>
              <a:spcAft>
                <a:spcPts val="800"/>
              </a:spcAft>
              <a:defRPr sz="1150">
                <a:solidFill>
                  <a:srgbClr val="FFFFFF"/>
                </a:solidFill>
              </a:defRPr>
            </a:pPr>
            <a:r>
              <a:t>Pause before the final takeaway.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C121C"/>
        </a:solidFill>
        <a:effectLst/>
      </p:bgPr>
    </p:bg>
    <p:spTree>
      <p:nvGrpSpPr>
        <p:cNvPr id="1" name=""/>
        <p:cNvGrpSpPr/>
        <p:nvPr/>
      </p:nvGrpSpPr>
      <p:grpSpPr/>
      <p:pic>
        <p:nvPicPr>
          <p:cNvPr id="2" name="Picture 1" descr="2a1de542-04c7-45ed-bd9b-f68586de0987.jpe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347472"/>
          </a:xfrm>
          <a:prstGeom prst="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8549640" y="502920"/>
            <a:ext cx="3017520" cy="3017520"/>
          </a:xfrm>
          <a:prstGeom prst="ellipse">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384048"/>
            <a:ext cx="1920240" cy="347472"/>
          </a:xfrm>
          <a:prstGeom prst="round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FFFFFF"/>
                </a:solidFill>
              </a:rPr>
              <a:t>SPEAKER NOTES</a:t>
            </a:r>
          </a:p>
        </p:txBody>
      </p:sp>
      <p:sp>
        <p:nvSpPr>
          <p:cNvPr id="7" name="TextBox 6"/>
          <p:cNvSpPr txBox="1"/>
          <p:nvPr/>
        </p:nvSpPr>
        <p:spPr>
          <a:xfrm>
            <a:off x="658368" y="594360"/>
            <a:ext cx="10607040" cy="822960"/>
          </a:xfrm>
          <a:prstGeom prst="rect">
            <a:avLst/>
          </a:prstGeom>
          <a:noFill/>
        </p:spPr>
        <p:txBody>
          <a:bodyPr wrap="square">
            <a:spAutoFit/>
          </a:bodyPr>
          <a:lstStyle/>
          <a:p>
            <a:r>
              <a:rPr sz="2400" b="1">
                <a:solidFill>
                  <a:srgbClr val="FFFFFF"/>
                </a:solidFill>
              </a:rPr>
              <a:t>Speaker Notes | Slide 2: The Growing Demand for Sustainable Coffee</a:t>
            </a:r>
          </a:p>
        </p:txBody>
      </p:sp>
      <p:sp>
        <p:nvSpPr>
          <p:cNvPr id="8" name="Rounded Rectangle 7"/>
          <p:cNvSpPr/>
          <p:nvPr/>
        </p:nvSpPr>
        <p:spPr>
          <a:xfrm>
            <a:off x="594360" y="1298448"/>
            <a:ext cx="10972800" cy="45262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1664208"/>
            <a:ext cx="9875520" cy="1097280"/>
          </a:xfrm>
          <a:prstGeom prst="rect">
            <a:avLst/>
          </a:prstGeom>
          <a:noFill/>
        </p:spPr>
        <p:txBody>
          <a:bodyPr wrap="square">
            <a:normAutofit/>
          </a:bodyPr>
          <a:lstStyle/>
          <a:p>
            <a:r>
              <a:rPr sz="1300" b="1">
                <a:solidFill>
                  <a:srgbClr val="166534"/>
                </a:solidFill>
              </a:rPr>
              <a:t>Slide summary</a:t>
            </a:r>
          </a:p>
          <a:p>
            <a:pPr>
              <a:defRPr sz="1600">
                <a:solidFill>
                  <a:srgbClr val="1F2937"/>
                </a:solidFill>
              </a:defRPr>
            </a:pPr>
            <a:r>
              <a:t>Consumer consciousness around sustainability is at an all-time high, directly impacting purchasing decisions. This trend is particularly pronounced in the premium beverage sector, where consumers are actively seeking out ethically sourced and environmentally friendly products.</a:t>
            </a:r>
          </a:p>
        </p:txBody>
      </p:sp>
      <p:sp>
        <p:nvSpPr>
          <p:cNvPr id="10" name="TextBox 9"/>
          <p:cNvSpPr txBox="1"/>
          <p:nvPr/>
        </p:nvSpPr>
        <p:spPr>
          <a:xfrm>
            <a:off x="868680" y="2816352"/>
            <a:ext cx="9875520" cy="2011680"/>
          </a:xfrm>
          <a:prstGeom prst="rect">
            <a:avLst/>
          </a:prstGeom>
          <a:noFill/>
        </p:spPr>
        <p:txBody>
          <a:bodyPr wrap="square">
            <a:normAutofit/>
          </a:bodyPr>
          <a:lstStyle/>
          <a:p>
            <a:r>
              <a:rPr sz="1300" b="1">
                <a:solidFill>
                  <a:srgbClr val="166534"/>
                </a:solidFill>
              </a:rPr>
              <a:t>Speaker notes</a:t>
            </a:r>
          </a:p>
          <a:p>
            <a:pPr>
              <a:defRPr sz="1600">
                <a:solidFill>
                  <a:srgbClr val="1F2937"/>
                </a:solidFill>
              </a:defRPr>
            </a:pPr>
            <a:r>
              <a:t>The data clearly indicates a powerful shift in consumer behavior. This isn't a niche trend; it's a fundamental change in how consumers engage with brands.</a:t>
            </a:r>
          </a:p>
        </p:txBody>
      </p:sp>
      <p:sp>
        <p:nvSpPr>
          <p:cNvPr id="11" name="TextBox 10"/>
          <p:cNvSpPr txBox="1"/>
          <p:nvPr/>
        </p:nvSpPr>
        <p:spPr>
          <a:xfrm>
            <a:off x="868680" y="4983480"/>
            <a:ext cx="9875520" cy="640080"/>
          </a:xfrm>
          <a:prstGeom prst="rect">
            <a:avLst/>
          </a:prstGeom>
          <a:noFill/>
        </p:spPr>
        <p:txBody>
          <a:bodyPr wrap="none">
            <a:spAutoFit/>
          </a:bodyPr>
          <a:lstStyle/>
          <a:p>
            <a:r>
              <a:rPr sz="1200">
                <a:solidFill>
                  <a:srgbClr val="334155"/>
                </a:solidFill>
              </a:rPr>
              <a:t>Evidence orbs: ORB-5a39225e</a:t>
            </a:r>
          </a:p>
        </p:txBody>
      </p:sp>
      <p:sp>
        <p:nvSpPr>
          <p:cNvPr id="12" name="Rounded Rectangle 11"/>
          <p:cNvSpPr/>
          <p:nvPr/>
        </p:nvSpPr>
        <p:spPr>
          <a:xfrm>
            <a:off x="8641080" y="1737360"/>
            <a:ext cx="2468880" cy="2788920"/>
          </a:xfrm>
          <a:prstGeom prst="round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FFFFFF"/>
                </a:solidFill>
              </a:rPr>
              <a:t>Delivery cues</a:t>
            </a:r>
          </a:p>
          <a:p>
            <a:pPr>
              <a:spcAft>
                <a:spcPts val="800"/>
              </a:spcAft>
              <a:defRPr sz="1150">
                <a:solidFill>
                  <a:srgbClr val="FFFFFF"/>
                </a:solidFill>
              </a:defRPr>
            </a:pPr>
            <a:r>
              <a:t>Open with the stake, not the detail.</a:t>
            </a:r>
          </a:p>
          <a:p>
            <a:pPr>
              <a:spcAft>
                <a:spcPts val="800"/>
              </a:spcAft>
              <a:defRPr sz="1150">
                <a:solidFill>
                  <a:srgbClr val="FFFFFF"/>
                </a:solidFill>
              </a:defRPr>
            </a:pPr>
            <a:r>
              <a:t>Land one proof point before expanding.</a:t>
            </a:r>
          </a:p>
          <a:p>
            <a:pPr>
              <a:spcAft>
                <a:spcPts val="800"/>
              </a:spcAft>
              <a:defRPr sz="1150">
                <a:solidFill>
                  <a:srgbClr val="FFFFFF"/>
                </a:solidFill>
              </a:defRPr>
            </a:pPr>
            <a:r>
              <a:t>Pause before the final takeaway.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C121C"/>
        </a:solidFill>
        <a:effectLst/>
      </p:bgPr>
    </p:bg>
    <p:spTree>
      <p:nvGrpSpPr>
        <p:cNvPr id="1" name=""/>
        <p:cNvGrpSpPr/>
        <p:nvPr/>
      </p:nvGrpSpPr>
      <p:grpSpPr/>
      <p:pic>
        <p:nvPicPr>
          <p:cNvPr id="2" name="Picture 1" descr="2a1de542-04c7-45ed-bd9b-f68586de0987.jpe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347472"/>
          </a:xfrm>
          <a:prstGeom prst="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8549640" y="502920"/>
            <a:ext cx="3017520" cy="3017520"/>
          </a:xfrm>
          <a:prstGeom prst="ellipse">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384048"/>
            <a:ext cx="1920240" cy="347472"/>
          </a:xfrm>
          <a:prstGeom prst="round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FFFFFF"/>
                </a:solidFill>
              </a:rPr>
              <a:t>SPEAKER NOTES</a:t>
            </a:r>
          </a:p>
        </p:txBody>
      </p:sp>
      <p:sp>
        <p:nvSpPr>
          <p:cNvPr id="7" name="TextBox 6"/>
          <p:cNvSpPr txBox="1"/>
          <p:nvPr/>
        </p:nvSpPr>
        <p:spPr>
          <a:xfrm>
            <a:off x="658368" y="594360"/>
            <a:ext cx="10607040" cy="822960"/>
          </a:xfrm>
          <a:prstGeom prst="rect">
            <a:avLst/>
          </a:prstGeom>
          <a:noFill/>
        </p:spPr>
        <p:txBody>
          <a:bodyPr wrap="square">
            <a:spAutoFit/>
          </a:bodyPr>
          <a:lstStyle/>
          <a:p>
            <a:r>
              <a:rPr sz="2400" b="1">
                <a:solidFill>
                  <a:srgbClr val="FFFFFF"/>
                </a:solidFill>
              </a:rPr>
              <a:t>Speaker Notes | Slide 3: The Power of Loyalty-Driven Recurring Revenue</a:t>
            </a:r>
          </a:p>
        </p:txBody>
      </p:sp>
      <p:sp>
        <p:nvSpPr>
          <p:cNvPr id="8" name="Rounded Rectangle 7"/>
          <p:cNvSpPr/>
          <p:nvPr/>
        </p:nvSpPr>
        <p:spPr>
          <a:xfrm>
            <a:off x="594360" y="1298448"/>
            <a:ext cx="10972800" cy="45262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1664208"/>
            <a:ext cx="9875520" cy="1097280"/>
          </a:xfrm>
          <a:prstGeom prst="rect">
            <a:avLst/>
          </a:prstGeom>
          <a:noFill/>
        </p:spPr>
        <p:txBody>
          <a:bodyPr wrap="square">
            <a:normAutofit/>
          </a:bodyPr>
          <a:lstStyle/>
          <a:p>
            <a:r>
              <a:rPr sz="1300" b="1">
                <a:solidFill>
                  <a:srgbClr val="166534"/>
                </a:solidFill>
              </a:rPr>
              <a:t>Slide summary</a:t>
            </a:r>
          </a:p>
          <a:p>
            <a:pPr>
              <a:defRPr sz="1600">
                <a:solidFill>
                  <a:srgbClr val="1F2937"/>
                </a:solidFill>
              </a:defRPr>
            </a:pPr>
            <a:r>
              <a:t>Our subscription model is built on the principle of loyalty-driven recurring revenue, fostering deep customer relationships and predictable income streams. This approach not only ensures consistent revenue but also cultivates brand advocacy and reduces customer acquisition costs over time.</a:t>
            </a:r>
          </a:p>
        </p:txBody>
      </p:sp>
      <p:sp>
        <p:nvSpPr>
          <p:cNvPr id="10" name="TextBox 9"/>
          <p:cNvSpPr txBox="1"/>
          <p:nvPr/>
        </p:nvSpPr>
        <p:spPr>
          <a:xfrm>
            <a:off x="868680" y="2816352"/>
            <a:ext cx="9875520" cy="2011680"/>
          </a:xfrm>
          <a:prstGeom prst="rect">
            <a:avLst/>
          </a:prstGeom>
          <a:noFill/>
        </p:spPr>
        <p:txBody>
          <a:bodyPr wrap="square">
            <a:normAutofit/>
          </a:bodyPr>
          <a:lstStyle/>
          <a:p>
            <a:r>
              <a:rPr sz="1300" b="1">
                <a:solidFill>
                  <a:srgbClr val="166534"/>
                </a:solidFill>
              </a:rPr>
              <a:t>Speaker notes</a:t>
            </a:r>
          </a:p>
          <a:p>
            <a:pPr>
              <a:defRPr sz="1600">
                <a:solidFill>
                  <a:srgbClr val="1F2937"/>
                </a:solidFill>
              </a:defRPr>
            </a:pPr>
            <a:r>
              <a:t>This model shifts the focus from transactional sales to building lasting relationships. The predictable revenue allows for more strategic long-term planning and investment.</a:t>
            </a:r>
          </a:p>
        </p:txBody>
      </p:sp>
      <p:sp>
        <p:nvSpPr>
          <p:cNvPr id="11" name="TextBox 10"/>
          <p:cNvSpPr txBox="1"/>
          <p:nvPr/>
        </p:nvSpPr>
        <p:spPr>
          <a:xfrm>
            <a:off x="868680" y="4983480"/>
            <a:ext cx="9875520" cy="640080"/>
          </a:xfrm>
          <a:prstGeom prst="rect">
            <a:avLst/>
          </a:prstGeom>
          <a:noFill/>
        </p:spPr>
        <p:txBody>
          <a:bodyPr wrap="none">
            <a:spAutoFit/>
          </a:bodyPr>
          <a:lstStyle/>
          <a:p>
            <a:r>
              <a:rPr sz="1200">
                <a:solidFill>
                  <a:srgbClr val="334155"/>
                </a:solidFill>
              </a:rPr>
              <a:t>Evidence orbs: ORB-19f8a133</a:t>
            </a:r>
          </a:p>
        </p:txBody>
      </p:sp>
      <p:sp>
        <p:nvSpPr>
          <p:cNvPr id="12" name="Rounded Rectangle 11"/>
          <p:cNvSpPr/>
          <p:nvPr/>
        </p:nvSpPr>
        <p:spPr>
          <a:xfrm>
            <a:off x="8641080" y="1737360"/>
            <a:ext cx="2468880" cy="2788920"/>
          </a:xfrm>
          <a:prstGeom prst="round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FFFFFF"/>
                </a:solidFill>
              </a:rPr>
              <a:t>Delivery cues</a:t>
            </a:r>
          </a:p>
          <a:p>
            <a:pPr>
              <a:spcAft>
                <a:spcPts val="800"/>
              </a:spcAft>
              <a:defRPr sz="1150">
                <a:solidFill>
                  <a:srgbClr val="FFFFFF"/>
                </a:solidFill>
              </a:defRPr>
            </a:pPr>
            <a:r>
              <a:t>Open with the stake, not the detail.</a:t>
            </a:r>
          </a:p>
          <a:p>
            <a:pPr>
              <a:spcAft>
                <a:spcPts val="800"/>
              </a:spcAft>
              <a:defRPr sz="1150">
                <a:solidFill>
                  <a:srgbClr val="FFFFFF"/>
                </a:solidFill>
              </a:defRPr>
            </a:pPr>
            <a:r>
              <a:t>Land one proof point before expanding.</a:t>
            </a:r>
          </a:p>
          <a:p>
            <a:pPr>
              <a:spcAft>
                <a:spcPts val="800"/>
              </a:spcAft>
              <a:defRPr sz="1150">
                <a:solidFill>
                  <a:srgbClr val="FFFFFF"/>
                </a:solidFill>
              </a:defRPr>
            </a:pPr>
            <a:r>
              <a:t>Pause before the final takeaway.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C121C"/>
        </a:solidFill>
        <a:effectLst/>
      </p:bgPr>
    </p:bg>
    <p:spTree>
      <p:nvGrpSpPr>
        <p:cNvPr id="1" name=""/>
        <p:cNvGrpSpPr/>
        <p:nvPr/>
      </p:nvGrpSpPr>
      <p:grpSpPr/>
      <p:pic>
        <p:nvPicPr>
          <p:cNvPr id="2" name="Picture 1" descr="2a1de542-04c7-45ed-bd9b-f68586de0987.jpe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347472"/>
          </a:xfrm>
          <a:prstGeom prst="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8549640" y="502920"/>
            <a:ext cx="3017520" cy="3017520"/>
          </a:xfrm>
          <a:prstGeom prst="ellipse">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384048"/>
            <a:ext cx="1920240" cy="347472"/>
          </a:xfrm>
          <a:prstGeom prst="round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FFFFFF"/>
                </a:solidFill>
              </a:rPr>
              <a:t>SPEAKER NOTES</a:t>
            </a:r>
          </a:p>
        </p:txBody>
      </p:sp>
      <p:sp>
        <p:nvSpPr>
          <p:cNvPr id="7" name="TextBox 6"/>
          <p:cNvSpPr txBox="1"/>
          <p:nvPr/>
        </p:nvSpPr>
        <p:spPr>
          <a:xfrm>
            <a:off x="658368" y="594360"/>
            <a:ext cx="10607040" cy="822960"/>
          </a:xfrm>
          <a:prstGeom prst="rect">
            <a:avLst/>
          </a:prstGeom>
          <a:noFill/>
        </p:spPr>
        <p:txBody>
          <a:bodyPr wrap="square">
            <a:spAutoFit/>
          </a:bodyPr>
          <a:lstStyle/>
          <a:p>
            <a:r>
              <a:rPr sz="2400" b="1">
                <a:solidFill>
                  <a:srgbClr val="FFFFFF"/>
                </a:solidFill>
              </a:rPr>
              <a:t>Speaker Notes | Slide 4: Operational Excellence: AI-Optimized Logistics</a:t>
            </a:r>
          </a:p>
        </p:txBody>
      </p:sp>
      <p:sp>
        <p:nvSpPr>
          <p:cNvPr id="8" name="Rounded Rectangle 7"/>
          <p:cNvSpPr/>
          <p:nvPr/>
        </p:nvSpPr>
        <p:spPr>
          <a:xfrm>
            <a:off x="594360" y="1298448"/>
            <a:ext cx="10972800" cy="45262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1664208"/>
            <a:ext cx="9875520" cy="1097280"/>
          </a:xfrm>
          <a:prstGeom prst="rect">
            <a:avLst/>
          </a:prstGeom>
          <a:noFill/>
        </p:spPr>
        <p:txBody>
          <a:bodyPr wrap="square">
            <a:normAutofit/>
          </a:bodyPr>
          <a:lstStyle/>
          <a:p>
            <a:r>
              <a:rPr sz="1300" b="1">
                <a:solidFill>
                  <a:srgbClr val="166534"/>
                </a:solidFill>
              </a:rPr>
              <a:t>Slide summary</a:t>
            </a:r>
          </a:p>
          <a:p>
            <a:pPr>
              <a:defRPr sz="1600">
                <a:solidFill>
                  <a:srgbClr val="1F2937"/>
                </a:solidFill>
              </a:defRPr>
            </a:pPr>
            <a:r>
              <a:t>We are leveraging cutting-edge AI to revolutionize our logistics and delivery operations. By optimizing delivery routes in real-time, we significantly reduce fuel consumption, delivery times, and overall operational costs, ensuring efficiency and sustainability.</a:t>
            </a:r>
          </a:p>
        </p:txBody>
      </p:sp>
      <p:sp>
        <p:nvSpPr>
          <p:cNvPr id="10" name="TextBox 9"/>
          <p:cNvSpPr txBox="1"/>
          <p:nvPr/>
        </p:nvSpPr>
        <p:spPr>
          <a:xfrm>
            <a:off x="868680" y="2816352"/>
            <a:ext cx="9875520" cy="2011680"/>
          </a:xfrm>
          <a:prstGeom prst="rect">
            <a:avLst/>
          </a:prstGeom>
          <a:noFill/>
        </p:spPr>
        <p:txBody>
          <a:bodyPr wrap="square">
            <a:normAutofit/>
          </a:bodyPr>
          <a:lstStyle/>
          <a:p>
            <a:r>
              <a:rPr sz="1300" b="1">
                <a:solidFill>
                  <a:srgbClr val="166534"/>
                </a:solidFill>
              </a:rPr>
              <a:t>Speaker notes</a:t>
            </a:r>
          </a:p>
          <a:p>
            <a:pPr>
              <a:defRPr sz="1600">
                <a:solidFill>
                  <a:srgbClr val="1F2937"/>
                </a:solidFill>
              </a:defRPr>
            </a:pPr>
            <a:r>
              <a:t>Our investment in AI is not just about technology; it's about creating a more efficient, cost-effective, and environmentally responsible supply chain.</a:t>
            </a:r>
          </a:p>
        </p:txBody>
      </p:sp>
      <p:sp>
        <p:nvSpPr>
          <p:cNvPr id="11" name="TextBox 10"/>
          <p:cNvSpPr txBox="1"/>
          <p:nvPr/>
        </p:nvSpPr>
        <p:spPr>
          <a:xfrm>
            <a:off x="868680" y="4983480"/>
            <a:ext cx="9875520" cy="640080"/>
          </a:xfrm>
          <a:prstGeom prst="rect">
            <a:avLst/>
          </a:prstGeom>
          <a:noFill/>
        </p:spPr>
        <p:txBody>
          <a:bodyPr wrap="none">
            <a:spAutoFit/>
          </a:bodyPr>
          <a:lstStyle/>
          <a:p>
            <a:r>
              <a:rPr sz="1200">
                <a:solidFill>
                  <a:srgbClr val="334155"/>
                </a:solidFill>
              </a:rPr>
              <a:t>Evidence orbs: ORB-10f68860</a:t>
            </a:r>
          </a:p>
        </p:txBody>
      </p:sp>
      <p:sp>
        <p:nvSpPr>
          <p:cNvPr id="12" name="Rounded Rectangle 11"/>
          <p:cNvSpPr/>
          <p:nvPr/>
        </p:nvSpPr>
        <p:spPr>
          <a:xfrm>
            <a:off x="8641080" y="1737360"/>
            <a:ext cx="2468880" cy="2788920"/>
          </a:xfrm>
          <a:prstGeom prst="round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FFFFFF"/>
                </a:solidFill>
              </a:rPr>
              <a:t>Delivery cues</a:t>
            </a:r>
          </a:p>
          <a:p>
            <a:pPr>
              <a:spcAft>
                <a:spcPts val="800"/>
              </a:spcAft>
              <a:defRPr sz="1150">
                <a:solidFill>
                  <a:srgbClr val="FFFFFF"/>
                </a:solidFill>
              </a:defRPr>
            </a:pPr>
            <a:r>
              <a:t>Open with the stake, not the detail.</a:t>
            </a:r>
          </a:p>
          <a:p>
            <a:pPr>
              <a:spcAft>
                <a:spcPts val="800"/>
              </a:spcAft>
              <a:defRPr sz="1150">
                <a:solidFill>
                  <a:srgbClr val="FFFFFF"/>
                </a:solidFill>
              </a:defRPr>
            </a:pPr>
            <a:r>
              <a:t>Land one proof point before expanding.</a:t>
            </a:r>
          </a:p>
          <a:p>
            <a:pPr>
              <a:spcAft>
                <a:spcPts val="800"/>
              </a:spcAft>
              <a:defRPr sz="1150">
                <a:solidFill>
                  <a:srgbClr val="FFFFFF"/>
                </a:solidFill>
              </a:defRPr>
            </a:pPr>
            <a:r>
              <a:t>Pause before the final takeaway.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C121C"/>
        </a:solidFill>
        <a:effectLst/>
      </p:bgPr>
    </p:bg>
    <p:spTree>
      <p:nvGrpSpPr>
        <p:cNvPr id="1" name=""/>
        <p:cNvGrpSpPr/>
        <p:nvPr/>
      </p:nvGrpSpPr>
      <p:grpSpPr/>
      <p:pic>
        <p:nvPicPr>
          <p:cNvPr id="2" name="Picture 1" descr="2a1de542-04c7-45ed-bd9b-f68586de0987.jpe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347472"/>
          </a:xfrm>
          <a:prstGeom prst="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8549640" y="502920"/>
            <a:ext cx="3017520" cy="3017520"/>
          </a:xfrm>
          <a:prstGeom prst="ellipse">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384048"/>
            <a:ext cx="1920240" cy="347472"/>
          </a:xfrm>
          <a:prstGeom prst="round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FFFFFF"/>
                </a:solidFill>
              </a:rPr>
              <a:t>SPEAKER NOTES</a:t>
            </a:r>
          </a:p>
        </p:txBody>
      </p:sp>
      <p:sp>
        <p:nvSpPr>
          <p:cNvPr id="7" name="TextBox 6"/>
          <p:cNvSpPr txBox="1"/>
          <p:nvPr/>
        </p:nvSpPr>
        <p:spPr>
          <a:xfrm>
            <a:off x="658368" y="594360"/>
            <a:ext cx="10607040" cy="822960"/>
          </a:xfrm>
          <a:prstGeom prst="rect">
            <a:avLst/>
          </a:prstGeom>
          <a:noFill/>
        </p:spPr>
        <p:txBody>
          <a:bodyPr wrap="square">
            <a:spAutoFit/>
          </a:bodyPr>
          <a:lstStyle/>
          <a:p>
            <a:r>
              <a:rPr sz="2400" b="1">
                <a:solidFill>
                  <a:srgbClr val="FFFFFF"/>
                </a:solidFill>
              </a:rPr>
              <a:t>Speaker Notes | Slide 5: Sustainable Packaging: Meeting Consumer Demand</a:t>
            </a:r>
          </a:p>
        </p:txBody>
      </p:sp>
      <p:sp>
        <p:nvSpPr>
          <p:cNvPr id="8" name="Rounded Rectangle 7"/>
          <p:cNvSpPr/>
          <p:nvPr/>
        </p:nvSpPr>
        <p:spPr>
          <a:xfrm>
            <a:off x="594360" y="1298448"/>
            <a:ext cx="10972800" cy="45262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1664208"/>
            <a:ext cx="9875520" cy="1097280"/>
          </a:xfrm>
          <a:prstGeom prst="rect">
            <a:avLst/>
          </a:prstGeom>
          <a:noFill/>
        </p:spPr>
        <p:txBody>
          <a:bodyPr wrap="square">
            <a:normAutofit/>
          </a:bodyPr>
          <a:lstStyle/>
          <a:p>
            <a:r>
              <a:rPr sz="1300" b="1">
                <a:solidFill>
                  <a:srgbClr val="166534"/>
                </a:solidFill>
              </a:rPr>
              <a:t>Slide summary</a:t>
            </a:r>
          </a:p>
          <a:p>
            <a:pPr>
              <a:defRPr sz="1600">
                <a:solidFill>
                  <a:srgbClr val="1F2937"/>
                </a:solidFill>
              </a:defRPr>
            </a:pPr>
            <a:r>
              <a:t>Our commitment to sustainability extends to our packaging. We are adopting advanced compostable packaging solutions that not only minimize environmental impact but also align with the growing consumer demand for eco-friendly products.</a:t>
            </a:r>
          </a:p>
        </p:txBody>
      </p:sp>
      <p:sp>
        <p:nvSpPr>
          <p:cNvPr id="10" name="TextBox 9"/>
          <p:cNvSpPr txBox="1"/>
          <p:nvPr/>
        </p:nvSpPr>
        <p:spPr>
          <a:xfrm>
            <a:off x="868680" y="2816352"/>
            <a:ext cx="9875520" cy="2011680"/>
          </a:xfrm>
          <a:prstGeom prst="rect">
            <a:avLst/>
          </a:prstGeom>
          <a:noFill/>
        </p:spPr>
        <p:txBody>
          <a:bodyPr wrap="square">
            <a:normAutofit/>
          </a:bodyPr>
          <a:lstStyle/>
          <a:p>
            <a:r>
              <a:rPr sz="1300" b="1">
                <a:solidFill>
                  <a:srgbClr val="166534"/>
                </a:solidFill>
              </a:rPr>
              <a:t>Speaker notes</a:t>
            </a:r>
          </a:p>
          <a:p>
            <a:pPr>
              <a:defRPr sz="1600">
                <a:solidFill>
                  <a:srgbClr val="1F2937"/>
                </a:solidFill>
              </a:defRPr>
            </a:pPr>
            <a:r>
              <a:t>Consumers are increasingly making purchasing decisions based on a brand's environmental footprint. Our packaging strategy directly addresses this critical consumer value.</a:t>
            </a:r>
          </a:p>
        </p:txBody>
      </p:sp>
      <p:sp>
        <p:nvSpPr>
          <p:cNvPr id="11" name="TextBox 10"/>
          <p:cNvSpPr txBox="1"/>
          <p:nvPr/>
        </p:nvSpPr>
        <p:spPr>
          <a:xfrm>
            <a:off x="868680" y="4983480"/>
            <a:ext cx="9875520" cy="640080"/>
          </a:xfrm>
          <a:prstGeom prst="rect">
            <a:avLst/>
          </a:prstGeom>
          <a:noFill/>
        </p:spPr>
        <p:txBody>
          <a:bodyPr wrap="none">
            <a:spAutoFit/>
          </a:bodyPr>
          <a:lstStyle/>
          <a:p>
            <a:r>
              <a:rPr sz="1200">
                <a:solidFill>
                  <a:srgbClr val="334155"/>
                </a:solidFill>
              </a:rPr>
              <a:t>Evidence orbs: ORB-06193c14</a:t>
            </a:r>
          </a:p>
        </p:txBody>
      </p:sp>
      <p:sp>
        <p:nvSpPr>
          <p:cNvPr id="12" name="Rounded Rectangle 11"/>
          <p:cNvSpPr/>
          <p:nvPr/>
        </p:nvSpPr>
        <p:spPr>
          <a:xfrm>
            <a:off x="8641080" y="1737360"/>
            <a:ext cx="2468880" cy="2788920"/>
          </a:xfrm>
          <a:prstGeom prst="round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FFFFFF"/>
                </a:solidFill>
              </a:rPr>
              <a:t>Delivery cues</a:t>
            </a:r>
          </a:p>
          <a:p>
            <a:pPr>
              <a:spcAft>
                <a:spcPts val="800"/>
              </a:spcAft>
              <a:defRPr sz="1150">
                <a:solidFill>
                  <a:srgbClr val="FFFFFF"/>
                </a:solidFill>
              </a:defRPr>
            </a:pPr>
            <a:r>
              <a:t>Open with the stake, not the detail.</a:t>
            </a:r>
          </a:p>
          <a:p>
            <a:pPr>
              <a:spcAft>
                <a:spcPts val="800"/>
              </a:spcAft>
              <a:defRPr sz="1150">
                <a:solidFill>
                  <a:srgbClr val="FFFFFF"/>
                </a:solidFill>
              </a:defRPr>
            </a:pPr>
            <a:r>
              <a:t>Land one proof point before expanding.</a:t>
            </a:r>
          </a:p>
          <a:p>
            <a:pPr>
              <a:spcAft>
                <a:spcPts val="800"/>
              </a:spcAft>
              <a:defRPr sz="1150">
                <a:solidFill>
                  <a:srgbClr val="FFFFFF"/>
                </a:solidFill>
              </a:defRPr>
            </a:pPr>
            <a:r>
              <a:t>Pause before the final takeaway.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C121C"/>
        </a:solidFill>
        <a:effectLst/>
      </p:bgPr>
    </p:bg>
    <p:spTree>
      <p:nvGrpSpPr>
        <p:cNvPr id="1" name=""/>
        <p:cNvGrpSpPr/>
        <p:nvPr/>
      </p:nvGrpSpPr>
      <p:grpSpPr/>
      <p:pic>
        <p:nvPicPr>
          <p:cNvPr id="2" name="Picture 1" descr="2a1de542-04c7-45ed-bd9b-f68586de0987.jpe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347472"/>
          </a:xfrm>
          <a:prstGeom prst="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8549640" y="502920"/>
            <a:ext cx="3017520" cy="3017520"/>
          </a:xfrm>
          <a:prstGeom prst="ellipse">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384048"/>
            <a:ext cx="1920240" cy="347472"/>
          </a:xfrm>
          <a:prstGeom prst="round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FFFFFF"/>
                </a:solidFill>
              </a:rPr>
              <a:t>SPEAKER NOTES</a:t>
            </a:r>
          </a:p>
        </p:txBody>
      </p:sp>
      <p:sp>
        <p:nvSpPr>
          <p:cNvPr id="7" name="TextBox 6"/>
          <p:cNvSpPr txBox="1"/>
          <p:nvPr/>
        </p:nvSpPr>
        <p:spPr>
          <a:xfrm>
            <a:off x="658368" y="594360"/>
            <a:ext cx="10607040" cy="822960"/>
          </a:xfrm>
          <a:prstGeom prst="rect">
            <a:avLst/>
          </a:prstGeom>
          <a:noFill/>
        </p:spPr>
        <p:txBody>
          <a:bodyPr wrap="square">
            <a:spAutoFit/>
          </a:bodyPr>
          <a:lstStyle/>
          <a:p>
            <a:r>
              <a:rPr sz="2400" b="1">
                <a:solidFill>
                  <a:srgbClr val="FFFFFF"/>
                </a:solidFill>
              </a:rPr>
              <a:t>Speaker Notes | Slide 6: The Synergy: Digital Twins &amp; Operational Intelligence</a:t>
            </a:r>
          </a:p>
        </p:txBody>
      </p:sp>
      <p:sp>
        <p:nvSpPr>
          <p:cNvPr id="8" name="Rounded Rectangle 7"/>
          <p:cNvSpPr/>
          <p:nvPr/>
        </p:nvSpPr>
        <p:spPr>
          <a:xfrm>
            <a:off x="594360" y="1298448"/>
            <a:ext cx="10972800" cy="45262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1664208"/>
            <a:ext cx="9875520" cy="1097280"/>
          </a:xfrm>
          <a:prstGeom prst="rect">
            <a:avLst/>
          </a:prstGeom>
          <a:noFill/>
        </p:spPr>
        <p:txBody>
          <a:bodyPr wrap="square">
            <a:normAutofit/>
          </a:bodyPr>
          <a:lstStyle/>
          <a:p>
            <a:r>
              <a:rPr sz="1300" b="1">
                <a:solidFill>
                  <a:srgbClr val="166534"/>
                </a:solidFill>
              </a:rPr>
              <a:t>Slide summary</a:t>
            </a:r>
          </a:p>
          <a:p>
            <a:pPr>
              <a:defRPr sz="1600">
                <a:solidFill>
                  <a:srgbClr val="1F2937"/>
                </a:solidFill>
              </a:defRPr>
            </a:pPr>
            <a:r>
              <a:t>We are integrating 'Digital Twin' technology to create a virtual replica of our operations. This allows for sophisticated simulation, predictive analysis, and enhanced decision-making, ensuring optimal performance across our supply chain and customer engagement.</a:t>
            </a:r>
          </a:p>
        </p:txBody>
      </p:sp>
      <p:sp>
        <p:nvSpPr>
          <p:cNvPr id="10" name="TextBox 9"/>
          <p:cNvSpPr txBox="1"/>
          <p:nvPr/>
        </p:nvSpPr>
        <p:spPr>
          <a:xfrm>
            <a:off x="868680" y="2816352"/>
            <a:ext cx="9875520" cy="2011680"/>
          </a:xfrm>
          <a:prstGeom prst="rect">
            <a:avLst/>
          </a:prstGeom>
          <a:noFill/>
        </p:spPr>
        <p:txBody>
          <a:bodyPr wrap="square">
            <a:normAutofit/>
          </a:bodyPr>
          <a:lstStyle/>
          <a:p>
            <a:r>
              <a:rPr sz="1300" b="1">
                <a:solidFill>
                  <a:srgbClr val="166534"/>
                </a:solidFill>
              </a:rPr>
              <a:t>Speaker notes</a:t>
            </a:r>
          </a:p>
          <a:p>
            <a:pPr>
              <a:defRPr sz="1600">
                <a:solidFill>
                  <a:srgbClr val="1F2937"/>
                </a:solidFill>
              </a:defRPr>
            </a:pPr>
            <a:r>
              <a:t>This advanced technology gives us unprecedented insight and control, allowing us to anticipate challenges and capitalize on opportunities before they arise.</a:t>
            </a:r>
          </a:p>
        </p:txBody>
      </p:sp>
      <p:sp>
        <p:nvSpPr>
          <p:cNvPr id="11" name="TextBox 10"/>
          <p:cNvSpPr txBox="1"/>
          <p:nvPr/>
        </p:nvSpPr>
        <p:spPr>
          <a:xfrm>
            <a:off x="868680" y="4983480"/>
            <a:ext cx="9875520" cy="640080"/>
          </a:xfrm>
          <a:prstGeom prst="rect">
            <a:avLst/>
          </a:prstGeom>
          <a:noFill/>
        </p:spPr>
        <p:txBody>
          <a:bodyPr wrap="none">
            <a:spAutoFit/>
          </a:bodyPr>
          <a:lstStyle/>
          <a:p>
            <a:r>
              <a:rPr sz="1200">
                <a:solidFill>
                  <a:srgbClr val="334155"/>
                </a:solidFill>
              </a:rPr>
              <a:t>Evidence orbs: ORB-fa1f3ca0, ORB-4c201c15</a:t>
            </a:r>
          </a:p>
        </p:txBody>
      </p:sp>
      <p:sp>
        <p:nvSpPr>
          <p:cNvPr id="12" name="Rounded Rectangle 11"/>
          <p:cNvSpPr/>
          <p:nvPr/>
        </p:nvSpPr>
        <p:spPr>
          <a:xfrm>
            <a:off x="8641080" y="1737360"/>
            <a:ext cx="2468880" cy="2788920"/>
          </a:xfrm>
          <a:prstGeom prst="round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FFFFFF"/>
                </a:solidFill>
              </a:rPr>
              <a:t>Delivery cues</a:t>
            </a:r>
          </a:p>
          <a:p>
            <a:pPr>
              <a:spcAft>
                <a:spcPts val="800"/>
              </a:spcAft>
              <a:defRPr sz="1150">
                <a:solidFill>
                  <a:srgbClr val="FFFFFF"/>
                </a:solidFill>
              </a:defRPr>
            </a:pPr>
            <a:r>
              <a:t>Open with the stake, not the detail.</a:t>
            </a:r>
          </a:p>
          <a:p>
            <a:pPr>
              <a:spcAft>
                <a:spcPts val="800"/>
              </a:spcAft>
              <a:defRPr sz="1150">
                <a:solidFill>
                  <a:srgbClr val="FFFFFF"/>
                </a:solidFill>
              </a:defRPr>
            </a:pPr>
            <a:r>
              <a:t>Land one proof point before expanding.</a:t>
            </a:r>
          </a:p>
          <a:p>
            <a:pPr>
              <a:spcAft>
                <a:spcPts val="800"/>
              </a:spcAft>
              <a:defRPr sz="1150">
                <a:solidFill>
                  <a:srgbClr val="FFFFFF"/>
                </a:solidFill>
              </a:defRPr>
            </a:pPr>
            <a:r>
              <a:t>Pause before the final takeaway.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C121C"/>
        </a:solidFill>
        <a:effectLst/>
      </p:bgPr>
    </p:bg>
    <p:spTree>
      <p:nvGrpSpPr>
        <p:cNvPr id="1" name=""/>
        <p:cNvGrpSpPr/>
        <p:nvPr/>
      </p:nvGrpSpPr>
      <p:grpSpPr/>
      <p:pic>
        <p:nvPicPr>
          <p:cNvPr id="2" name="Picture 1" descr="2a1de542-04c7-45ed-bd9b-f68586de0987.jpe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347472"/>
          </a:xfrm>
          <a:prstGeom prst="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8549640" y="502920"/>
            <a:ext cx="3017520" cy="3017520"/>
          </a:xfrm>
          <a:prstGeom prst="ellipse">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384048"/>
            <a:ext cx="1920240" cy="347472"/>
          </a:xfrm>
          <a:prstGeom prst="round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FFFFFF"/>
                </a:solidFill>
              </a:rPr>
              <a:t>SPEAKER NOTES</a:t>
            </a:r>
          </a:p>
        </p:txBody>
      </p:sp>
      <p:sp>
        <p:nvSpPr>
          <p:cNvPr id="7" name="TextBox 6"/>
          <p:cNvSpPr txBox="1"/>
          <p:nvPr/>
        </p:nvSpPr>
        <p:spPr>
          <a:xfrm>
            <a:off x="658368" y="594360"/>
            <a:ext cx="10607040" cy="822960"/>
          </a:xfrm>
          <a:prstGeom prst="rect">
            <a:avLst/>
          </a:prstGeom>
          <a:noFill/>
        </p:spPr>
        <p:txBody>
          <a:bodyPr wrap="square">
            <a:spAutoFit/>
          </a:bodyPr>
          <a:lstStyle/>
          <a:p>
            <a:r>
              <a:rPr sz="2400" b="1">
                <a:solidFill>
                  <a:srgbClr val="FFFFFF"/>
                </a:solidFill>
              </a:rPr>
              <a:t>Speaker Notes | Slide 7: Investment Opportunity &amp; Projected ROI</a:t>
            </a:r>
          </a:p>
        </p:txBody>
      </p:sp>
      <p:sp>
        <p:nvSpPr>
          <p:cNvPr id="8" name="Rounded Rectangle 7"/>
          <p:cNvSpPr/>
          <p:nvPr/>
        </p:nvSpPr>
        <p:spPr>
          <a:xfrm>
            <a:off x="594360" y="1298448"/>
            <a:ext cx="10972800" cy="45262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1664208"/>
            <a:ext cx="9875520" cy="1097280"/>
          </a:xfrm>
          <a:prstGeom prst="rect">
            <a:avLst/>
          </a:prstGeom>
          <a:noFill/>
        </p:spPr>
        <p:txBody>
          <a:bodyPr wrap="square">
            <a:normAutofit/>
          </a:bodyPr>
          <a:lstStyle/>
          <a:p>
            <a:r>
              <a:rPr sz="1300" b="1">
                <a:solidFill>
                  <a:srgbClr val="166534"/>
                </a:solidFill>
              </a:rPr>
              <a:t>Slide summary</a:t>
            </a:r>
          </a:p>
          <a:p>
            <a:pPr>
              <a:defRPr sz="1600">
                <a:solidFill>
                  <a:srgbClr val="1F2937"/>
                </a:solidFill>
              </a:defRPr>
            </a:pPr>
            <a:r>
              <a:t>We are seeking [Investment Amount] to scale our AI-driven logistics and expand our sustainable packaging initiatives. This investment will accelerate our market penetration, enhance operational efficiencies, and drive significant returns through our robust, loyalty-driven recurring revenue model.</a:t>
            </a:r>
          </a:p>
        </p:txBody>
      </p:sp>
      <p:sp>
        <p:nvSpPr>
          <p:cNvPr id="10" name="TextBox 9"/>
          <p:cNvSpPr txBox="1"/>
          <p:nvPr/>
        </p:nvSpPr>
        <p:spPr>
          <a:xfrm>
            <a:off x="868680" y="2816352"/>
            <a:ext cx="9875520" cy="2011680"/>
          </a:xfrm>
          <a:prstGeom prst="rect">
            <a:avLst/>
          </a:prstGeom>
          <a:noFill/>
        </p:spPr>
        <p:txBody>
          <a:bodyPr wrap="square">
            <a:normAutofit/>
          </a:bodyPr>
          <a:lstStyle/>
          <a:p>
            <a:r>
              <a:rPr sz="1300" b="1">
                <a:solidFill>
                  <a:srgbClr val="166534"/>
                </a:solidFill>
              </a:rPr>
              <a:t>Speaker notes</a:t>
            </a:r>
          </a:p>
          <a:p>
            <a:pPr>
              <a:defRPr sz="1600">
                <a:solidFill>
                  <a:srgbClr val="1F2937"/>
                </a:solidFill>
              </a:defRPr>
            </a:pPr>
            <a:r>
              <a:t>This is a strategic investment in a high-growth market with a proven business model, amplified by cutting-edge technology and a strong commitment to sustainability.</a:t>
            </a:r>
          </a:p>
        </p:txBody>
      </p:sp>
      <p:sp>
        <p:nvSpPr>
          <p:cNvPr id="11" name="TextBox 10"/>
          <p:cNvSpPr txBox="1"/>
          <p:nvPr/>
        </p:nvSpPr>
        <p:spPr>
          <a:xfrm>
            <a:off x="868680" y="4983480"/>
            <a:ext cx="9875520" cy="640080"/>
          </a:xfrm>
          <a:prstGeom prst="rect">
            <a:avLst/>
          </a:prstGeom>
          <a:noFill/>
        </p:spPr>
        <p:txBody>
          <a:bodyPr wrap="none">
            <a:spAutoFit/>
          </a:bodyPr>
          <a:lstStyle/>
          <a:p>
            <a:r>
              <a:rPr sz="1200">
                <a:solidFill>
                  <a:srgbClr val="334155"/>
                </a:solidFill>
              </a:rPr>
              <a:t>Evidence orbs: ORB-5c392235</a:t>
            </a:r>
          </a:p>
        </p:txBody>
      </p:sp>
      <p:sp>
        <p:nvSpPr>
          <p:cNvPr id="12" name="Rounded Rectangle 11"/>
          <p:cNvSpPr/>
          <p:nvPr/>
        </p:nvSpPr>
        <p:spPr>
          <a:xfrm>
            <a:off x="8641080" y="1737360"/>
            <a:ext cx="2468880" cy="2788920"/>
          </a:xfrm>
          <a:prstGeom prst="round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FFFFFF"/>
                </a:solidFill>
              </a:rPr>
              <a:t>Delivery cues</a:t>
            </a:r>
          </a:p>
          <a:p>
            <a:pPr>
              <a:spcAft>
                <a:spcPts val="800"/>
              </a:spcAft>
              <a:defRPr sz="1150">
                <a:solidFill>
                  <a:srgbClr val="FFFFFF"/>
                </a:solidFill>
              </a:defRPr>
            </a:pPr>
            <a:r>
              <a:t>Open with the stake, not the detail.</a:t>
            </a:r>
          </a:p>
          <a:p>
            <a:pPr>
              <a:spcAft>
                <a:spcPts val="800"/>
              </a:spcAft>
              <a:defRPr sz="1150">
                <a:solidFill>
                  <a:srgbClr val="FFFFFF"/>
                </a:solidFill>
              </a:defRPr>
            </a:pPr>
            <a:r>
              <a:t>Land one proof point before expanding.</a:t>
            </a:r>
          </a:p>
          <a:p>
            <a:pPr>
              <a:spcAft>
                <a:spcPts val="800"/>
              </a:spcAft>
              <a:defRPr sz="1150">
                <a:solidFill>
                  <a:srgbClr val="FFFFFF"/>
                </a:solidFill>
              </a:defRPr>
            </a:pPr>
            <a:r>
              <a:t>Pause before the final takeaway.</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C121C"/>
        </a:solidFill>
        <a:effectLst/>
      </p:bgPr>
    </p:bg>
    <p:spTree>
      <p:nvGrpSpPr>
        <p:cNvPr id="1" name=""/>
        <p:cNvGrpSpPr/>
        <p:nvPr/>
      </p:nvGrpSpPr>
      <p:grpSpPr/>
      <p:pic>
        <p:nvPicPr>
          <p:cNvPr id="2" name="Picture 1" descr="2a1de542-04c7-45ed-bd9b-f68586de0987.jpe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347472"/>
          </a:xfrm>
          <a:prstGeom prst="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8549640" y="502920"/>
            <a:ext cx="3017520" cy="3017520"/>
          </a:xfrm>
          <a:prstGeom prst="ellipse">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384048"/>
            <a:ext cx="1920240" cy="347472"/>
          </a:xfrm>
          <a:prstGeom prst="round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FFFFFF"/>
                </a:solidFill>
              </a:rPr>
              <a:t>SPEAKER NOTES</a:t>
            </a:r>
          </a:p>
        </p:txBody>
      </p:sp>
      <p:sp>
        <p:nvSpPr>
          <p:cNvPr id="7" name="TextBox 6"/>
          <p:cNvSpPr txBox="1"/>
          <p:nvPr/>
        </p:nvSpPr>
        <p:spPr>
          <a:xfrm>
            <a:off x="658368" y="594360"/>
            <a:ext cx="10607040" cy="822960"/>
          </a:xfrm>
          <a:prstGeom prst="rect">
            <a:avLst/>
          </a:prstGeom>
          <a:noFill/>
        </p:spPr>
        <p:txBody>
          <a:bodyPr wrap="square">
            <a:spAutoFit/>
          </a:bodyPr>
          <a:lstStyle/>
          <a:p>
            <a:r>
              <a:rPr sz="2400" b="1">
                <a:solidFill>
                  <a:srgbClr val="FFFFFF"/>
                </a:solidFill>
              </a:rPr>
              <a:t>Speaker Notes | Slide 8: Join Us in Brewing a Sustainable Future</a:t>
            </a:r>
          </a:p>
        </p:txBody>
      </p:sp>
      <p:sp>
        <p:nvSpPr>
          <p:cNvPr id="8" name="Rounded Rectangle 7"/>
          <p:cNvSpPr/>
          <p:nvPr/>
        </p:nvSpPr>
        <p:spPr>
          <a:xfrm>
            <a:off x="594360" y="1298448"/>
            <a:ext cx="10972800" cy="45262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1664208"/>
            <a:ext cx="9875520" cy="1097280"/>
          </a:xfrm>
          <a:prstGeom prst="rect">
            <a:avLst/>
          </a:prstGeom>
          <a:noFill/>
        </p:spPr>
        <p:txBody>
          <a:bodyPr wrap="square">
            <a:normAutofit/>
          </a:bodyPr>
          <a:lstStyle/>
          <a:p>
            <a:r>
              <a:rPr sz="1300" b="1">
                <a:solidFill>
                  <a:srgbClr val="166534"/>
                </a:solidFill>
              </a:rPr>
              <a:t>Slide summary</a:t>
            </a:r>
          </a:p>
          <a:p>
            <a:pPr>
              <a:defRPr sz="1600">
                <a:solidFill>
                  <a:srgbClr val="1F2937"/>
                </a:solidFill>
              </a:defRPr>
            </a:pPr>
            <a:r>
              <a:t>We invite you to partner with us in capitalizing on the burgeoning sustainable coffee subscription market. By investing in our innovative, loyalty-driven, and technologically advanced model, you are investing in a future of consistent growth, operational excellence, and positive environmental impact.</a:t>
            </a:r>
          </a:p>
        </p:txBody>
      </p:sp>
      <p:sp>
        <p:nvSpPr>
          <p:cNvPr id="10" name="TextBox 9"/>
          <p:cNvSpPr txBox="1"/>
          <p:nvPr/>
        </p:nvSpPr>
        <p:spPr>
          <a:xfrm>
            <a:off x="868680" y="2816352"/>
            <a:ext cx="9875520" cy="2011680"/>
          </a:xfrm>
          <a:prstGeom prst="rect">
            <a:avLst/>
          </a:prstGeom>
          <a:noFill/>
        </p:spPr>
        <p:txBody>
          <a:bodyPr wrap="square">
            <a:normAutofit/>
          </a:bodyPr>
          <a:lstStyle/>
          <a:p>
            <a:r>
              <a:rPr sz="1300" b="1">
                <a:solidFill>
                  <a:srgbClr val="166534"/>
                </a:solidFill>
              </a:rPr>
              <a:t>Speaker notes</a:t>
            </a:r>
          </a:p>
          <a:p>
            <a:pPr>
              <a:defRPr sz="1600">
                <a:solidFill>
                  <a:srgbClr val="1F2937"/>
                </a:solidFill>
              </a:defRPr>
            </a:pPr>
            <a:r>
              <a:t>Thank you for your time. We are confident that this venture represents a compelling investment opportunity, and we look forward to discussing how we can achieve mutual success.</a:t>
            </a:r>
          </a:p>
        </p:txBody>
      </p:sp>
      <p:sp>
        <p:nvSpPr>
          <p:cNvPr id="11" name="TextBox 10"/>
          <p:cNvSpPr txBox="1"/>
          <p:nvPr/>
        </p:nvSpPr>
        <p:spPr>
          <a:xfrm>
            <a:off x="868680" y="4983480"/>
            <a:ext cx="9875520" cy="640080"/>
          </a:xfrm>
          <a:prstGeom prst="rect">
            <a:avLst/>
          </a:prstGeom>
          <a:noFill/>
        </p:spPr>
        <p:txBody>
          <a:bodyPr wrap="none">
            <a:spAutoFit/>
          </a:bodyPr>
          <a:lstStyle/>
          <a:p>
            <a:r>
              <a:rPr sz="1200">
                <a:solidFill>
                  <a:srgbClr val="334155"/>
                </a:solidFill>
              </a:rPr>
              <a:t>Evidence orbs: ORB-a131c70a</a:t>
            </a:r>
          </a:p>
        </p:txBody>
      </p:sp>
      <p:sp>
        <p:nvSpPr>
          <p:cNvPr id="12" name="Rounded Rectangle 11"/>
          <p:cNvSpPr/>
          <p:nvPr/>
        </p:nvSpPr>
        <p:spPr>
          <a:xfrm>
            <a:off x="8641080" y="1737360"/>
            <a:ext cx="2468880" cy="2788920"/>
          </a:xfrm>
          <a:prstGeom prst="round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FFFFFF"/>
                </a:solidFill>
              </a:rPr>
              <a:t>Delivery cues</a:t>
            </a:r>
          </a:p>
          <a:p>
            <a:pPr>
              <a:spcAft>
                <a:spcPts val="800"/>
              </a:spcAft>
              <a:defRPr sz="1150">
                <a:solidFill>
                  <a:srgbClr val="FFFFFF"/>
                </a:solidFill>
              </a:defRPr>
            </a:pPr>
            <a:r>
              <a:t>Open with the stake, not the detail.</a:t>
            </a:r>
          </a:p>
          <a:p>
            <a:pPr>
              <a:spcAft>
                <a:spcPts val="800"/>
              </a:spcAft>
              <a:defRPr sz="1150">
                <a:solidFill>
                  <a:srgbClr val="FFFFFF"/>
                </a:solidFill>
              </a:defRPr>
            </a:pPr>
            <a:r>
              <a:t>Land one proof point before expanding.</a:t>
            </a:r>
          </a:p>
          <a:p>
            <a:pPr>
              <a:spcAft>
                <a:spcPts val="800"/>
              </a:spcAft>
              <a:defRPr sz="1150">
                <a:solidFill>
                  <a:srgbClr val="FFFFFF"/>
                </a:solidFill>
              </a:defRPr>
            </a:pPr>
            <a:r>
              <a:t>Pause before the final takeaway.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