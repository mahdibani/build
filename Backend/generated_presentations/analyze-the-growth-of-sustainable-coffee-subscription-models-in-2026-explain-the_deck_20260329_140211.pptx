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01</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800" b="1">
                <a:solidFill>
                  <a:srgbClr val="0F172A"/>
                </a:solidFill>
              </a:rPr>
              <a:t>The Untapped Potential: Sustainable Coffee's Ascent</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establish the growing market opportunity within sustainable coffee.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global demand for ethically sourced and environmentally conscious products is rapidly expanding, with sustainable coffee leading the charge. By 2026, this segment is poised for significant growth, presenting a lucrative market for innovative business models. Early movers can capture substantial market share by aligning with consumer values.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Increasing consumer preference for sustainable and ethically sourced products.</a:t>
            </a:r>
          </a:p>
          <a:p>
            <a:pPr>
              <a:spcAft>
                <a:spcPts val="800"/>
              </a:spcAft>
              <a:defRPr sz="1600">
                <a:solidFill>
                  <a:srgbClr val="1F2937"/>
                </a:solidFill>
              </a:defRPr>
            </a:pPr>
            <a:r>
              <a:t>Projected significant market growth in the sustainable coffee sector by 2026.</a:t>
            </a:r>
          </a:p>
          <a:p>
            <a:pPr>
              <a:spcAft>
                <a:spcPts val="800"/>
              </a:spcAft>
              <a:defRPr sz="1600">
                <a:solidFill>
                  <a:srgbClr val="1F2937"/>
                </a:solidFill>
              </a:defRPr>
            </a:pPr>
            <a:r>
              <a:t>Alignment with evolving consumer values is a key differentiator.</a:t>
            </a:r>
          </a:p>
          <a:p>
            <a:pPr>
              <a:spcAft>
                <a:spcPts val="800"/>
              </a:spcAft>
              <a:defRPr sz="1600">
                <a:solidFill>
                  <a:srgbClr val="1F2937"/>
                </a:solidFill>
              </a:defRPr>
            </a:pPr>
            <a:r>
              <a:t>Opportunity for businesses to build brand loyalty through sustainable practices.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dynamic bar chart showing projected growth of the sustainable coffee market from 2024 to 2026, with a clear upward trend. Highlight key growth drivers.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ORB-872f7835, ORB-f64821e0</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1  |  Evidence: ORB-872f7835, ORB-f64821e0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02</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Engine of Growth: Loyalty-Driven Recurring Revenue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define and illustrate the core business value of loyalty-driven recurring revenue.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Recurring revenue models, particularly those built on customer loyalty, offer predictable income streams and enhanced profitability. By fostering strong customer relationships and delivering consistent value, businesses can significantly reduce churn and increase Customer Lifetime Value (CLV). This model shifts focus from transactional sales to long-term customer partnerships.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Recurring revenue provides predictable financial forecasting and stability.</a:t>
            </a:r>
          </a:p>
          <a:p>
            <a:pPr>
              <a:spcAft>
                <a:spcPts val="800"/>
              </a:spcAft>
              <a:defRPr sz="1600">
                <a:solidFill>
                  <a:srgbClr val="1F2937"/>
                </a:solidFill>
              </a:defRPr>
            </a:pPr>
            <a:r>
              <a:t>Loyalty programs and consistent value delivery are crucial for reducing churn.</a:t>
            </a:r>
          </a:p>
          <a:p>
            <a:pPr>
              <a:spcAft>
                <a:spcPts val="800"/>
              </a:spcAft>
              <a:defRPr sz="1600">
                <a:solidFill>
                  <a:srgbClr val="1F2937"/>
                </a:solidFill>
              </a:defRPr>
            </a:pPr>
            <a:r>
              <a:t>Increased Customer Lifetime Value (CLV) directly impacts profitability.</a:t>
            </a:r>
          </a:p>
          <a:p>
            <a:pPr>
              <a:spcAft>
                <a:spcPts val="800"/>
              </a:spcAft>
              <a:defRPr sz="1600">
                <a:solidFill>
                  <a:srgbClr val="1F2937"/>
                </a:solidFill>
              </a:defRPr>
            </a:pPr>
            <a:r>
              <a:t>Shifts business focus from acquisition to retention and expansion.</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flowchart illustrating the cycle of loyalty-driven recurring revenue: Acquisition -&gt; Engagement -&gt; Loyalty -&gt; Retention -&gt; Increased CLV -&gt; Sustainable Growth. Highlight the feedback loop.</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ORB-cee9d362, ORB-975165ce, ORB-fcda2df4</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2  |  Evidence: ORB-cee9d362, ORB-975165ce, ORB-fcda2df4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03</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Quantifying Loyalty: The CLV Advantage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demonstrate the financial impact of customer loyalty on Lifetime Value.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Customer loyalty directly translates into higher Customer Lifetime Value (CLV), a critical metric for subscription businesses. By analyzing churn rates and repeat purchase behavior, we can project the long-term financial benefits of retaining customers. A loyal customer base not only generates consistent revenue but also reduces the need for costly new customer acquisition.</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Reduced churn rates are directly correlated with increased CLV.</a:t>
            </a:r>
          </a:p>
          <a:p>
            <a:pPr>
              <a:spcAft>
                <a:spcPts val="800"/>
              </a:spcAft>
              <a:defRPr sz="1600">
                <a:solidFill>
                  <a:srgbClr val="1F2937"/>
                </a:solidFill>
              </a:defRPr>
            </a:pPr>
            <a:r>
              <a:t>Loyal customers tend to spend more and purchase more frequently.</a:t>
            </a:r>
          </a:p>
          <a:p>
            <a:pPr>
              <a:spcAft>
                <a:spcPts val="800"/>
              </a:spcAft>
              <a:defRPr sz="1600">
                <a:solidFill>
                  <a:srgbClr val="1F2937"/>
                </a:solidFill>
              </a:defRPr>
            </a:pPr>
            <a:r>
              <a:t>CLV analysis provides a clear ROI for loyalty initiatives.</a:t>
            </a:r>
          </a:p>
          <a:p>
            <a:pPr>
              <a:spcAft>
                <a:spcPts val="800"/>
              </a:spcAft>
              <a:defRPr sz="1600">
                <a:solidFill>
                  <a:srgbClr val="1F2937"/>
                </a:solidFill>
              </a:defRPr>
            </a:pPr>
            <a:r>
              <a:t>Lower acquisition costs due to organic growth and referrals from loyal customers.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comparative chart showing the CLV of a loyal subscriber versus a non-loyal or churned customer over a 3-year period. Use clear financial figures.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ORB-cee9d362</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3  |  Evidence: ORB-cee9d362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04</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Navigating the Landscape: Competitive Differentiation</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outline strategies for differentiating within the competitive coffee subscription market.</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sustainable coffee subscription market is becoming increasingly crowded. To succeed, businesses must clearly differentiate themselves beyond just the 'sustainable' label. This involves unique sourcing stories, curated flavor profiles, exceptional customer service, and innovative subscription features that build a strong brand identity and resonate with target consumers.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Develop a unique brand narrative centered on specific sustainability initiatives.</a:t>
            </a:r>
          </a:p>
          <a:p>
            <a:pPr>
              <a:spcAft>
                <a:spcPts val="800"/>
              </a:spcAft>
              <a:defRPr sz="1600">
                <a:solidFill>
                  <a:srgbClr val="1F2937"/>
                </a:solidFill>
              </a:defRPr>
            </a:pPr>
            <a:r>
              <a:t>Offer curated selections and exclusive flavor profiles.</a:t>
            </a:r>
          </a:p>
          <a:p>
            <a:pPr>
              <a:spcAft>
                <a:spcPts val="800"/>
              </a:spcAft>
              <a:defRPr sz="1600">
                <a:solidFill>
                  <a:srgbClr val="1F2937"/>
                </a:solidFill>
              </a:defRPr>
            </a:pPr>
            <a:r>
              <a:t>Provide superior, personalized customer service.</a:t>
            </a:r>
          </a:p>
          <a:p>
            <a:pPr>
              <a:spcAft>
                <a:spcPts val="800"/>
              </a:spcAft>
              <a:defRPr sz="1600">
                <a:solidFill>
                  <a:srgbClr val="1F2937"/>
                </a:solidFill>
              </a:defRPr>
            </a:pPr>
            <a:r>
              <a:t>Innovate with subscription flexibility and value-added content.</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Comparison concept</a:t>
            </a:r>
          </a:p>
          <a:p>
            <a:pPr>
              <a:defRPr sz="1400">
                <a:solidFill>
                  <a:srgbClr val="334155"/>
                </a:solidFill>
              </a:defRPr>
            </a:pPr>
            <a:r>
              <a:t>A comparison table highlighting key differentiation factors for successful coffee subscription brands (e.g., Sourcing Transparency, Flavor Variety, Subscription Flexibility, Community Engagement).</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4  |  Evidence: reasoned synthesis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05</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Acquisition Challenge: Balancing Cost and Scale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address the critical challenge of managing customer acquisition costs (CAC) for scalable growth.</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While recurring revenue is the goal, acquiring new subscribers at a sustainable cost is paramount. High Customer Acquisition Costs (CAC) can quickly erode profitability, especially in a competitive market. Strategic marketing, targeted digital campaigns, and leveraging existing customer advocacy are essential for efficient scaling.</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Monitor and optimize Customer Acquisition Cost (CAC) rigorously.</a:t>
            </a:r>
          </a:p>
          <a:p>
            <a:pPr>
              <a:spcAft>
                <a:spcPts val="800"/>
              </a:spcAft>
              <a:defRPr sz="1600">
                <a:solidFill>
                  <a:srgbClr val="1F2937"/>
                </a:solidFill>
              </a:defRPr>
            </a:pPr>
            <a:r>
              <a:t>Utilize data-driven digital marketing for targeted outreach.</a:t>
            </a:r>
          </a:p>
          <a:p>
            <a:pPr>
              <a:spcAft>
                <a:spcPts val="800"/>
              </a:spcAft>
              <a:defRPr sz="1600">
                <a:solidFill>
                  <a:srgbClr val="1F2937"/>
                </a:solidFill>
              </a:defRPr>
            </a:pPr>
            <a:r>
              <a:t>Leverage referral programs and customer testimonials for organic growth.</a:t>
            </a:r>
          </a:p>
          <a:p>
            <a:pPr>
              <a:spcAft>
                <a:spcPts val="800"/>
              </a:spcAft>
              <a:defRPr sz="1600">
                <a:solidFill>
                  <a:srgbClr val="1F2937"/>
                </a:solidFill>
              </a:defRPr>
            </a:pPr>
            <a:r>
              <a:t>Ensure marketing spend is aligned with projected CLV.</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graph illustrating the relationship between CAC and CLV, showing the ideal scenario where CLV significantly exceeds CAC. Include a 'danger zone' where CAC is too high.</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5  |  Evidence: reasoned synthesis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06</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Scaling for Success: Operational Readiness</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highlight the operational considerations for scaling a subscription business.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As subscription volume grows, operational efficiency becomes critical. This includes robust inventory management, reliable fulfillment logistics, and scalable customer support systems. Ensuring a seamless customer experience from order to delivery is vital for maintaining loyalty and preventing churn as the business expands.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Implement efficient inventory management systems to prevent stockouts or overstocking.</a:t>
            </a:r>
          </a:p>
          <a:p>
            <a:pPr>
              <a:spcAft>
                <a:spcPts val="800"/>
              </a:spcAft>
              <a:defRPr sz="1600">
                <a:solidFill>
                  <a:srgbClr val="1F2937"/>
                </a:solidFill>
              </a:defRPr>
            </a:pPr>
            <a:r>
              <a:t>Establish reliable and cost-effective fulfillment and logistics partnerships.</a:t>
            </a:r>
          </a:p>
          <a:p>
            <a:pPr>
              <a:spcAft>
                <a:spcPts val="800"/>
              </a:spcAft>
              <a:defRPr sz="1600">
                <a:solidFill>
                  <a:srgbClr val="1F2937"/>
                </a:solidFill>
              </a:defRPr>
            </a:pPr>
            <a:r>
              <a:t>Invest in scalable customer support infrastructure (CRM, support tools).</a:t>
            </a:r>
          </a:p>
          <a:p>
            <a:pPr>
              <a:spcAft>
                <a:spcPts val="800"/>
              </a:spcAft>
              <a:defRPr sz="1600">
                <a:solidFill>
                  <a:srgbClr val="1F2937"/>
                </a:solidFill>
              </a:defRPr>
            </a:pPr>
            <a:r>
              <a:t>Automate processes where possible to improve efficiency and reduce errors.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Architecture concept</a:t>
            </a:r>
          </a:p>
          <a:p>
            <a:pPr>
              <a:defRPr sz="1400">
                <a:solidFill>
                  <a:srgbClr val="334155"/>
                </a:solidFill>
              </a:defRPr>
            </a:pPr>
            <a:r>
              <a:t>An architectural diagram showing the key operational components of a coffee subscription business: Sourcing -&gt; Roasting/Packaging -&gt; Order Management -&gt; Fulfillment -&gt; Logistics -&gt; Customer Service.</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ORB-db61399e, ORB-c541226b</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6  |  Evidence: ORB-db61399e, ORB-c541226b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07</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Strategic Imperatives for 2026</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summarize the key strategic actions required for success in the sustainable coffee subscription market.</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To capitalize on the burgeoning sustainable coffee market and the power of loyalty-driven recurring revenue, a focused strategy is essential. This involves a dual approach: aggressively building customer loyalty to maximize CLV and meticulously managing operational scalability to support growth. Addressing these imperatives proactively will position the business for sustained success and market leadership.</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Prioritize building deep customer loyalty through exceptional value and engagement.</a:t>
            </a:r>
          </a:p>
          <a:p>
            <a:pPr>
              <a:spcAft>
                <a:spcPts val="800"/>
              </a:spcAft>
              <a:defRPr sz="1600">
                <a:solidFill>
                  <a:srgbClr val="1F2937"/>
                </a:solidFill>
              </a:defRPr>
            </a:pPr>
            <a:r>
              <a:t>Invest in scalable operational infrastructure to support demand.</a:t>
            </a:r>
          </a:p>
          <a:p>
            <a:pPr>
              <a:spcAft>
                <a:spcPts val="800"/>
              </a:spcAft>
              <a:defRPr sz="1600">
                <a:solidFill>
                  <a:srgbClr val="1F2937"/>
                </a:solidFill>
              </a:defRPr>
            </a:pPr>
            <a:r>
              <a:t>Continuously optimize customer acquisition strategies for efficiency.</a:t>
            </a:r>
          </a:p>
          <a:p>
            <a:pPr>
              <a:spcAft>
                <a:spcPts val="800"/>
              </a:spcAft>
              <a:defRPr sz="1600">
                <a:solidFill>
                  <a:srgbClr val="1F2937"/>
                </a:solidFill>
              </a:defRPr>
            </a:pPr>
            <a:r>
              <a:t>Maintain a clear brand differentiation in a competitive landscape.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Agenda concept</a:t>
            </a:r>
          </a:p>
          <a:p>
            <a:pPr>
              <a:defRPr sz="1400">
                <a:solidFill>
                  <a:srgbClr val="334155"/>
                </a:solidFill>
              </a:defRPr>
            </a:pPr>
            <a:r>
              <a:t>A clean, icon-based agenda slide summarizing the core strategic pillars: 1. Cultivate Loyalty, 2. Ensure Scalability, 3. Optimize Acquisition, 4. Differentiate Brand.</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7  |  Evidence: reasoned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08</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Seizing the Opportunity: Invest in Sustainable Loyalty</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provide a confident call to action for investment and strategic focus.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convergence of consumer demand for sustainability and the proven power of loyalty-driven recurring revenue presents a unique and compelling investment opportunity. By strategically addressing acquisition, scalability, and differentiation, businesses can unlock significant growth and profitability in the 2026 coffee market. Now is the time to invest in building a loyal customer base and a scalable, sustainable coffee subscription model.</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The market is ripe for disruption and growth in sustainable coffee subscriptions.</a:t>
            </a:r>
          </a:p>
          <a:p>
            <a:pPr>
              <a:spcAft>
                <a:spcPts val="800"/>
              </a:spcAft>
              <a:defRPr sz="1600">
                <a:solidFill>
                  <a:srgbClr val="1F2937"/>
                </a:solidFill>
              </a:defRPr>
            </a:pPr>
            <a:r>
              <a:t>Loyalty-driven recurring revenue offers a clear path to profitability and stability.</a:t>
            </a:r>
          </a:p>
          <a:p>
            <a:pPr>
              <a:spcAft>
                <a:spcPts val="800"/>
              </a:spcAft>
              <a:defRPr sz="1600">
                <a:solidFill>
                  <a:srgbClr val="1F2937"/>
                </a:solidFill>
              </a:defRPr>
            </a:pPr>
            <a:r>
              <a:t>Strategic execution on acquisition and scalability is key to capturing market share.</a:t>
            </a:r>
          </a:p>
          <a:p>
            <a:pPr>
              <a:spcAft>
                <a:spcPts val="800"/>
              </a:spcAft>
              <a:defRPr sz="1600">
                <a:solidFill>
                  <a:srgbClr val="1F2937"/>
                </a:solidFill>
              </a:defRPr>
            </a:pPr>
            <a:r>
              <a:t>This is a strategic investment in long-term, sustainable business value.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Closing concept</a:t>
            </a:r>
          </a:p>
          <a:p>
            <a:pPr>
              <a:defRPr sz="1400">
                <a:solidFill>
                  <a:srgbClr val="334155"/>
                </a:solidFill>
              </a:defRPr>
            </a:pPr>
            <a:r>
              <a:t>A visually appealing closing slide with a strong call to action, perhaps featuring an image of premium sustainable coffee beans or a satisfied customer. Include contact information.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ORB-272353ec</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8  |  Evidence: ORB-272353ec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