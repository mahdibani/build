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Evolving Coffee Landscape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establish the growing market demand for sustainable coffee.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global coffee market is undergoing a significant transformation, with consumers increasingly prioritizing sustainability and ethical sourcing. This shift presents a substantial opportunity for businesses that align with these values. Our focus is on the burgeoning sustainable coffee subscription sector, poised for significant growth.</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Rising consumer consciousness around ethical and environmental impact.</a:t>
            </a:r>
          </a:p>
          <a:p>
            <a:pPr>
              <a:spcAft>
                <a:spcPts val="800"/>
              </a:spcAft>
              <a:defRPr sz="1600">
                <a:solidFill>
                  <a:srgbClr val="1F2937"/>
                </a:solidFill>
              </a:defRPr>
            </a:pPr>
            <a:r>
              <a:t>Increasing demand for high-quality, traceable coffee products.</a:t>
            </a:r>
          </a:p>
          <a:p>
            <a:pPr>
              <a:spcAft>
                <a:spcPts val="800"/>
              </a:spcAft>
              <a:defRPr sz="1600">
                <a:solidFill>
                  <a:srgbClr val="1F2937"/>
                </a:solidFill>
              </a:defRPr>
            </a:pPr>
            <a:r>
              <a:t>The subscription model offers convenience and curated experiences.</a:t>
            </a:r>
          </a:p>
          <a:p>
            <a:pPr>
              <a:spcAft>
                <a:spcPts val="800"/>
              </a:spcAft>
              <a:defRPr sz="1600">
                <a:solidFill>
                  <a:srgbClr val="1F2937"/>
                </a:solidFill>
              </a:defRPr>
            </a:pPr>
            <a:r>
              <a:t>Sustainable practices are becoming a key differentiator in the market.</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Timeline concept</a:t>
            </a:r>
          </a:p>
          <a:p>
            <a:pPr>
              <a:defRPr sz="1400">
                <a:solidFill>
                  <a:srgbClr val="334155"/>
                </a:solidFill>
              </a:defRPr>
            </a:pPr>
            <a:r>
              <a:t>A timeline showcasing the increasing consumer interest in sustainability over the past decade, culminating in the projected growth of sustainable coffee subscriptions.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Market Opportunity: Sustainable Coffee Subscriptions in 2026</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present the projected market size and growth trajectory for sustainable coffee subscriptions.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While specific 2026 projections are still emerging, the underlying trends indicate robust growth for sustainable coffee subscriptions. We anticipate a significant expansion driven by a confluence of consumer preference and market readiness. This segment is not just a niche; it's becoming a mainstream choice for discerning coffee drinkers.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Projected significant market expansion in the sustainable coffee sector.</a:t>
            </a:r>
          </a:p>
          <a:p>
            <a:pPr>
              <a:spcAft>
                <a:spcPts val="800"/>
              </a:spcAft>
              <a:defRPr sz="1600">
                <a:solidFill>
                  <a:srgbClr val="1F2937"/>
                </a:solidFill>
              </a:defRPr>
            </a:pPr>
            <a:r>
              <a:t>Subscription models offer predictable revenue streams.</a:t>
            </a:r>
          </a:p>
          <a:p>
            <a:pPr>
              <a:spcAft>
                <a:spcPts val="800"/>
              </a:spcAft>
              <a:defRPr sz="1600">
                <a:solidFill>
                  <a:srgbClr val="1F2937"/>
                </a:solidFill>
              </a:defRPr>
            </a:pPr>
            <a:r>
              <a:t>Untapped potential for market share capture.</a:t>
            </a:r>
          </a:p>
          <a:p>
            <a:pPr>
              <a:spcAft>
                <a:spcPts val="800"/>
              </a:spcAft>
              <a:defRPr sz="1600">
                <a:solidFill>
                  <a:srgbClr val="1F2937"/>
                </a:solidFill>
              </a:defRPr>
            </a:pPr>
            <a:r>
              <a:t>Consumer willingness to pay a premium for sustainable products.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bar chart illustrating the projected growth of the sustainable coffee market, with a specific focus on the subscription segment, using estimated figures based on current trends.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ORB-5a39225e, ORB-c4cdac58, ORB-7c90a897</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ORB-5a39225e, ORB-c4cdac58, ORB-7c90a897, ORB-6157208e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 Recurring Revenue Models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the business value and financial stability of loyalty-driven recurring revenue.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Loyalty-driven recurring revenue is the bedrock of our business model, offering predictable income and enhanced customer lifetime value. By fostering strong customer relationships and delivering consistent quality, we build a loyal subscriber base. This model minimizes revenue volatility and provides a stable foundation for growth and profitability.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Predictable revenue streams reduce financial uncertainty.</a:t>
            </a:r>
          </a:p>
          <a:p>
            <a:pPr>
              <a:spcAft>
                <a:spcPts val="800"/>
              </a:spcAft>
              <a:defRPr sz="1600">
                <a:solidFill>
                  <a:srgbClr val="1F2937"/>
                </a:solidFill>
              </a:defRPr>
            </a:pPr>
            <a:r>
              <a:t>Higher customer lifetime value compared to transactional models.</a:t>
            </a:r>
          </a:p>
          <a:p>
            <a:pPr>
              <a:spcAft>
                <a:spcPts val="800"/>
              </a:spcAft>
              <a:defRPr sz="1600">
                <a:solidFill>
                  <a:srgbClr val="1F2937"/>
                </a:solidFill>
              </a:defRPr>
            </a:pPr>
            <a:r>
              <a:t>Reduced customer acquisition costs through retention.</a:t>
            </a:r>
          </a:p>
          <a:p>
            <a:pPr>
              <a:spcAft>
                <a:spcPts val="800"/>
              </a:spcAft>
              <a:defRPr sz="1600">
                <a:solidFill>
                  <a:srgbClr val="1F2937"/>
                </a:solidFill>
              </a:defRPr>
            </a:pPr>
            <a:r>
              <a:t>Opportunities for upselling and cross-selling to engaged customers.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flowchart illustrating the customer journey from acquisition to long-term loyalty, highlighting touchpoints that reinforce recurring revenue.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ORB-8fe2e183, ORB-52617b4c, ORB-8d84eee7</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ORB-8fe2e183, ORB-52617b4c, ORB-8d84eee7, ORB-19f8a133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Financial Benefits of Recurring Revenue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quantify the financial advantages of a subscription-based recurring revenue model.</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recurring revenue model offers significant financial advantages, including improved cash flow, higher profitability, and increased business valuation. This predictable income allows for more accurate financial forecasting and strategic investment. Investors benefit from the stability and growth potential inherent in this model.</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Enhanced cash flow predictability and management.</a:t>
            </a:r>
          </a:p>
          <a:p>
            <a:pPr>
              <a:spcAft>
                <a:spcPts val="800"/>
              </a:spcAft>
              <a:defRPr sz="1600">
                <a:solidFill>
                  <a:srgbClr val="1F2937"/>
                </a:solidFill>
              </a:defRPr>
            </a:pPr>
            <a:r>
              <a:t>Higher gross margins due to optimized operations.</a:t>
            </a:r>
          </a:p>
          <a:p>
            <a:pPr>
              <a:spcAft>
                <a:spcPts val="800"/>
              </a:spcAft>
              <a:defRPr sz="1600">
                <a:solidFill>
                  <a:srgbClr val="1F2937"/>
                </a:solidFill>
              </a:defRPr>
            </a:pPr>
            <a:r>
              <a:t>Increased enterprise value and investor appeal.</a:t>
            </a:r>
          </a:p>
          <a:p>
            <a:pPr>
              <a:spcAft>
                <a:spcPts val="800"/>
              </a:spcAft>
              <a:defRPr sz="1600">
                <a:solidFill>
                  <a:srgbClr val="1F2937"/>
                </a:solidFill>
              </a:defRPr>
            </a:pPr>
            <a:r>
              <a:t>Reduced reliance on volatile market fluctuations.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comparative chart showing key financial metrics (e.g., profitability, valuation multiples) for subscription businesses versus traditional retail models.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ORB-8fe2e183, ORB-52617b4c, ORB-8d84eee7</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ORB-8fe2e183, ORB-52617b4c, ORB-8d84eee7, ORB-19f8a133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Technological Edge: AI-Optimized Delivery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showcase how AI optimizes delivery routes for efficiency and cost savings.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are leveraging cutting-edge AI to revolutionize our logistics. By analyzing vast datasets, our AI algorithms dynamically optimize delivery routes in real-time. This not only reduces delivery times and fuel consumption but also enhances customer satisfaction through reliable and timely service.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Real-time route optimization based on traffic and demand.</a:t>
            </a:r>
          </a:p>
          <a:p>
            <a:pPr>
              <a:spcAft>
                <a:spcPts val="800"/>
              </a:spcAft>
              <a:defRPr sz="1600">
                <a:solidFill>
                  <a:srgbClr val="1F2937"/>
                </a:solidFill>
              </a:defRPr>
            </a:pPr>
            <a:r>
              <a:t>Significant reduction in fuel costs and carbon footprint.</a:t>
            </a:r>
          </a:p>
          <a:p>
            <a:pPr>
              <a:spcAft>
                <a:spcPts val="800"/>
              </a:spcAft>
              <a:defRPr sz="1600">
                <a:solidFill>
                  <a:srgbClr val="1F2937"/>
                </a:solidFill>
              </a:defRPr>
            </a:pPr>
            <a:r>
              <a:t>Improved delivery speed and reliability.</a:t>
            </a:r>
          </a:p>
          <a:p>
            <a:pPr>
              <a:spcAft>
                <a:spcPts val="800"/>
              </a:spcAft>
              <a:defRPr sz="1600">
                <a:solidFill>
                  <a:srgbClr val="1F2937"/>
                </a:solidFill>
              </a:defRPr>
            </a:pPr>
            <a:r>
              <a:t>Enhanced customer experience through predictable delivery windows.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 diagram illustrating the AI system's input (e.g., order data, traffic, weather) and output (optimized routes, delivery schedules).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Sustainable Innovation: Compostable Packaging</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adoption of advanced compostable packaging technology.</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commitment to sustainability extends to our packaging. We are implementing advanced compostable packaging solutions that minimize environmental impact without compromising product integrity or customer experience. This aligns with consumer values and positions us as an environmentally responsible brand.</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Use of certified compostable and biodegradable materials.</a:t>
            </a:r>
          </a:p>
          <a:p>
            <a:pPr>
              <a:spcAft>
                <a:spcPts val="800"/>
              </a:spcAft>
              <a:defRPr sz="1600">
                <a:solidFill>
                  <a:srgbClr val="1F2937"/>
                </a:solidFill>
              </a:defRPr>
            </a:pPr>
            <a:r>
              <a:t>Reduced landfill waste and plastic pollution.</a:t>
            </a:r>
          </a:p>
          <a:p>
            <a:pPr>
              <a:spcAft>
                <a:spcPts val="800"/>
              </a:spcAft>
              <a:defRPr sz="1600">
                <a:solidFill>
                  <a:srgbClr val="1F2937"/>
                </a:solidFill>
              </a:defRPr>
            </a:pPr>
            <a:r>
              <a:t>Maintained product freshness and quality during transit.</a:t>
            </a:r>
          </a:p>
          <a:p>
            <a:pPr>
              <a:spcAft>
                <a:spcPts val="800"/>
              </a:spcAft>
              <a:defRPr sz="1600">
                <a:solidFill>
                  <a:srgbClr val="1F2937"/>
                </a:solidFill>
              </a:defRPr>
            </a:pPr>
            <a:r>
              <a:t>Positive brand perception and customer loyalty.</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visual representation of the lifecycle of the compostable packaging, from production to decomposition.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Addressing Risks and Maximizing Upside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proactively address potential risks and outline mitigation strategies.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acknowledge potential market risks, such as the need for more granular 2026 data and competitive analysis. Our strategy includes continuous market research, agile adaptation to competitive pressures, and rigorous tracking of key metrics like customer churn. We are committed to transparency and data-driven decision-making to mitigate these risks and capitalize on the significant upside.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Ongoing market research for precise growth projections.</a:t>
            </a:r>
          </a:p>
          <a:p>
            <a:pPr>
              <a:spcAft>
                <a:spcPts val="800"/>
              </a:spcAft>
              <a:defRPr sz="1600">
                <a:solidFill>
                  <a:srgbClr val="1F2937"/>
                </a:solidFill>
              </a:defRPr>
            </a:pPr>
            <a:r>
              <a:t>Continuous competitive landscape monitoring and strategic adjustments.</a:t>
            </a:r>
          </a:p>
          <a:p>
            <a:pPr>
              <a:spcAft>
                <a:spcPts val="800"/>
              </a:spcAft>
              <a:defRPr sz="1600">
                <a:solidFill>
                  <a:srgbClr val="1F2937"/>
                </a:solidFill>
              </a:defRPr>
            </a:pPr>
            <a:r>
              <a:t>Focus on minimizing customer churn through superior service.</a:t>
            </a:r>
          </a:p>
          <a:p>
            <a:pPr>
              <a:spcAft>
                <a:spcPts val="800"/>
              </a:spcAft>
              <a:defRPr sz="1600">
                <a:solidFill>
                  <a:srgbClr val="1F2937"/>
                </a:solidFill>
              </a:defRPr>
            </a:pPr>
            <a:r>
              <a:t>Data-driven ROI analysis for technology investments.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SWOT analysis (Strengths, Weaknesses, Opportunities, Threats) specifically for sustainable coffee subscriptions, with a focus on mitigating identified weaknesses and threats.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ORB-5a39225e, ORB-c4cdac58, ORB-7c90a897</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ORB-5a39225e, ORB-c4cdac58, ORB-7c90a897, ORB-6157208e, ORB-8fe2e183, ORB-52617b4c, ORB-8d84eee7, ORB-19f8a133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Invest in the Future of Coffee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summarize the investment opportunity and call to action.</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Sustainable coffee subscriptions represent a high-growth, stable, and differentiated market opportunity. Driven by loyal customers and powered by innovative technology, this sector offers compelling returns. We invite you to join us in shaping the future of coffee consumption and capitalizing on this significant market shift.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Strong market demand for sustainable and convenient coffee.</a:t>
            </a:r>
          </a:p>
          <a:p>
            <a:pPr>
              <a:spcAft>
                <a:spcPts val="800"/>
              </a:spcAft>
              <a:defRPr sz="1600">
                <a:solidFill>
                  <a:srgbClr val="1F2937"/>
                </a:solidFill>
              </a:defRPr>
            </a:pPr>
            <a:r>
              <a:t>Proven business model with loyalty-driven recurring revenue.</a:t>
            </a:r>
          </a:p>
          <a:p>
            <a:pPr>
              <a:spcAft>
                <a:spcPts val="800"/>
              </a:spcAft>
              <a:defRPr sz="1600">
                <a:solidFill>
                  <a:srgbClr val="1F2937"/>
                </a:solidFill>
              </a:defRPr>
            </a:pPr>
            <a:r>
              <a:t>Technological advantages in logistics and sustainability.</a:t>
            </a:r>
          </a:p>
          <a:p>
            <a:pPr>
              <a:spcAft>
                <a:spcPts val="800"/>
              </a:spcAft>
              <a:defRPr sz="1600">
                <a:solidFill>
                  <a:srgbClr val="1F2937"/>
                </a:solidFill>
              </a:defRPr>
            </a:pPr>
            <a:r>
              <a:t>Experienced team poised for growth and profitability.</a:t>
            </a:r>
          </a:p>
          <a:p>
            <a:pPr>
              <a:spcAft>
                <a:spcPts val="800"/>
              </a:spcAft>
              <a:defRPr sz="1600">
                <a:solidFill>
                  <a:srgbClr val="1F2937"/>
                </a:solidFill>
              </a:defRPr>
            </a:pPr>
            <a:r>
              <a:t>A clear path to significant ROI for investors.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visually appealing slide with a clear call to action, contact information, and a reinforcing image of premium, sustainable coffee.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