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800" b="1">
                <a:solidFill>
                  <a:srgbClr val="111827"/>
                </a:solidFill>
              </a:rPr>
              <a:t>The Solid-State Battery Horizon</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Introduce solid-state batteries (SSBs) and their transformative potential for the electric vehicle market.</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Solid-state batteries represent a paradigm shift in energy storage for electric vehicles. Moving beyond traditional liquid electrolytes, SSBs promise enhanced safety, higher energy density, and faster charging capabilities, positioning them as the next evolutionary leap in EV technology.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Introduction to Solid-State Battery (SSB) technology.</a:t>
            </a:r>
          </a:p>
          <a:p>
            <a:pPr>
              <a:spcAft>
                <a:spcPts val="800"/>
              </a:spcAft>
              <a:defRPr sz="1600">
                <a:solidFill>
                  <a:srgbClr val="1F2937"/>
                </a:solidFill>
              </a:defRPr>
            </a:pPr>
            <a:r>
              <a:t>Overview of potential benefits: safety, energy density, charging speed.</a:t>
            </a:r>
          </a:p>
          <a:p>
            <a:pPr>
              <a:spcAft>
                <a:spcPts val="800"/>
              </a:spcAft>
              <a:defRPr sz="1600">
                <a:solidFill>
                  <a:srgbClr val="1F2937"/>
                </a:solidFill>
              </a:defRPr>
            </a:pPr>
            <a:r>
              <a:t>Significance for the future of electric mobility.</a:t>
            </a:r>
          </a:p>
          <a:p>
            <a:pPr>
              <a:spcAft>
                <a:spcPts val="800"/>
              </a:spcAft>
              <a:defRPr sz="1600">
                <a:solidFill>
                  <a:srgbClr val="1F2937"/>
                </a:solidFill>
              </a:defRPr>
            </a:pPr>
            <a:r>
              <a:t>Setting the stage for commercialization timelines.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Title concept</a:t>
            </a:r>
          </a:p>
          <a:p>
            <a:pPr>
              <a:defRPr sz="1300">
                <a:solidFill>
                  <a:srgbClr val="334155"/>
                </a:solidFill>
              </a:defRPr>
            </a:pPr>
            <a:r>
              <a:t>A dynamic, abstract visual representing energy flow or a futuristic battery cell, with the deck title prominently displayed.</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Welcome everyone. Today, we're diving into a technology poised to redefine the EV landscape: Solid-State Batteries. This presentation will explore their imminent arrival and strategic implications.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1  |  Evidence: reasoned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SSB Opportunity: Why Now?</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Explain the key drivers and advantages that make SSBs a critical development for the EV market.</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push towards solid-state batteries is fueled by the relentless demand for safer, longer-range, and faster-charging EVs. SSBs offer a compelling solution to overcome the limitations of current lithium-ion technology, addressing consumer concerns and unlocking new performance benchmarks.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Addressing limitations of current Li-ion batteries (safety, energy density).</a:t>
            </a:r>
          </a:p>
          <a:p>
            <a:pPr>
              <a:spcAft>
                <a:spcPts val="800"/>
              </a:spcAft>
              <a:defRPr sz="1600">
                <a:solidFill>
                  <a:srgbClr val="1F2937"/>
                </a:solidFill>
              </a:defRPr>
            </a:pPr>
            <a:r>
              <a:t>Enhanced safety through non-flammable solid electrolytes.</a:t>
            </a:r>
          </a:p>
          <a:p>
            <a:pPr>
              <a:spcAft>
                <a:spcPts val="800"/>
              </a:spcAft>
              <a:defRPr sz="1600">
                <a:solidFill>
                  <a:srgbClr val="1F2937"/>
                </a:solidFill>
              </a:defRPr>
            </a:pPr>
            <a:r>
              <a:t>Potential for significantly higher energy density, enabling longer EV ranges.</a:t>
            </a:r>
          </a:p>
          <a:p>
            <a:pPr>
              <a:spcAft>
                <a:spcPts val="800"/>
              </a:spcAft>
              <a:defRPr sz="1600">
                <a:solidFill>
                  <a:srgbClr val="1F2937"/>
                </a:solidFill>
              </a:defRPr>
            </a:pPr>
            <a:r>
              <a:t>Faster charging capabilities to improve user experience.</a:t>
            </a:r>
          </a:p>
          <a:p>
            <a:pPr>
              <a:spcAft>
                <a:spcPts val="800"/>
              </a:spcAft>
              <a:defRPr sz="1600">
                <a:solidFill>
                  <a:srgbClr val="1F2937"/>
                </a:solidFill>
              </a:defRPr>
            </a:pPr>
            <a:r>
              <a:t>Market demand for superior EV performance and safety features.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Chart concept</a:t>
            </a:r>
          </a:p>
          <a:p>
            <a:pPr>
              <a:defRPr sz="1300">
                <a:solidFill>
                  <a:srgbClr val="334155"/>
                </a:solidFill>
              </a:defRPr>
            </a:pPr>
            <a:r>
              <a:t>A comparative chart visually highlighting the key performance advantages of SSBs (e.g., energy density, safety, charging speed) against current Li-ion technology.</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advantages of SSBs are not theoretical; they directly address the core challenges facing widespread EV adoption. This technological leap is essential for meeting evolving consumer expectations and regulatory demands.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2  |  Evidence: reasoned synthesis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Who's Leading the Charge? Key Players &amp; Timelines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Identify major automotive and battery manufacturers committed to SSB development and their projected timelines.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race to commercialize solid-state batteries is heating up, with industry giants like Toyota, BYD, LG, Samsung, and Panasonic making significant investments and commitments. These players are targeting initial deployments and demonstration vehicles within the 2026-2027 timeframe, signaling a tangible shift.</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Toyota's long-standing commitment and projected timelines.</a:t>
            </a:r>
          </a:p>
          <a:p>
            <a:pPr>
              <a:spcAft>
                <a:spcPts val="800"/>
              </a:spcAft>
              <a:defRPr sz="1600">
                <a:solidFill>
                  <a:srgbClr val="1F2937"/>
                </a:solidFill>
              </a:defRPr>
            </a:pPr>
            <a:r>
              <a:t>BYD's advancements in SSB technology.</a:t>
            </a:r>
          </a:p>
          <a:p>
            <a:pPr>
              <a:spcAft>
                <a:spcPts val="800"/>
              </a:spcAft>
              <a:defRPr sz="1600">
                <a:solidFill>
                  <a:srgbClr val="1F2937"/>
                </a:solidFill>
              </a:defRPr>
            </a:pPr>
            <a:r>
              <a:t>LG Energy Solution, Samsung SDI, and Panasonic's R&amp;D efforts.</a:t>
            </a:r>
          </a:p>
          <a:p>
            <a:pPr>
              <a:spcAft>
                <a:spcPts val="800"/>
              </a:spcAft>
              <a:defRPr sz="1600">
                <a:solidFill>
                  <a:srgbClr val="1F2937"/>
                </a:solidFill>
              </a:defRPr>
            </a:pPr>
            <a:r>
              <a:t>Other key automakers and battery producers involved.</a:t>
            </a:r>
          </a:p>
          <a:p>
            <a:pPr>
              <a:spcAft>
                <a:spcPts val="800"/>
              </a:spcAft>
              <a:defRPr sz="1600">
                <a:solidFill>
                  <a:srgbClr val="1F2937"/>
                </a:solidFill>
              </a:defRPr>
            </a:pPr>
            <a:r>
              <a:t>Focus on demonstration vehicles and initial production targets for 2026-2027.</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visual timeline showcasing key companies and their announced milestones or target years for SSB integration, with a fo</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landscape is dynamic, with significant R&amp;D and strategic partnerships driving progress. The commitments from these major players underscore the industry's belief in SSBs as the next generation of battery technology.</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3  |  Evidence: ORB-8d9023c5, ORB-9ce9241a, ORB-cb333aae, ORB-fade08f1, ORB-a436b14e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Road to Commercialization: 2026-2027 Launch Window</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Detail the anticipated timeline for the first commercial deployments of solid-state batteries in EVs.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critical window for initial SSB commercialization is set for 2026-2027. While mass adoption will take longer, this period will see the first wave of EVs featuring SSB technology, likely in niche or premium segments, serving as crucial real-world demonstrations of capability and reliability.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Confirmation of 2026-2027 as the target for initial commercial SSB launches.</a:t>
            </a:r>
          </a:p>
          <a:p>
            <a:pPr>
              <a:spcAft>
                <a:spcPts val="800"/>
              </a:spcAft>
              <a:defRPr sz="1600">
                <a:solidFill>
                  <a:srgbClr val="1F2937"/>
                </a:solidFill>
              </a:defRPr>
            </a:pPr>
            <a:r>
              <a:t>Anticipated market segments for early adoption (e.g., luxury EVs, specific performance vehicles).</a:t>
            </a:r>
          </a:p>
          <a:p>
            <a:pPr>
              <a:spcAft>
                <a:spcPts val="800"/>
              </a:spcAft>
              <a:defRPr sz="1600">
                <a:solidFill>
                  <a:srgbClr val="1F2937"/>
                </a:solidFill>
              </a:defRPr>
            </a:pPr>
            <a:r>
              <a:t>The role of demonstration vehicles in validating technology.</a:t>
            </a:r>
          </a:p>
          <a:p>
            <a:pPr>
              <a:spcAft>
                <a:spcPts val="800"/>
              </a:spcAft>
              <a:defRPr sz="1600">
                <a:solidFill>
                  <a:srgbClr val="1F2937"/>
                </a:solidFill>
              </a:defRPr>
            </a:pPr>
            <a:r>
              <a:t>Phased approach to market entry, moving from niche to broader applications.</a:t>
            </a:r>
          </a:p>
          <a:p>
            <a:pPr>
              <a:spcAft>
                <a:spcPts val="800"/>
              </a:spcAft>
              <a:defRPr sz="1600">
                <a:solidFill>
                  <a:srgbClr val="1F2937"/>
                </a:solidFill>
              </a:defRPr>
            </a:pPr>
            <a:r>
              <a:t>Industry-wide commitment to achieving these near-term milestones.</a:t>
            </a:r>
          </a:p>
        </p:txBody>
      </p:sp>
      <p:pic>
        <p:nvPicPr>
          <p:cNvPr id="8" name="Picture 7" descr="image.pn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focused timeline highlighting the 2026-2027 period, illustrating the transition from R&amp;D to initial market entry for S</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This near-term launch window is pivotal. It represents the industry's collective effort to move SSBs from the lab to the road, proving their viability and paving the way for future scaling.</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4  |  Evidence: ORB-8d9023c5, ORB-9ce9241a, ORB-cb333aae, ORB-fade08f1, ORB-a436b14e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Navigating the Hurdles: Manufacturing &amp; Cost Realities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Address the primary challenges related to manufacturing scalability and cost reduction for SSBs.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Despite the promise, significant hurdles remain before SSBs can achieve widespread adoption. The key challenges lie in scaling up manufacturing processes to meet automotive demands and reducing the current high cost premiums associated with SSB production. Overcoming these will be critical for competitive pricing and market penetration.</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The complexity of scaling SSB manufacturing processes.</a:t>
            </a:r>
          </a:p>
          <a:p>
            <a:pPr>
              <a:spcAft>
                <a:spcPts val="800"/>
              </a:spcAft>
              <a:defRPr sz="1600">
                <a:solidFill>
                  <a:srgbClr val="1F2937"/>
                </a:solidFill>
              </a:defRPr>
            </a:pPr>
            <a:r>
              <a:t>High production costs compared to established Li-ion technology.</a:t>
            </a:r>
          </a:p>
          <a:p>
            <a:pPr>
              <a:spcAft>
                <a:spcPts val="800"/>
              </a:spcAft>
              <a:defRPr sz="1600">
                <a:solidFill>
                  <a:srgbClr val="1F2937"/>
                </a:solidFill>
              </a:defRPr>
            </a:pPr>
            <a:r>
              <a:t>Challenges in material sourcing and supply chain development for solid electrolytes.</a:t>
            </a:r>
          </a:p>
          <a:p>
            <a:pPr>
              <a:spcAft>
                <a:spcPts val="800"/>
              </a:spcAft>
              <a:defRPr sz="1600">
                <a:solidFill>
                  <a:srgbClr val="1F2937"/>
                </a:solidFill>
              </a:defRPr>
            </a:pPr>
            <a:r>
              <a:t>Ensuring consistent quality and performance at mass production volumes.</a:t>
            </a:r>
          </a:p>
          <a:p>
            <a:pPr>
              <a:spcAft>
                <a:spcPts val="800"/>
              </a:spcAft>
              <a:defRPr sz="1600">
                <a:solidFill>
                  <a:srgbClr val="1F2937"/>
                </a:solidFill>
              </a:defRPr>
            </a:pPr>
            <a:r>
              <a:t>The need for significant investment in new manufacturing infrastructure.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Process concept</a:t>
            </a:r>
          </a:p>
          <a:p>
            <a:pPr>
              <a:defRPr sz="1300">
                <a:solidFill>
                  <a:srgbClr val="334155"/>
                </a:solidFill>
              </a:defRPr>
            </a:pPr>
            <a:r>
              <a:t>A flowchart or infographic illustrating the key stages and challenges in scaling SSB manufacturing, from material processing to mass production, highlighting cost as a major factor.</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It's crucial to maintain a pragmatic view. While the technology is exciting, the path to mass production is fraught with engineering and economic challenges that require substantial innovation and investment.</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Strategic Recommendations: Preparing for the SSB Transition</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Provide actionable insights for businesses to navigate the integration of SSB technology.</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To capitalize on the SSB opportunity and mitigate risks, strategic preparation is essential. This involves staying abreast of technological advancements, evaluating supply chain readiness, considering strategic partnerships, and planning for phased integration into product roadmaps. Proactive engagement will be key to securing a competitive edge.</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Monitor SSB technology advancements and industry commitments closely.</a:t>
            </a:r>
          </a:p>
          <a:p>
            <a:pPr>
              <a:spcAft>
                <a:spcPts val="800"/>
              </a:spcAft>
              <a:defRPr sz="1600">
                <a:solidFill>
                  <a:srgbClr val="1F2937"/>
                </a:solidFill>
              </a:defRPr>
            </a:pPr>
            <a:r>
              <a:t>Assess current supply chain capabilities and identify potential gaps for SSB materials.</a:t>
            </a:r>
          </a:p>
          <a:p>
            <a:pPr>
              <a:spcAft>
                <a:spcPts val="800"/>
              </a:spcAft>
              <a:defRPr sz="1600">
                <a:solidFill>
                  <a:srgbClr val="1F2937"/>
                </a:solidFill>
              </a:defRPr>
            </a:pPr>
            <a:r>
              <a:t>Explore strategic partnerships with SSB developers or manufacturers.</a:t>
            </a:r>
          </a:p>
          <a:p>
            <a:pPr>
              <a:spcAft>
                <a:spcPts val="800"/>
              </a:spcAft>
              <a:defRPr sz="1600">
                <a:solidFill>
                  <a:srgbClr val="1F2937"/>
                </a:solidFill>
              </a:defRPr>
            </a:pPr>
            <a:r>
              <a:t>Develop phased integration plans for SSB technology into future EV models.</a:t>
            </a:r>
          </a:p>
          <a:p>
            <a:pPr>
              <a:spcAft>
                <a:spcPts val="800"/>
              </a:spcAft>
              <a:defRPr sz="1600">
                <a:solidFill>
                  <a:srgbClr val="1F2937"/>
                </a:solidFill>
              </a:defRPr>
            </a:pPr>
            <a:r>
              <a:t>Invest in R&amp;D and talent development related to next-generation battery technologies.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Architecture concept</a:t>
            </a:r>
          </a:p>
          <a:p>
            <a:pPr>
              <a:defRPr sz="1300">
                <a:solidFill>
                  <a:srgbClr val="334155"/>
                </a:solidFill>
              </a:defRPr>
            </a:pPr>
            <a:r>
              <a:t>A strategic framework or roadmap visual showing key areas of focus for businesses preparing for SSB adoption, such as R&amp;D, supply chain, partnerships, and product strategy.</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The transition to SSBs is not just a technological shift; it's a strategic imperative. Companies that proactively plan and adapt will be best positioned to lead in the evolving EV market.</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Risks and Uncertainties in the SSB Landscape</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Highlight potential risks and uncertainties associated with SSB commercialization.</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While the outlook for SSBs is promising, several uncertainties warrant careful consideration. These include the precise timelines for widespread adoption beyond initial demonstrations, the potential for significant cost premiums impacting consumer affordability, and the ongoing competition from rapid advancements in conventional lithium-ion battery technology.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Uncertainty in exact commercialization timelines beyond initial demonstrations.</a:t>
            </a:r>
          </a:p>
          <a:p>
            <a:pPr>
              <a:spcAft>
                <a:spcPts val="800"/>
              </a:spcAft>
              <a:defRPr sz="1600">
                <a:solidFill>
                  <a:srgbClr val="1F2937"/>
                </a:solidFill>
              </a:defRPr>
            </a:pPr>
            <a:r>
              <a:t>Potential for significant cost premiums impacting consumer adoption.</a:t>
            </a:r>
          </a:p>
          <a:p>
            <a:pPr>
              <a:spcAft>
                <a:spcPts val="800"/>
              </a:spcAft>
              <a:defRPr sz="1600">
                <a:solidFill>
                  <a:srgbClr val="1F2937"/>
                </a:solidFill>
              </a:defRPr>
            </a:pPr>
            <a:r>
              <a:t>Scalability of manufacturing processes remains a key unknown.</a:t>
            </a:r>
          </a:p>
          <a:p>
            <a:pPr>
              <a:spcAft>
                <a:spcPts val="800"/>
              </a:spcAft>
              <a:defRPr sz="1600">
                <a:solidFill>
                  <a:srgbClr val="1F2937"/>
                </a:solidFill>
              </a:defRPr>
            </a:pPr>
            <a:r>
              <a:t>Competition from advancements in traditional lithium-ion battery technology.</a:t>
            </a:r>
          </a:p>
          <a:p>
            <a:pPr>
              <a:spcAft>
                <a:spcPts val="800"/>
              </a:spcAft>
              <a:defRPr sz="1600">
                <a:solidFill>
                  <a:srgbClr val="1F2937"/>
                </a:solidFill>
              </a:defRPr>
            </a:pPr>
            <a:r>
              <a:t>Geopolitical factors influencing raw material sourcing and supply chain stability.</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Comparison concept</a:t>
            </a:r>
          </a:p>
          <a:p>
            <a:pPr>
              <a:defRPr sz="1300">
                <a:solidFill>
                  <a:srgbClr val="334155"/>
                </a:solidFill>
              </a:defRPr>
            </a:pPr>
            <a:r>
              <a:t>A visual representation of key risks and uncertainties, perhaps using icons or a risk matrix, to illustrate potential challenges.</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A balanced perspective requires acknowledging the potential pitfalls. Understanding these risks allows for more robust strategic planning and risk mitigation.</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66534"/>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Future is Solid: Embracing the SSB Evolution</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66534"/>
                </a:solidFill>
              </a:rPr>
              <a:t>Conclude by summarizing the strategic importance of SSBs and the long-term outlook for their integration into the EV market.</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Solid-state batteries are set to become a cornerstone of future electric vehicles, offering unparalleled safety and performance. While challenges in manufacturing and cost persist, the industry is on a clear trajectory towards commercialization, beginning in 2026-2027. Strategic preparation and investment today will unlock significant value and competitive advantage in the coming era of electric mobility.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Recap of SSB's transformative potential for EVs.</a:t>
            </a:r>
          </a:p>
          <a:p>
            <a:pPr>
              <a:spcAft>
                <a:spcPts val="800"/>
              </a:spcAft>
              <a:defRPr sz="1600">
                <a:solidFill>
                  <a:srgbClr val="1F2937"/>
                </a:solidFill>
              </a:defRPr>
            </a:pPr>
            <a:r>
              <a:t>Reinforcement of the 2026-2027 commercialization window.</a:t>
            </a:r>
          </a:p>
          <a:p>
            <a:pPr>
              <a:spcAft>
                <a:spcPts val="800"/>
              </a:spcAft>
              <a:defRPr sz="1600">
                <a:solidFill>
                  <a:srgbClr val="1F2937"/>
                </a:solidFill>
              </a:defRPr>
            </a:pPr>
            <a:r>
              <a:t>Emphasis on the strategic imperative for market players.</a:t>
            </a:r>
          </a:p>
          <a:p>
            <a:pPr>
              <a:spcAft>
                <a:spcPts val="800"/>
              </a:spcAft>
              <a:defRPr sz="1600">
                <a:solidFill>
                  <a:srgbClr val="1F2937"/>
                </a:solidFill>
              </a:defRPr>
            </a:pPr>
            <a:r>
              <a:t>Long-term outlook for SSB dominance in the EV market.</a:t>
            </a:r>
          </a:p>
          <a:p>
            <a:pPr>
              <a:spcAft>
                <a:spcPts val="800"/>
              </a:spcAft>
              <a:defRPr sz="1600">
                <a:solidFill>
                  <a:srgbClr val="1F2937"/>
                </a:solidFill>
              </a:defRPr>
            </a:pPr>
            <a:r>
              <a:t>Call to action: Prepare for the solid-state future.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66534"/>
                </a:solidFill>
              </a:rPr>
              <a:t>Closing concept</a:t>
            </a:r>
          </a:p>
          <a:p>
            <a:pPr>
              <a:defRPr sz="1300">
                <a:solidFill>
                  <a:srgbClr val="334155"/>
                </a:solidFill>
              </a:defRPr>
            </a:pPr>
            <a:r>
              <a:t>An inspiring visual that encapsulates the future of EVs powered by advanced battery technology, with contact information or a call to action.</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66534"/>
                </a:solidFill>
              </a:rPr>
              <a:t>Speaker note</a:t>
            </a:r>
          </a:p>
          <a:p>
            <a:pPr>
              <a:defRPr sz="1050">
                <a:solidFill>
                  <a:srgbClr val="475569"/>
                </a:solidFill>
              </a:defRPr>
            </a:pPr>
            <a:r>
              <a:t>In conclusion, the solid-state battery revolution is not a question of 'if,' but 'when.' By understanding the timelines, challenges, and strategic imperatives, we can confidently navigate this exciting transition and shape the future of electric mobility.</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