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jp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C121C"/>
        </a:solidFill>
        <a:effectLst/>
      </p:bgPr>
    </p:bg>
    <p:spTree>
      <p:nvGrpSpPr>
        <p:cNvPr id="1" name=""/>
        <p:cNvGrpSpPr/>
        <p:nvPr/>
      </p:nvGrpSpPr>
      <p:grpSpPr/>
      <p:pic>
        <p:nvPicPr>
          <p:cNvPr id="2" name="Picture 1" descr="36219b0e-f117-43df-ad13-a544dde394eb.jpe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347472"/>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549640" y="502920"/>
            <a:ext cx="3017520" cy="3017520"/>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384048" y="438912"/>
            <a:ext cx="6583680" cy="54406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640080"/>
            <a:ext cx="5852160" cy="822960"/>
          </a:xfrm>
          <a:prstGeom prst="rect">
            <a:avLst/>
          </a:prstGeom>
          <a:noFill/>
        </p:spPr>
        <p:txBody>
          <a:bodyPr wrap="square">
            <a:spAutoFit/>
          </a:bodyPr>
          <a:lstStyle/>
          <a:p>
            <a:r>
              <a:rPr sz="2800" b="1">
                <a:solidFill>
                  <a:srgbClr val="0F172A"/>
                </a:solidFill>
              </a:rPr>
              <a:t>The Unstoppable Rise of Conscious Consumption</a:t>
            </a:r>
          </a:p>
        </p:txBody>
      </p:sp>
      <p:sp>
        <p:nvSpPr>
          <p:cNvPr id="8" name="TextBox 7"/>
          <p:cNvSpPr txBox="1"/>
          <p:nvPr/>
        </p:nvSpPr>
        <p:spPr>
          <a:xfrm>
            <a:off x="694944" y="1207008"/>
            <a:ext cx="5760720" cy="438912"/>
          </a:xfrm>
          <a:prstGeom prst="rect">
            <a:avLst/>
          </a:prstGeom>
          <a:noFill/>
        </p:spPr>
        <p:txBody>
          <a:bodyPr wrap="none">
            <a:spAutoFit/>
          </a:bodyPr>
          <a:lstStyle/>
          <a:p>
            <a:r>
              <a:rPr sz="1200" b="1">
                <a:solidFill>
                  <a:srgbClr val="166534"/>
                </a:solidFill>
              </a:rPr>
              <a:t>To establish the growing market demand for sustainable products and the resilience of subscription models.</a:t>
            </a:r>
          </a:p>
        </p:txBody>
      </p:sp>
      <p:sp>
        <p:nvSpPr>
          <p:cNvPr id="9" name="TextBox 8"/>
          <p:cNvSpPr txBox="1"/>
          <p:nvPr/>
        </p:nvSpPr>
        <p:spPr>
          <a:xfrm>
            <a:off x="731520" y="1664208"/>
            <a:ext cx="5532120" cy="1463040"/>
          </a:xfrm>
          <a:prstGeom prst="rect">
            <a:avLst/>
          </a:prstGeom>
          <a:noFill/>
        </p:spPr>
        <p:txBody>
          <a:bodyPr wrap="square">
            <a:normAutofit/>
          </a:bodyPr>
          <a:lstStyle/>
          <a:p>
            <a:r>
              <a:rPr sz="1400">
                <a:solidFill>
                  <a:srgbClr val="334155"/>
                </a:solidFill>
              </a:rPr>
              <a:t>Consumers are increasingly prioritizing sustainability in their purchasing decisions. Simultaneously, subscription models have proven their ability to provide consistent revenue streams, even in volatile economic conditions. This convergence presents a significant opportunity for businesses that align with these powerful trends.</a:t>
            </a:r>
          </a:p>
        </p:txBody>
      </p:sp>
      <p:sp>
        <p:nvSpPr>
          <p:cNvPr id="10" name="TextBox 9"/>
          <p:cNvSpPr txBox="1"/>
          <p:nvPr/>
        </p:nvSpPr>
        <p:spPr>
          <a:xfrm>
            <a:off x="786384" y="2944368"/>
            <a:ext cx="5440680" cy="2423160"/>
          </a:xfrm>
          <a:prstGeom prst="rect">
            <a:avLst/>
          </a:prstGeom>
          <a:noFill/>
        </p:spPr>
        <p:txBody>
          <a:bodyPr wrap="square">
            <a:normAutofit/>
          </a:bodyPr>
          <a:lstStyle/>
          <a:p>
            <a:pPr>
              <a:spcAft>
                <a:spcPts val="800"/>
              </a:spcAft>
              <a:defRPr sz="1600">
                <a:solidFill>
                  <a:srgbClr val="1F2937"/>
                </a:solidFill>
              </a:defRPr>
            </a:pPr>
            <a:r>
              <a:t>Growing consumer preference for ethically sourced and environmentally friendly products.</a:t>
            </a:r>
          </a:p>
          <a:p>
            <a:pPr>
              <a:spcAft>
                <a:spcPts val="800"/>
              </a:spcAft>
              <a:defRPr sz="1600">
                <a:solidFill>
                  <a:srgbClr val="1F2937"/>
                </a:solidFill>
              </a:defRPr>
            </a:pPr>
            <a:r>
              <a:t>Subscription services demonstrate remarkable resilience and predictability in revenue generation.</a:t>
            </a:r>
          </a:p>
          <a:p>
            <a:pPr>
              <a:spcAft>
                <a:spcPts val="800"/>
              </a:spcAft>
              <a:defRPr sz="1600">
                <a:solidFill>
                  <a:srgbClr val="1F2937"/>
                </a:solidFill>
              </a:defRPr>
            </a:pPr>
            <a:r>
              <a:t>The intersection of these trends creates a fertile ground for market expansion.</a:t>
            </a:r>
          </a:p>
          <a:p>
            <a:pPr>
              <a:spcAft>
                <a:spcPts val="800"/>
              </a:spcAft>
              <a:defRPr sz="1600">
                <a:solidFill>
                  <a:srgbClr val="1F2937"/>
                </a:solidFill>
              </a:defRPr>
            </a:pPr>
            <a:r>
              <a:t>Early movers can capture significant market share by meeting evolving consumer values.</a:t>
            </a:r>
          </a:p>
        </p:txBody>
      </p:sp>
      <p:pic>
        <p:nvPicPr>
          <p:cNvPr id="11" name="Picture 10" descr="image.jpg"/>
          <p:cNvPicPr>
            <a:picLocks noChangeAspect="1"/>
          </p:cNvPicPr>
          <p:nvPr/>
        </p:nvPicPr>
        <p:blipFill>
          <a:blip r:embed="rId3"/>
          <a:stretch>
            <a:fillRect/>
          </a:stretch>
        </p:blipFill>
        <p:spPr>
          <a:xfrm>
            <a:off x="7086600" y="1097280"/>
            <a:ext cx="4526280" cy="4526280"/>
          </a:xfrm>
          <a:prstGeom prst="rect">
            <a:avLst/>
          </a:prstGeom>
        </p:spPr>
      </p:pic>
      <p:sp>
        <p:nvSpPr>
          <p:cNvPr id="12" name="Rounded Rectangle 11"/>
          <p:cNvSpPr/>
          <p:nvPr/>
        </p:nvSpPr>
        <p:spPr>
          <a:xfrm>
            <a:off x="7360920" y="5230368"/>
            <a:ext cx="3977639" cy="384048"/>
          </a:xfrm>
          <a:prstGeom prst="roundRect">
            <a:avLst/>
          </a:prstGeom>
          <a:solidFill>
            <a:srgbClr val="FFFFFF"/>
          </a:solidFill>
          <a:ln>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a:solidFill>
                  <a:srgbClr val="1F2937"/>
                </a:solidFill>
              </a:rPr>
              <a:t>A timeline graphic showing the increasing consumer demand for sustainable products over the past decade, alongside the p</a:t>
            </a:r>
          </a:p>
        </p:txBody>
      </p:sp>
      <p:sp>
        <p:nvSpPr>
          <p:cNvPr id="13" name="TextBox 12"/>
          <p:cNvSpPr txBox="1"/>
          <p:nvPr/>
        </p:nvSpPr>
        <p:spPr>
          <a:xfrm>
            <a:off x="640080" y="6163056"/>
            <a:ext cx="10972800" cy="310896"/>
          </a:xfrm>
          <a:prstGeom prst="rect">
            <a:avLst/>
          </a:prstGeom>
          <a:noFill/>
        </p:spPr>
        <p:txBody>
          <a:bodyPr wrap="none">
            <a:spAutoFit/>
          </a:bodyPr>
          <a:lstStyle/>
          <a:p>
            <a:pPr algn="l"/>
            <a:r>
              <a:rPr sz="1000">
                <a:solidFill>
                  <a:srgbClr val="475569"/>
                </a:solidFill>
              </a:rPr>
              <a:t>Slide 1  |  Evidence: reasoned synthesis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C121C"/>
        </a:solidFill>
        <a:effectLst/>
      </p:bgPr>
    </p:bg>
    <p:spTree>
      <p:nvGrpSpPr>
        <p:cNvPr id="1" name=""/>
        <p:cNvGrpSpPr/>
        <p:nvPr/>
      </p:nvGrpSpPr>
      <p:grpSpPr/>
      <p:pic>
        <p:nvPicPr>
          <p:cNvPr id="2" name="Picture 1" descr="36219b0e-f117-43df-ad13-a544dde394eb.jpe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347472"/>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549640" y="502920"/>
            <a:ext cx="3017520" cy="3017520"/>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384048" y="438912"/>
            <a:ext cx="6583680" cy="54406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640080"/>
            <a:ext cx="5852160" cy="822960"/>
          </a:xfrm>
          <a:prstGeom prst="rect">
            <a:avLst/>
          </a:prstGeom>
          <a:noFill/>
        </p:spPr>
        <p:txBody>
          <a:bodyPr wrap="square">
            <a:spAutoFit/>
          </a:bodyPr>
          <a:lstStyle/>
          <a:p>
            <a:r>
              <a:rPr sz="2400" b="1">
                <a:solidFill>
                  <a:srgbClr val="0F172A"/>
                </a:solidFill>
              </a:rPr>
              <a:t>The Coffee Market: A Landscape of Opportunity</a:t>
            </a:r>
          </a:p>
        </p:txBody>
      </p:sp>
      <p:sp>
        <p:nvSpPr>
          <p:cNvPr id="8" name="TextBox 7"/>
          <p:cNvSpPr txBox="1"/>
          <p:nvPr/>
        </p:nvSpPr>
        <p:spPr>
          <a:xfrm>
            <a:off x="694944" y="1207008"/>
            <a:ext cx="5760720" cy="438912"/>
          </a:xfrm>
          <a:prstGeom prst="rect">
            <a:avLst/>
          </a:prstGeom>
          <a:noFill/>
        </p:spPr>
        <p:txBody>
          <a:bodyPr wrap="none">
            <a:spAutoFit/>
          </a:bodyPr>
          <a:lstStyle/>
          <a:p>
            <a:r>
              <a:rPr sz="1200" b="1">
                <a:solidFill>
                  <a:srgbClr val="166534"/>
                </a:solidFill>
              </a:rPr>
              <a:t>To provide context on the current state and potential of the coffee market for subscription services.</a:t>
            </a:r>
          </a:p>
        </p:txBody>
      </p:sp>
      <p:sp>
        <p:nvSpPr>
          <p:cNvPr id="9" name="TextBox 8"/>
          <p:cNvSpPr txBox="1"/>
          <p:nvPr/>
        </p:nvSpPr>
        <p:spPr>
          <a:xfrm>
            <a:off x="731520" y="1664208"/>
            <a:ext cx="5532120" cy="1463040"/>
          </a:xfrm>
          <a:prstGeom prst="rect">
            <a:avLst/>
          </a:prstGeom>
          <a:noFill/>
        </p:spPr>
        <p:txBody>
          <a:bodyPr wrap="square">
            <a:normAutofit/>
          </a:bodyPr>
          <a:lstStyle/>
          <a:p>
            <a:r>
              <a:rPr sz="1400">
                <a:solidFill>
                  <a:srgbClr val="334155"/>
                </a:solidFill>
              </a:rPr>
              <a:t>The global coffee market is vast and dynamic, with a growing segment dedicated to specialty and ethically sourced beans. Subscription models are uniquely positioned to tap into this market by offering convenience, discovery, and a direct connection between consumers and producers.</a:t>
            </a:r>
          </a:p>
        </p:txBody>
      </p:sp>
      <p:sp>
        <p:nvSpPr>
          <p:cNvPr id="10" name="TextBox 9"/>
          <p:cNvSpPr txBox="1"/>
          <p:nvPr/>
        </p:nvSpPr>
        <p:spPr>
          <a:xfrm>
            <a:off x="786384" y="2944368"/>
            <a:ext cx="5440680" cy="2423160"/>
          </a:xfrm>
          <a:prstGeom prst="rect">
            <a:avLst/>
          </a:prstGeom>
          <a:noFill/>
        </p:spPr>
        <p:txBody>
          <a:bodyPr wrap="square">
            <a:normAutofit/>
          </a:bodyPr>
          <a:lstStyle/>
          <a:p>
            <a:pPr>
              <a:spcAft>
                <a:spcPts val="800"/>
              </a:spcAft>
              <a:defRPr sz="1600">
                <a:solidFill>
                  <a:srgbClr val="1F2937"/>
                </a:solidFill>
              </a:defRPr>
            </a:pPr>
            <a:r>
              <a:t>The global coffee market represents a multi-billion dollar industry with consistent demand.</a:t>
            </a:r>
          </a:p>
          <a:p>
            <a:pPr>
              <a:spcAft>
                <a:spcPts val="800"/>
              </a:spcAft>
              <a:defRPr sz="1600">
                <a:solidFill>
                  <a:srgbClr val="1F2937"/>
                </a:solidFill>
              </a:defRPr>
            </a:pPr>
            <a:r>
              <a:t>Specialty and premium coffee segments are experiencing significant growth.</a:t>
            </a:r>
          </a:p>
          <a:p>
            <a:pPr>
              <a:spcAft>
                <a:spcPts val="800"/>
              </a:spcAft>
              <a:defRPr sz="1600">
                <a:solidFill>
                  <a:srgbClr val="1F2937"/>
                </a:solidFill>
              </a:defRPr>
            </a:pPr>
            <a:r>
              <a:t>Subscription services offer a scalable channel for reaching discerning coffee consumers.</a:t>
            </a:r>
          </a:p>
          <a:p>
            <a:pPr>
              <a:spcAft>
                <a:spcPts val="800"/>
              </a:spcAft>
              <a:defRPr sz="1600">
                <a:solidFill>
                  <a:srgbClr val="1F2937"/>
                </a:solidFill>
              </a:defRPr>
            </a:pPr>
            <a:r>
              <a:t>Opportunities exist to differentiate through unique sourcing and curated experiences.</a:t>
            </a:r>
          </a:p>
        </p:txBody>
      </p:sp>
      <p:pic>
        <p:nvPicPr>
          <p:cNvPr id="11" name="Picture 10" descr="image.jpg"/>
          <p:cNvPicPr>
            <a:picLocks noChangeAspect="1"/>
          </p:cNvPicPr>
          <p:nvPr/>
        </p:nvPicPr>
        <p:blipFill>
          <a:blip r:embed="rId3"/>
          <a:stretch>
            <a:fillRect/>
          </a:stretch>
        </p:blipFill>
        <p:spPr>
          <a:xfrm>
            <a:off x="7086600" y="1097280"/>
            <a:ext cx="4526280" cy="4526280"/>
          </a:xfrm>
          <a:prstGeom prst="rect">
            <a:avLst/>
          </a:prstGeom>
        </p:spPr>
      </p:pic>
      <p:sp>
        <p:nvSpPr>
          <p:cNvPr id="12" name="Rounded Rectangle 11"/>
          <p:cNvSpPr/>
          <p:nvPr/>
        </p:nvSpPr>
        <p:spPr>
          <a:xfrm>
            <a:off x="7360920" y="5230368"/>
            <a:ext cx="3977639" cy="384048"/>
          </a:xfrm>
          <a:prstGeom prst="roundRect">
            <a:avLst/>
          </a:prstGeom>
          <a:solidFill>
            <a:srgbClr val="FFFFFF"/>
          </a:solidFill>
          <a:ln>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a:solidFill>
                  <a:srgbClr val="1F2937"/>
                </a:solidFill>
              </a:rPr>
              <a:t>A bar chart illustrating the overall size of the coffee market, with a highlighted segment representing the specialty co</a:t>
            </a:r>
          </a:p>
        </p:txBody>
      </p:sp>
      <p:sp>
        <p:nvSpPr>
          <p:cNvPr id="13" name="TextBox 12"/>
          <p:cNvSpPr txBox="1"/>
          <p:nvPr/>
        </p:nvSpPr>
        <p:spPr>
          <a:xfrm>
            <a:off x="640080" y="6163056"/>
            <a:ext cx="10972800" cy="310896"/>
          </a:xfrm>
          <a:prstGeom prst="rect">
            <a:avLst/>
          </a:prstGeom>
          <a:noFill/>
        </p:spPr>
        <p:txBody>
          <a:bodyPr wrap="none">
            <a:spAutoFit/>
          </a:bodyPr>
          <a:lstStyle/>
          <a:p>
            <a:pPr algn="l"/>
            <a:r>
              <a:rPr sz="1000">
                <a:solidFill>
                  <a:srgbClr val="475569"/>
                </a:solidFill>
              </a:rPr>
              <a:t>Slide 2  |  Evidence: ORB-ff3c1d5c</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C121C"/>
        </a:solidFill>
        <a:effectLst/>
      </p:bgPr>
    </p:bg>
    <p:spTree>
      <p:nvGrpSpPr>
        <p:cNvPr id="1" name=""/>
        <p:cNvGrpSpPr/>
        <p:nvPr/>
      </p:nvGrpSpPr>
      <p:grpSpPr/>
      <p:pic>
        <p:nvPicPr>
          <p:cNvPr id="2" name="Picture 1" descr="36219b0e-f117-43df-ad13-a544dde394eb.jpe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347472"/>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549640" y="502920"/>
            <a:ext cx="3017520" cy="3017520"/>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384048" y="438912"/>
            <a:ext cx="6583680" cy="54406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640080"/>
            <a:ext cx="5852160" cy="822960"/>
          </a:xfrm>
          <a:prstGeom prst="rect">
            <a:avLst/>
          </a:prstGeom>
          <a:noFill/>
        </p:spPr>
        <p:txBody>
          <a:bodyPr wrap="square">
            <a:spAutoFit/>
          </a:bodyPr>
          <a:lstStyle/>
          <a:p>
            <a:r>
              <a:rPr sz="2400" b="1">
                <a:solidFill>
                  <a:srgbClr val="0F172A"/>
                </a:solidFill>
              </a:rPr>
              <a:t>Loyalty: The Engine of Recurring Revenue</a:t>
            </a:r>
          </a:p>
        </p:txBody>
      </p:sp>
      <p:sp>
        <p:nvSpPr>
          <p:cNvPr id="8" name="TextBox 7"/>
          <p:cNvSpPr txBox="1"/>
          <p:nvPr/>
        </p:nvSpPr>
        <p:spPr>
          <a:xfrm>
            <a:off x="694944" y="1207008"/>
            <a:ext cx="5760720" cy="438912"/>
          </a:xfrm>
          <a:prstGeom prst="rect">
            <a:avLst/>
          </a:prstGeom>
          <a:noFill/>
        </p:spPr>
        <p:txBody>
          <a:bodyPr wrap="none">
            <a:spAutoFit/>
          </a:bodyPr>
          <a:lstStyle/>
          <a:p>
            <a:r>
              <a:rPr sz="1200" b="1">
                <a:solidFill>
                  <a:srgbClr val="166534"/>
                </a:solidFill>
              </a:rPr>
              <a:t>To explain how customer loyalty is the primary driver of sustainable recurring revenue in subscription models.</a:t>
            </a:r>
          </a:p>
        </p:txBody>
      </p:sp>
      <p:sp>
        <p:nvSpPr>
          <p:cNvPr id="9" name="TextBox 8"/>
          <p:cNvSpPr txBox="1"/>
          <p:nvPr/>
        </p:nvSpPr>
        <p:spPr>
          <a:xfrm>
            <a:off x="731520" y="1664208"/>
            <a:ext cx="5532120" cy="1463040"/>
          </a:xfrm>
          <a:prstGeom prst="rect">
            <a:avLst/>
          </a:prstGeom>
          <a:noFill/>
        </p:spPr>
        <p:txBody>
          <a:bodyPr wrap="square">
            <a:normAutofit/>
          </a:bodyPr>
          <a:lstStyle/>
          <a:p>
            <a:r>
              <a:rPr sz="1400">
                <a:solidFill>
                  <a:srgbClr val="334155"/>
                </a:solidFill>
              </a:rPr>
              <a:t>At the heart of successful subscription businesses lies customer loyalty. Loyal customers not only continue their subscriptions but also become advocates, driving down acquisition costs and increasing lifetime value. This predictable revenue stream is the bedrock of long-term business stability and growth.</a:t>
            </a:r>
          </a:p>
        </p:txBody>
      </p:sp>
      <p:sp>
        <p:nvSpPr>
          <p:cNvPr id="10" name="TextBox 9"/>
          <p:cNvSpPr txBox="1"/>
          <p:nvPr/>
        </p:nvSpPr>
        <p:spPr>
          <a:xfrm>
            <a:off x="786384" y="2944368"/>
            <a:ext cx="5440680" cy="2423160"/>
          </a:xfrm>
          <a:prstGeom prst="rect">
            <a:avLst/>
          </a:prstGeom>
          <a:noFill/>
        </p:spPr>
        <p:txBody>
          <a:bodyPr wrap="square">
            <a:normAutofit/>
          </a:bodyPr>
          <a:lstStyle/>
          <a:p>
            <a:pPr>
              <a:spcAft>
                <a:spcPts val="800"/>
              </a:spcAft>
              <a:defRPr sz="1600">
                <a:solidFill>
                  <a:srgbClr val="1F2937"/>
                </a:solidFill>
              </a:defRPr>
            </a:pPr>
            <a:r>
              <a:t>Customer loyalty is the most critical factor for sustained recurring revenue.</a:t>
            </a:r>
          </a:p>
          <a:p>
            <a:pPr>
              <a:spcAft>
                <a:spcPts val="800"/>
              </a:spcAft>
              <a:defRPr sz="1600">
                <a:solidFill>
                  <a:srgbClr val="1F2937"/>
                </a:solidFill>
              </a:defRPr>
            </a:pPr>
            <a:r>
              <a:t>Loyal customers exhibit higher retention rates and increased purchase frequency.</a:t>
            </a:r>
          </a:p>
          <a:p>
            <a:pPr>
              <a:spcAft>
                <a:spcPts val="800"/>
              </a:spcAft>
              <a:defRPr sz="1600">
                <a:solidFill>
                  <a:srgbClr val="1F2937"/>
                </a:solidFill>
              </a:defRPr>
            </a:pPr>
            <a:r>
              <a:t>Building loyalty reduces the cost of customer acquisition and churn.</a:t>
            </a:r>
          </a:p>
          <a:p>
            <a:pPr>
              <a:spcAft>
                <a:spcPts val="800"/>
              </a:spcAft>
              <a:defRPr sz="1600">
                <a:solidFill>
                  <a:srgbClr val="1F2937"/>
                </a:solidFill>
              </a:defRPr>
            </a:pPr>
            <a:r>
              <a:t>A loyal customer base provides a predictable and stable revenue forecast.</a:t>
            </a:r>
          </a:p>
        </p:txBody>
      </p:sp>
      <p:pic>
        <p:nvPicPr>
          <p:cNvPr id="11" name="Picture 10" descr="image.jpg"/>
          <p:cNvPicPr>
            <a:picLocks noChangeAspect="1"/>
          </p:cNvPicPr>
          <p:nvPr/>
        </p:nvPicPr>
        <p:blipFill>
          <a:blip r:embed="rId3"/>
          <a:stretch>
            <a:fillRect/>
          </a:stretch>
        </p:blipFill>
        <p:spPr>
          <a:xfrm>
            <a:off x="7086600" y="1097280"/>
            <a:ext cx="4526280" cy="4526280"/>
          </a:xfrm>
          <a:prstGeom prst="rect">
            <a:avLst/>
          </a:prstGeom>
        </p:spPr>
      </p:pic>
      <p:sp>
        <p:nvSpPr>
          <p:cNvPr id="12" name="Rounded Rectangle 11"/>
          <p:cNvSpPr/>
          <p:nvPr/>
        </p:nvSpPr>
        <p:spPr>
          <a:xfrm>
            <a:off x="7360920" y="5230368"/>
            <a:ext cx="3977639" cy="384048"/>
          </a:xfrm>
          <a:prstGeom prst="roundRect">
            <a:avLst/>
          </a:prstGeom>
          <a:solidFill>
            <a:srgbClr val="FFFFFF"/>
          </a:solidFill>
          <a:ln>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a:solidFill>
                  <a:srgbClr val="1F2937"/>
                </a:solidFill>
              </a:rPr>
              <a:t>A flowchart illustrating the customer journey from initial subscription to loyal advocate, highlighting touchpoints that</a:t>
            </a:r>
          </a:p>
        </p:txBody>
      </p:sp>
      <p:sp>
        <p:nvSpPr>
          <p:cNvPr id="13" name="TextBox 12"/>
          <p:cNvSpPr txBox="1"/>
          <p:nvPr/>
        </p:nvSpPr>
        <p:spPr>
          <a:xfrm>
            <a:off x="640080" y="6163056"/>
            <a:ext cx="10972800" cy="310896"/>
          </a:xfrm>
          <a:prstGeom prst="rect">
            <a:avLst/>
          </a:prstGeom>
          <a:noFill/>
        </p:spPr>
        <p:txBody>
          <a:bodyPr wrap="none">
            <a:spAutoFit/>
          </a:bodyPr>
          <a:lstStyle/>
          <a:p>
            <a:pPr algn="l"/>
            <a:r>
              <a:rPr sz="1000">
                <a:solidFill>
                  <a:srgbClr val="475569"/>
                </a:solidFill>
              </a:rPr>
              <a:t>Slide 3  |  Evidence: ORB-15c2e7c7, ORB-975165ce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C121C"/>
        </a:solidFill>
        <a:effectLst/>
      </p:bgPr>
    </p:bg>
    <p:spTree>
      <p:nvGrpSpPr>
        <p:cNvPr id="1" name=""/>
        <p:cNvGrpSpPr/>
        <p:nvPr/>
      </p:nvGrpSpPr>
      <p:grpSpPr/>
      <p:pic>
        <p:nvPicPr>
          <p:cNvPr id="2" name="Picture 1" descr="36219b0e-f117-43df-ad13-a544dde394eb.jpe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347472"/>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549640" y="502920"/>
            <a:ext cx="3017520" cy="3017520"/>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384048" y="438912"/>
            <a:ext cx="6583680" cy="54406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640080"/>
            <a:ext cx="5852160" cy="822960"/>
          </a:xfrm>
          <a:prstGeom prst="rect">
            <a:avLst/>
          </a:prstGeom>
          <a:noFill/>
        </p:spPr>
        <p:txBody>
          <a:bodyPr wrap="square">
            <a:spAutoFit/>
          </a:bodyPr>
          <a:lstStyle/>
          <a:p>
            <a:r>
              <a:rPr sz="2400" b="1">
                <a:solidFill>
                  <a:srgbClr val="0F172A"/>
                </a:solidFill>
              </a:rPr>
              <a:t>Quantifying the ROI of Loyalty</a:t>
            </a:r>
          </a:p>
        </p:txBody>
      </p:sp>
      <p:sp>
        <p:nvSpPr>
          <p:cNvPr id="8" name="TextBox 7"/>
          <p:cNvSpPr txBox="1"/>
          <p:nvPr/>
        </p:nvSpPr>
        <p:spPr>
          <a:xfrm>
            <a:off x="694944" y="1207008"/>
            <a:ext cx="5760720" cy="438912"/>
          </a:xfrm>
          <a:prstGeom prst="rect">
            <a:avLst/>
          </a:prstGeom>
          <a:noFill/>
        </p:spPr>
        <p:txBody>
          <a:bodyPr wrap="none">
            <a:spAutoFit/>
          </a:bodyPr>
          <a:lstStyle/>
          <a:p>
            <a:r>
              <a:rPr sz="1200" b="1">
                <a:solidFill>
                  <a:srgbClr val="166534"/>
                </a:solidFill>
              </a:rPr>
              <a:t>To demonstrate the measurable financial benefits of investing in customer loyalty programs.</a:t>
            </a:r>
          </a:p>
        </p:txBody>
      </p:sp>
      <p:sp>
        <p:nvSpPr>
          <p:cNvPr id="9" name="TextBox 8"/>
          <p:cNvSpPr txBox="1"/>
          <p:nvPr/>
        </p:nvSpPr>
        <p:spPr>
          <a:xfrm>
            <a:off x="731520" y="1664208"/>
            <a:ext cx="5532120" cy="1463040"/>
          </a:xfrm>
          <a:prstGeom prst="rect">
            <a:avLst/>
          </a:prstGeom>
          <a:noFill/>
        </p:spPr>
        <p:txBody>
          <a:bodyPr wrap="square">
            <a:normAutofit/>
          </a:bodyPr>
          <a:lstStyle/>
          <a:p>
            <a:r>
              <a:rPr sz="1400">
                <a:solidFill>
                  <a:srgbClr val="334155"/>
                </a:solidFill>
              </a:rPr>
              <a:t>Investing in customer loyalty yields a significant return on investment. By fostering stronger customer relationships, businesses can achieve higher customer lifetime value, reduced churn, and increased profitability. These programs are not merely a cost center but a strategic growth driver.</a:t>
            </a:r>
          </a:p>
        </p:txBody>
      </p:sp>
      <p:sp>
        <p:nvSpPr>
          <p:cNvPr id="10" name="TextBox 9"/>
          <p:cNvSpPr txBox="1"/>
          <p:nvPr/>
        </p:nvSpPr>
        <p:spPr>
          <a:xfrm>
            <a:off x="786384" y="2944368"/>
            <a:ext cx="5440680" cy="2423160"/>
          </a:xfrm>
          <a:prstGeom prst="rect">
            <a:avLst/>
          </a:prstGeom>
          <a:noFill/>
        </p:spPr>
        <p:txBody>
          <a:bodyPr wrap="square">
            <a:normAutofit/>
          </a:bodyPr>
          <a:lstStyle/>
          <a:p>
            <a:pPr>
              <a:spcAft>
                <a:spcPts val="800"/>
              </a:spcAft>
              <a:defRPr sz="1600">
                <a:solidFill>
                  <a:srgbClr val="1F2937"/>
                </a:solidFill>
              </a:defRPr>
            </a:pPr>
            <a:r>
              <a:t>Loyalty programs demonstrably increase customer lifetime value (CLTV).</a:t>
            </a:r>
          </a:p>
          <a:p>
            <a:pPr>
              <a:spcAft>
                <a:spcPts val="800"/>
              </a:spcAft>
              <a:defRPr sz="1600">
                <a:solidFill>
                  <a:srgbClr val="1F2937"/>
                </a:solidFill>
              </a:defRPr>
            </a:pPr>
            <a:r>
              <a:t>Effective programs lead to a reduction in customer churn rates.</a:t>
            </a:r>
          </a:p>
          <a:p>
            <a:pPr>
              <a:spcAft>
                <a:spcPts val="800"/>
              </a:spcAft>
              <a:defRPr sz="1600">
                <a:solidFill>
                  <a:srgbClr val="1F2937"/>
                </a:solidFill>
              </a:defRPr>
            </a:pPr>
            <a:r>
              <a:t>The cost of retaining a customer is significantly lower than acquiring a new one.</a:t>
            </a:r>
          </a:p>
          <a:p>
            <a:pPr>
              <a:spcAft>
                <a:spcPts val="800"/>
              </a:spcAft>
              <a:defRPr sz="1600">
                <a:solidFill>
                  <a:srgbClr val="1F2937"/>
                </a:solidFill>
              </a:defRPr>
            </a:pPr>
            <a:r>
              <a:t>Quantifiable improvements in revenue and profitability are directly linked to loyalty initiatives.</a:t>
            </a:r>
          </a:p>
        </p:txBody>
      </p:sp>
      <p:pic>
        <p:nvPicPr>
          <p:cNvPr id="11" name="Picture 10" descr="image.jpg"/>
          <p:cNvPicPr>
            <a:picLocks noChangeAspect="1"/>
          </p:cNvPicPr>
          <p:nvPr/>
        </p:nvPicPr>
        <p:blipFill>
          <a:blip r:embed="rId3"/>
          <a:stretch>
            <a:fillRect/>
          </a:stretch>
        </p:blipFill>
        <p:spPr>
          <a:xfrm>
            <a:off x="7086600" y="1097280"/>
            <a:ext cx="4526280" cy="4526280"/>
          </a:xfrm>
          <a:prstGeom prst="rect">
            <a:avLst/>
          </a:prstGeom>
        </p:spPr>
      </p:pic>
      <p:sp>
        <p:nvSpPr>
          <p:cNvPr id="12" name="Rounded Rectangle 11"/>
          <p:cNvSpPr/>
          <p:nvPr/>
        </p:nvSpPr>
        <p:spPr>
          <a:xfrm>
            <a:off x="7360920" y="5230368"/>
            <a:ext cx="3977639" cy="384048"/>
          </a:xfrm>
          <a:prstGeom prst="roundRect">
            <a:avLst/>
          </a:prstGeom>
          <a:solidFill>
            <a:srgbClr val="FFFFFF"/>
          </a:solidFill>
          <a:ln>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a:solidFill>
                  <a:srgbClr val="1F2937"/>
                </a:solidFill>
              </a:rPr>
              <a:t>A comparative chart showing the difference in Customer Lifetime Value (CLTV) and churn rate between subscription busines</a:t>
            </a:r>
          </a:p>
        </p:txBody>
      </p:sp>
      <p:sp>
        <p:nvSpPr>
          <p:cNvPr id="13" name="TextBox 12"/>
          <p:cNvSpPr txBox="1"/>
          <p:nvPr/>
        </p:nvSpPr>
        <p:spPr>
          <a:xfrm>
            <a:off x="640080" y="6163056"/>
            <a:ext cx="10972800" cy="310896"/>
          </a:xfrm>
          <a:prstGeom prst="rect">
            <a:avLst/>
          </a:prstGeom>
          <a:noFill/>
        </p:spPr>
        <p:txBody>
          <a:bodyPr wrap="none">
            <a:spAutoFit/>
          </a:bodyPr>
          <a:lstStyle/>
          <a:p>
            <a:pPr algn="l"/>
            <a:r>
              <a:rPr sz="1000">
                <a:solidFill>
                  <a:srgbClr val="475569"/>
                </a:solidFill>
              </a:rPr>
              <a:t>Slide 4  |  Evidence: ORB-cee9d362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C121C"/>
        </a:solidFill>
        <a:effectLst/>
      </p:bgPr>
    </p:bg>
    <p:spTree>
      <p:nvGrpSpPr>
        <p:cNvPr id="1" name=""/>
        <p:cNvGrpSpPr/>
        <p:nvPr/>
      </p:nvGrpSpPr>
      <p:grpSpPr/>
      <p:pic>
        <p:nvPicPr>
          <p:cNvPr id="2" name="Picture 1" descr="36219b0e-f117-43df-ad13-a544dde394eb.jpe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347472"/>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549640" y="502920"/>
            <a:ext cx="3017520" cy="3017520"/>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384048" y="438912"/>
            <a:ext cx="6583680" cy="54406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640080"/>
            <a:ext cx="5852160" cy="822960"/>
          </a:xfrm>
          <a:prstGeom prst="rect">
            <a:avLst/>
          </a:prstGeom>
          <a:noFill/>
        </p:spPr>
        <p:txBody>
          <a:bodyPr wrap="square">
            <a:spAutoFit/>
          </a:bodyPr>
          <a:lstStyle/>
          <a:p>
            <a:r>
              <a:rPr sz="2400" b="1">
                <a:solidFill>
                  <a:srgbClr val="0F172A"/>
                </a:solidFill>
              </a:rPr>
              <a:t>Projected Growth: Sustainable Coffee Subscriptions in 2026</a:t>
            </a:r>
          </a:p>
        </p:txBody>
      </p:sp>
      <p:sp>
        <p:nvSpPr>
          <p:cNvPr id="8" name="TextBox 7"/>
          <p:cNvSpPr txBox="1"/>
          <p:nvPr/>
        </p:nvSpPr>
        <p:spPr>
          <a:xfrm>
            <a:off x="694944" y="1207008"/>
            <a:ext cx="5760720" cy="438912"/>
          </a:xfrm>
          <a:prstGeom prst="rect">
            <a:avLst/>
          </a:prstGeom>
          <a:noFill/>
        </p:spPr>
        <p:txBody>
          <a:bodyPr wrap="none">
            <a:spAutoFit/>
          </a:bodyPr>
          <a:lstStyle/>
          <a:p>
            <a:r>
              <a:rPr sz="1200" b="1">
                <a:solidFill>
                  <a:srgbClr val="166534"/>
                </a:solidFill>
              </a:rPr>
              <a:t>To present the projected market growth for sustainable coffee subscriptions in the coming year.</a:t>
            </a:r>
          </a:p>
        </p:txBody>
      </p:sp>
      <p:sp>
        <p:nvSpPr>
          <p:cNvPr id="9" name="TextBox 8"/>
          <p:cNvSpPr txBox="1"/>
          <p:nvPr/>
        </p:nvSpPr>
        <p:spPr>
          <a:xfrm>
            <a:off x="731520" y="1664208"/>
            <a:ext cx="5532120" cy="1463040"/>
          </a:xfrm>
          <a:prstGeom prst="rect">
            <a:avLst/>
          </a:prstGeom>
          <a:noFill/>
        </p:spPr>
        <p:txBody>
          <a:bodyPr wrap="square">
            <a:normAutofit/>
          </a:bodyPr>
          <a:lstStyle/>
          <a:p>
            <a:r>
              <a:rPr sz="1400">
                <a:solidFill>
                  <a:srgbClr val="334155"/>
                </a:solidFill>
              </a:rPr>
              <a:t>The market for sustainable coffee subscriptions is poised for substantial growth in 2026. Driven by increasing consumer demand for ethical products and the proven model of recurring revenue, this segment is expected to outpace the broader coffee market.</a:t>
            </a:r>
          </a:p>
        </p:txBody>
      </p:sp>
      <p:sp>
        <p:nvSpPr>
          <p:cNvPr id="10" name="TextBox 9"/>
          <p:cNvSpPr txBox="1"/>
          <p:nvPr/>
        </p:nvSpPr>
        <p:spPr>
          <a:xfrm>
            <a:off x="786384" y="2944368"/>
            <a:ext cx="5440680" cy="2423160"/>
          </a:xfrm>
          <a:prstGeom prst="rect">
            <a:avLst/>
          </a:prstGeom>
          <a:noFill/>
        </p:spPr>
        <p:txBody>
          <a:bodyPr wrap="square">
            <a:normAutofit/>
          </a:bodyPr>
          <a:lstStyle/>
          <a:p>
            <a:pPr>
              <a:spcAft>
                <a:spcPts val="800"/>
              </a:spcAft>
              <a:defRPr sz="1600">
                <a:solidFill>
                  <a:srgbClr val="1F2937"/>
                </a:solidFill>
              </a:defRPr>
            </a:pPr>
            <a:r>
              <a:t>Anticipated significant market expansion for sustainable coffee subscriptions in 2026.</a:t>
            </a:r>
          </a:p>
          <a:p>
            <a:pPr>
              <a:spcAft>
                <a:spcPts val="800"/>
              </a:spcAft>
              <a:defRPr sz="1600">
                <a:solidFill>
                  <a:srgbClr val="1F2937"/>
                </a:solidFill>
              </a:defRPr>
            </a:pPr>
            <a:r>
              <a:t>This growth is fueled by both consumer values and the inherent benefits of subscription models.</a:t>
            </a:r>
          </a:p>
          <a:p>
            <a:pPr>
              <a:spcAft>
                <a:spcPts val="800"/>
              </a:spcAft>
              <a:defRPr sz="1600">
                <a:solidFill>
                  <a:srgbClr val="1F2937"/>
                </a:solidFill>
              </a:defRPr>
            </a:pPr>
            <a:r>
              <a:t>Businesses focusing on sustainability and loyalty will be best positioned to capture this growth.</a:t>
            </a:r>
          </a:p>
          <a:p>
            <a:pPr>
              <a:spcAft>
                <a:spcPts val="800"/>
              </a:spcAft>
              <a:defRPr sz="1600">
                <a:solidFill>
                  <a:srgbClr val="1F2937"/>
                </a:solidFill>
              </a:defRPr>
            </a:pPr>
            <a:r>
              <a:t>The trend indicates a long-term shift towards conscious consumerism in the coffee sector.</a:t>
            </a:r>
          </a:p>
        </p:txBody>
      </p:sp>
      <p:pic>
        <p:nvPicPr>
          <p:cNvPr id="11" name="Picture 10" descr="image.jpg"/>
          <p:cNvPicPr>
            <a:picLocks noChangeAspect="1"/>
          </p:cNvPicPr>
          <p:nvPr/>
        </p:nvPicPr>
        <p:blipFill>
          <a:blip r:embed="rId3"/>
          <a:stretch>
            <a:fillRect/>
          </a:stretch>
        </p:blipFill>
        <p:spPr>
          <a:xfrm>
            <a:off x="7086600" y="1097280"/>
            <a:ext cx="4526280" cy="4526280"/>
          </a:xfrm>
          <a:prstGeom prst="rect">
            <a:avLst/>
          </a:prstGeom>
        </p:spPr>
      </p:pic>
      <p:sp>
        <p:nvSpPr>
          <p:cNvPr id="12" name="Rounded Rectangle 11"/>
          <p:cNvSpPr/>
          <p:nvPr/>
        </p:nvSpPr>
        <p:spPr>
          <a:xfrm>
            <a:off x="7360920" y="5230368"/>
            <a:ext cx="3977639" cy="384048"/>
          </a:xfrm>
          <a:prstGeom prst="roundRect">
            <a:avLst/>
          </a:prstGeom>
          <a:solidFill>
            <a:srgbClr val="FFFFFF"/>
          </a:solidFill>
          <a:ln>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a:solidFill>
                  <a:srgbClr val="1F2937"/>
                </a:solidFill>
              </a:rPr>
              <a:t>A line graph projecting the growth of the sustainable coffee subscription market for 2026, with a clear indication of th</a:t>
            </a:r>
          </a:p>
        </p:txBody>
      </p:sp>
      <p:sp>
        <p:nvSpPr>
          <p:cNvPr id="13" name="TextBox 12"/>
          <p:cNvSpPr txBox="1"/>
          <p:nvPr/>
        </p:nvSpPr>
        <p:spPr>
          <a:xfrm>
            <a:off x="640080" y="6163056"/>
            <a:ext cx="10972800" cy="310896"/>
          </a:xfrm>
          <a:prstGeom prst="rect">
            <a:avLst/>
          </a:prstGeom>
          <a:noFill/>
        </p:spPr>
        <p:txBody>
          <a:bodyPr wrap="none">
            <a:spAutoFit/>
          </a:bodyPr>
          <a:lstStyle/>
          <a:p>
            <a:pPr algn="l"/>
            <a:r>
              <a:rPr sz="1000">
                <a:solidFill>
                  <a:srgbClr val="475569"/>
                </a:solidFill>
              </a:rPr>
              <a:t>Slide 5  |  Evidence: ORB-872f7835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C121C"/>
        </a:solidFill>
        <a:effectLst/>
      </p:bgPr>
    </p:bg>
    <p:spTree>
      <p:nvGrpSpPr>
        <p:cNvPr id="1" name=""/>
        <p:cNvGrpSpPr/>
        <p:nvPr/>
      </p:nvGrpSpPr>
      <p:grpSpPr/>
      <p:pic>
        <p:nvPicPr>
          <p:cNvPr id="2" name="Picture 1" descr="36219b0e-f117-43df-ad13-a544dde394eb.jpe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347472"/>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549640" y="502920"/>
            <a:ext cx="3017520" cy="3017520"/>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384048" y="438912"/>
            <a:ext cx="6583680" cy="54406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640080"/>
            <a:ext cx="5852160" cy="822960"/>
          </a:xfrm>
          <a:prstGeom prst="rect">
            <a:avLst/>
          </a:prstGeom>
          <a:noFill/>
        </p:spPr>
        <p:txBody>
          <a:bodyPr wrap="square">
            <a:spAutoFit/>
          </a:bodyPr>
          <a:lstStyle/>
          <a:p>
            <a:r>
              <a:rPr sz="2400" b="1">
                <a:solidFill>
                  <a:srgbClr val="0F172A"/>
                </a:solidFill>
              </a:rPr>
              <a:t>Navigating the Tradeoffs: Costs and Supply</a:t>
            </a:r>
          </a:p>
        </p:txBody>
      </p:sp>
      <p:sp>
        <p:nvSpPr>
          <p:cNvPr id="8" name="TextBox 7"/>
          <p:cNvSpPr txBox="1"/>
          <p:nvPr/>
        </p:nvSpPr>
        <p:spPr>
          <a:xfrm>
            <a:off x="694944" y="1207008"/>
            <a:ext cx="5760720" cy="438912"/>
          </a:xfrm>
          <a:prstGeom prst="rect">
            <a:avLst/>
          </a:prstGeom>
          <a:noFill/>
        </p:spPr>
        <p:txBody>
          <a:bodyPr wrap="none">
            <a:spAutoFit/>
          </a:bodyPr>
          <a:lstStyle/>
          <a:p>
            <a:r>
              <a:rPr sz="1200" b="1">
                <a:solidFill>
                  <a:srgbClr val="166534"/>
                </a:solidFill>
              </a:rPr>
              <a:t>To address the potential challenges related to costs and supply chain management in sustainable coffee subscriptions.</a:t>
            </a:r>
          </a:p>
        </p:txBody>
      </p:sp>
      <p:sp>
        <p:nvSpPr>
          <p:cNvPr id="9" name="TextBox 8"/>
          <p:cNvSpPr txBox="1"/>
          <p:nvPr/>
        </p:nvSpPr>
        <p:spPr>
          <a:xfrm>
            <a:off x="731520" y="1664208"/>
            <a:ext cx="5532120" cy="1463040"/>
          </a:xfrm>
          <a:prstGeom prst="rect">
            <a:avLst/>
          </a:prstGeom>
          <a:noFill/>
        </p:spPr>
        <p:txBody>
          <a:bodyPr wrap="square">
            <a:normAutofit/>
          </a:bodyPr>
          <a:lstStyle/>
          <a:p>
            <a:r>
              <a:rPr sz="1400">
                <a:solidFill>
                  <a:srgbClr val="334155"/>
                </a:solidFill>
              </a:rPr>
              <a:t>While the business value is clear, sustainable coffee subscriptions do present specific challenges. Higher sourcing costs for ethical beans and potential supply chain complexities require strategic management. However, these are manageable risks that can be mitigated through careful planning and strong supplier relationships.</a:t>
            </a:r>
          </a:p>
        </p:txBody>
      </p:sp>
      <p:sp>
        <p:nvSpPr>
          <p:cNvPr id="10" name="TextBox 9"/>
          <p:cNvSpPr txBox="1"/>
          <p:nvPr/>
        </p:nvSpPr>
        <p:spPr>
          <a:xfrm>
            <a:off x="786384" y="2944368"/>
            <a:ext cx="5440680" cy="2423160"/>
          </a:xfrm>
          <a:prstGeom prst="rect">
            <a:avLst/>
          </a:prstGeom>
          <a:noFill/>
        </p:spPr>
        <p:txBody>
          <a:bodyPr wrap="square">
            <a:normAutofit/>
          </a:bodyPr>
          <a:lstStyle/>
          <a:p>
            <a:pPr>
              <a:spcAft>
                <a:spcPts val="800"/>
              </a:spcAft>
              <a:defRPr sz="1600">
                <a:solidFill>
                  <a:srgbClr val="1F2937"/>
                </a:solidFill>
              </a:defRPr>
            </a:pPr>
            <a:r>
              <a:t>Sustainable sourcing often involves higher initial costs for raw materials.</a:t>
            </a:r>
          </a:p>
          <a:p>
            <a:pPr>
              <a:spcAft>
                <a:spcPts val="800"/>
              </a:spcAft>
              <a:defRPr sz="1600">
                <a:solidFill>
                  <a:srgbClr val="1F2937"/>
                </a:solidFill>
              </a:defRPr>
            </a:pPr>
            <a:r>
              <a:t>Supply chain transparency and ethical practices require diligent oversight.</a:t>
            </a:r>
          </a:p>
          <a:p>
            <a:pPr>
              <a:spcAft>
                <a:spcPts val="800"/>
              </a:spcAft>
              <a:defRPr sz="1600">
                <a:solidFill>
                  <a:srgbClr val="1F2937"/>
                </a:solidFill>
              </a:defRPr>
            </a:pPr>
            <a:r>
              <a:t>Building strong, long-term relationships with suppliers is crucial.</a:t>
            </a:r>
          </a:p>
          <a:p>
            <a:pPr>
              <a:spcAft>
                <a:spcPts val="800"/>
              </a:spcAft>
              <a:defRPr sz="1600">
                <a:solidFill>
                  <a:srgbClr val="1F2937"/>
                </a:solidFill>
              </a:defRPr>
            </a:pPr>
            <a:r>
              <a:t>Strategic sourcing and inventory management can mitigate cost fluctuations.</a:t>
            </a:r>
          </a:p>
        </p:txBody>
      </p:sp>
      <p:pic>
        <p:nvPicPr>
          <p:cNvPr id="11" name="Picture 10" descr="image.jpg"/>
          <p:cNvPicPr>
            <a:picLocks noChangeAspect="1"/>
          </p:cNvPicPr>
          <p:nvPr/>
        </p:nvPicPr>
        <p:blipFill>
          <a:blip r:embed="rId3"/>
          <a:stretch>
            <a:fillRect/>
          </a:stretch>
        </p:blipFill>
        <p:spPr>
          <a:xfrm>
            <a:off x="7086600" y="1097280"/>
            <a:ext cx="4526280" cy="4526280"/>
          </a:xfrm>
          <a:prstGeom prst="rect">
            <a:avLst/>
          </a:prstGeom>
        </p:spPr>
      </p:pic>
      <p:sp>
        <p:nvSpPr>
          <p:cNvPr id="12" name="Rounded Rectangle 11"/>
          <p:cNvSpPr/>
          <p:nvPr/>
        </p:nvSpPr>
        <p:spPr>
          <a:xfrm>
            <a:off x="7360920" y="5230368"/>
            <a:ext cx="3977639" cy="384048"/>
          </a:xfrm>
          <a:prstGeom prst="roundRect">
            <a:avLst/>
          </a:prstGeom>
          <a:solidFill>
            <a:srgbClr val="FFFFFF"/>
          </a:solidFill>
          <a:ln>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a:solidFill>
                  <a:srgbClr val="1F2937"/>
                </a:solidFill>
              </a:rPr>
              <a:t>A two-column comparison: 'Challenges' (e.g., Higher Sourcing Costs, Supply Chain Complexity) and 'Mitigation Strategies'</a:t>
            </a:r>
          </a:p>
        </p:txBody>
      </p:sp>
      <p:sp>
        <p:nvSpPr>
          <p:cNvPr id="13" name="TextBox 12"/>
          <p:cNvSpPr txBox="1"/>
          <p:nvPr/>
        </p:nvSpPr>
        <p:spPr>
          <a:xfrm>
            <a:off x="640080" y="6163056"/>
            <a:ext cx="10972800" cy="310896"/>
          </a:xfrm>
          <a:prstGeom prst="rect">
            <a:avLst/>
          </a:prstGeom>
          <a:noFill/>
        </p:spPr>
        <p:txBody>
          <a:bodyPr wrap="none">
            <a:spAutoFit/>
          </a:bodyPr>
          <a:lstStyle/>
          <a:p>
            <a:pPr algn="l"/>
            <a:r>
              <a:rPr sz="1000">
                <a:solidFill>
                  <a:srgbClr val="475569"/>
                </a:solidFill>
              </a:rPr>
              <a:t>Slide 6  |  Evidence: reasoned synthesis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C121C"/>
        </a:solidFill>
        <a:effectLst/>
      </p:bgPr>
    </p:bg>
    <p:spTree>
      <p:nvGrpSpPr>
        <p:cNvPr id="1" name=""/>
        <p:cNvGrpSpPr/>
        <p:nvPr/>
      </p:nvGrpSpPr>
      <p:grpSpPr/>
      <p:pic>
        <p:nvPicPr>
          <p:cNvPr id="2" name="Picture 1" descr="36219b0e-f117-43df-ad13-a544dde394eb.jpe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347472"/>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549640" y="502920"/>
            <a:ext cx="3017520" cy="3017520"/>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384048" y="438912"/>
            <a:ext cx="6583680" cy="54406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640080"/>
            <a:ext cx="5852160" cy="822960"/>
          </a:xfrm>
          <a:prstGeom prst="rect">
            <a:avLst/>
          </a:prstGeom>
          <a:noFill/>
        </p:spPr>
        <p:txBody>
          <a:bodyPr wrap="square">
            <a:spAutoFit/>
          </a:bodyPr>
          <a:lstStyle/>
          <a:p>
            <a:r>
              <a:rPr sz="2400" b="1">
                <a:solidFill>
                  <a:srgbClr val="0F172A"/>
                </a:solidFill>
              </a:rPr>
              <a:t>Retention Strategies for Sustained Growth</a:t>
            </a:r>
          </a:p>
        </p:txBody>
      </p:sp>
      <p:sp>
        <p:nvSpPr>
          <p:cNvPr id="8" name="TextBox 7"/>
          <p:cNvSpPr txBox="1"/>
          <p:nvPr/>
        </p:nvSpPr>
        <p:spPr>
          <a:xfrm>
            <a:off x="694944" y="1207008"/>
            <a:ext cx="5760720" cy="438912"/>
          </a:xfrm>
          <a:prstGeom prst="rect">
            <a:avLst/>
          </a:prstGeom>
          <a:noFill/>
        </p:spPr>
        <p:txBody>
          <a:bodyPr wrap="none">
            <a:spAutoFit/>
          </a:bodyPr>
          <a:lstStyle/>
          <a:p>
            <a:r>
              <a:rPr sz="1200" b="1">
                <a:solidFill>
                  <a:srgbClr val="166534"/>
                </a:solidFill>
              </a:rPr>
              <a:t>To outline key strategies for retaining customers and ensuring long-term subscription success.</a:t>
            </a:r>
          </a:p>
        </p:txBody>
      </p:sp>
      <p:sp>
        <p:nvSpPr>
          <p:cNvPr id="9" name="TextBox 8"/>
          <p:cNvSpPr txBox="1"/>
          <p:nvPr/>
        </p:nvSpPr>
        <p:spPr>
          <a:xfrm>
            <a:off x="731520" y="1664208"/>
            <a:ext cx="5532120" cy="1463040"/>
          </a:xfrm>
          <a:prstGeom prst="rect">
            <a:avLst/>
          </a:prstGeom>
          <a:noFill/>
        </p:spPr>
        <p:txBody>
          <a:bodyPr wrap="square">
            <a:normAutofit/>
          </a:bodyPr>
          <a:lstStyle/>
          <a:p>
            <a:r>
              <a:rPr sz="1400">
                <a:solidFill>
                  <a:srgbClr val="334155"/>
                </a:solidFill>
              </a:rPr>
              <a:t>Customer retention is paramount for maximizing the benefits of recurring revenue. Beyond product quality, businesses must focus on delivering exceptional customer experiences, personalized offerings, and community building to foster lasting loyalty and minimize churn.</a:t>
            </a:r>
          </a:p>
        </p:txBody>
      </p:sp>
      <p:sp>
        <p:nvSpPr>
          <p:cNvPr id="10" name="TextBox 9"/>
          <p:cNvSpPr txBox="1"/>
          <p:nvPr/>
        </p:nvSpPr>
        <p:spPr>
          <a:xfrm>
            <a:off x="786384" y="2944368"/>
            <a:ext cx="5440680" cy="2423160"/>
          </a:xfrm>
          <a:prstGeom prst="rect">
            <a:avLst/>
          </a:prstGeom>
          <a:noFill/>
        </p:spPr>
        <p:txBody>
          <a:bodyPr wrap="square">
            <a:normAutofit/>
          </a:bodyPr>
          <a:lstStyle/>
          <a:p>
            <a:pPr>
              <a:spcAft>
                <a:spcPts val="800"/>
              </a:spcAft>
              <a:defRPr sz="1600">
                <a:solidFill>
                  <a:srgbClr val="1F2937"/>
                </a:solidFill>
              </a:defRPr>
            </a:pPr>
            <a:r>
              <a:t>Personalization of coffee selections based on customer preferences.</a:t>
            </a:r>
          </a:p>
          <a:p>
            <a:pPr>
              <a:spcAft>
                <a:spcPts val="800"/>
              </a:spcAft>
              <a:defRPr sz="1600">
                <a:solidFill>
                  <a:srgbClr val="1F2937"/>
                </a:solidFill>
              </a:defRPr>
            </a:pPr>
            <a:r>
              <a:t>Exclusive content or early access to new blends for subscribers.</a:t>
            </a:r>
          </a:p>
          <a:p>
            <a:pPr>
              <a:spcAft>
                <a:spcPts val="800"/>
              </a:spcAft>
              <a:defRPr sz="1600">
                <a:solidFill>
                  <a:srgbClr val="1F2937"/>
                </a:solidFill>
              </a:defRPr>
            </a:pPr>
            <a:r>
              <a:t>Responsive and proactive customer support.</a:t>
            </a:r>
          </a:p>
          <a:p>
            <a:pPr>
              <a:spcAft>
                <a:spcPts val="800"/>
              </a:spcAft>
              <a:defRPr sz="1600">
                <a:solidFill>
                  <a:srgbClr val="1F2937"/>
                </a:solidFill>
              </a:defRPr>
            </a:pPr>
            <a:r>
              <a:t>Building a community around the brand and shared values.</a:t>
            </a:r>
          </a:p>
          <a:p>
            <a:pPr>
              <a:spcAft>
                <a:spcPts val="800"/>
              </a:spcAft>
              <a:defRPr sz="1600">
                <a:solidFill>
                  <a:srgbClr val="1F2937"/>
                </a:solidFill>
              </a:defRPr>
            </a:pPr>
            <a:r>
              <a:t>Regularly soliciting and acting on customer feedback.</a:t>
            </a:r>
          </a:p>
        </p:txBody>
      </p:sp>
      <p:pic>
        <p:nvPicPr>
          <p:cNvPr id="11" name="Picture 10" descr="image.jpg"/>
          <p:cNvPicPr>
            <a:picLocks noChangeAspect="1"/>
          </p:cNvPicPr>
          <p:nvPr/>
        </p:nvPicPr>
        <p:blipFill>
          <a:blip r:embed="rId3"/>
          <a:stretch>
            <a:fillRect/>
          </a:stretch>
        </p:blipFill>
        <p:spPr>
          <a:xfrm>
            <a:off x="7086600" y="1097280"/>
            <a:ext cx="4526280" cy="4526280"/>
          </a:xfrm>
          <a:prstGeom prst="rect">
            <a:avLst/>
          </a:prstGeom>
        </p:spPr>
      </p:pic>
      <p:sp>
        <p:nvSpPr>
          <p:cNvPr id="12" name="Rounded Rectangle 11"/>
          <p:cNvSpPr/>
          <p:nvPr/>
        </p:nvSpPr>
        <p:spPr>
          <a:xfrm>
            <a:off x="7360920" y="5230368"/>
            <a:ext cx="3977639" cy="384048"/>
          </a:xfrm>
          <a:prstGeom prst="roundRect">
            <a:avLst/>
          </a:prstGeom>
          <a:solidFill>
            <a:srgbClr val="FFFFFF"/>
          </a:solidFill>
          <a:ln>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a:solidFill>
                  <a:srgbClr val="1F2937"/>
                </a:solidFill>
              </a:rPr>
              <a:t>A circular process diagram illustrating key retention strategies: Personalization -&gt; Engagement -&gt; Community -&gt; Feedback</a:t>
            </a:r>
          </a:p>
        </p:txBody>
      </p:sp>
      <p:sp>
        <p:nvSpPr>
          <p:cNvPr id="13" name="TextBox 12"/>
          <p:cNvSpPr txBox="1"/>
          <p:nvPr/>
        </p:nvSpPr>
        <p:spPr>
          <a:xfrm>
            <a:off x="640080" y="6163056"/>
            <a:ext cx="10972800" cy="310896"/>
          </a:xfrm>
          <a:prstGeom prst="rect">
            <a:avLst/>
          </a:prstGeom>
          <a:noFill/>
        </p:spPr>
        <p:txBody>
          <a:bodyPr wrap="none">
            <a:spAutoFit/>
          </a:bodyPr>
          <a:lstStyle/>
          <a:p>
            <a:pPr algn="l"/>
            <a:r>
              <a:rPr sz="1000">
                <a:solidFill>
                  <a:srgbClr val="475569"/>
                </a:solidFill>
              </a:rPr>
              <a:t>Slide 7  |  Evidence: ORB-15c2e7c7, ORB-975165ce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C121C"/>
        </a:solidFill>
        <a:effectLst/>
      </p:bgPr>
    </p:bg>
    <p:spTree>
      <p:nvGrpSpPr>
        <p:cNvPr id="1" name=""/>
        <p:cNvGrpSpPr/>
        <p:nvPr/>
      </p:nvGrpSpPr>
      <p:grpSpPr/>
      <p:pic>
        <p:nvPicPr>
          <p:cNvPr id="2" name="Picture 1" descr="36219b0e-f117-43df-ad13-a544dde394eb.jpe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347472"/>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549640" y="502920"/>
            <a:ext cx="3017520" cy="3017520"/>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384048" y="438912"/>
            <a:ext cx="6583680" cy="54406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640080"/>
            <a:ext cx="5852160" cy="822960"/>
          </a:xfrm>
          <a:prstGeom prst="rect">
            <a:avLst/>
          </a:prstGeom>
          <a:noFill/>
        </p:spPr>
        <p:txBody>
          <a:bodyPr wrap="square">
            <a:spAutoFit/>
          </a:bodyPr>
          <a:lstStyle/>
          <a:p>
            <a:r>
              <a:rPr sz="2400" b="1">
                <a:solidFill>
                  <a:srgbClr val="0F172A"/>
                </a:solidFill>
              </a:rPr>
              <a:t>The Strategic Imperative: Embrace Loyalty-Driven Growth</a:t>
            </a:r>
          </a:p>
        </p:txBody>
      </p:sp>
      <p:sp>
        <p:nvSpPr>
          <p:cNvPr id="8" name="TextBox 7"/>
          <p:cNvSpPr txBox="1"/>
          <p:nvPr/>
        </p:nvSpPr>
        <p:spPr>
          <a:xfrm>
            <a:off x="694944" y="1207008"/>
            <a:ext cx="5760720" cy="438912"/>
          </a:xfrm>
          <a:prstGeom prst="rect">
            <a:avLst/>
          </a:prstGeom>
          <a:noFill/>
        </p:spPr>
        <p:txBody>
          <a:bodyPr wrap="none">
            <a:spAutoFit/>
          </a:bodyPr>
          <a:lstStyle/>
          <a:p>
            <a:r>
              <a:rPr sz="1200" b="1">
                <a:solidFill>
                  <a:srgbClr val="166534"/>
                </a:solidFill>
              </a:rPr>
              <a:t>To conclude by reinforcing the strategic advantage and business value of sustainable coffee subscriptions.</a:t>
            </a:r>
          </a:p>
        </p:txBody>
      </p:sp>
      <p:sp>
        <p:nvSpPr>
          <p:cNvPr id="9" name="TextBox 8"/>
          <p:cNvSpPr txBox="1"/>
          <p:nvPr/>
        </p:nvSpPr>
        <p:spPr>
          <a:xfrm>
            <a:off x="731520" y="1664208"/>
            <a:ext cx="5532120" cy="1463040"/>
          </a:xfrm>
          <a:prstGeom prst="rect">
            <a:avLst/>
          </a:prstGeom>
          <a:noFill/>
        </p:spPr>
        <p:txBody>
          <a:bodyPr wrap="square">
            <a:normAutofit/>
          </a:bodyPr>
          <a:lstStyle/>
          <a:p>
            <a:r>
              <a:rPr sz="1400">
                <a:solidFill>
                  <a:srgbClr val="334155"/>
                </a:solidFill>
              </a:rPr>
              <a:t>The convergence of conscious consumerism and resilient subscription models presents a compelling opportunity. By prioritizing loyalty-driven recurring revenue, businesses can build sustainable, profitable enterprises that resonate with modern consumers and offer significant long-term value.</a:t>
            </a:r>
          </a:p>
        </p:txBody>
      </p:sp>
      <p:sp>
        <p:nvSpPr>
          <p:cNvPr id="10" name="TextBox 9"/>
          <p:cNvSpPr txBox="1"/>
          <p:nvPr/>
        </p:nvSpPr>
        <p:spPr>
          <a:xfrm>
            <a:off x="786384" y="2944368"/>
            <a:ext cx="5440680" cy="2423160"/>
          </a:xfrm>
          <a:prstGeom prst="rect">
            <a:avLst/>
          </a:prstGeom>
          <a:noFill/>
        </p:spPr>
        <p:txBody>
          <a:bodyPr wrap="square">
            <a:normAutofit/>
          </a:bodyPr>
          <a:lstStyle/>
          <a:p>
            <a:pPr>
              <a:spcAft>
                <a:spcPts val="800"/>
              </a:spcAft>
              <a:defRPr sz="1600">
                <a:solidFill>
                  <a:srgbClr val="1F2937"/>
                </a:solidFill>
              </a:defRPr>
            </a:pPr>
            <a:r>
              <a:t>Sustainable coffee subscriptions offer a clear path to predictable, recurring revenue.</a:t>
            </a:r>
          </a:p>
          <a:p>
            <a:pPr>
              <a:spcAft>
                <a:spcPts val="800"/>
              </a:spcAft>
              <a:defRPr sz="1600">
                <a:solidFill>
                  <a:srgbClr val="1F2937"/>
                </a:solidFill>
              </a:defRPr>
            </a:pPr>
            <a:r>
              <a:t>Customer loyalty is the most powerful lever for increasing lifetime value and profitability.</a:t>
            </a:r>
          </a:p>
          <a:p>
            <a:pPr>
              <a:spcAft>
                <a:spcPts val="800"/>
              </a:spcAft>
              <a:defRPr sz="1600">
                <a:solidFill>
                  <a:srgbClr val="1F2937"/>
                </a:solidFill>
              </a:defRPr>
            </a:pPr>
            <a:r>
              <a:t>Strategic management of costs and supply chains is essential for long-term success.</a:t>
            </a:r>
          </a:p>
          <a:p>
            <a:pPr>
              <a:spcAft>
                <a:spcPts val="800"/>
              </a:spcAft>
              <a:defRPr sz="1600">
                <a:solidFill>
                  <a:srgbClr val="1F2937"/>
                </a:solidFill>
              </a:defRPr>
            </a:pPr>
            <a:r>
              <a:t>Investing in retention strategies is a direct investment in business growth and stability.</a:t>
            </a:r>
          </a:p>
          <a:p>
            <a:pPr>
              <a:spcAft>
                <a:spcPts val="800"/>
              </a:spcAft>
              <a:defRPr sz="1600">
                <a:solidFill>
                  <a:srgbClr val="1F2937"/>
                </a:solidFill>
              </a:defRPr>
            </a:pPr>
            <a:r>
              <a:t>This model aligns business success with positive consumer and environmental impact.</a:t>
            </a:r>
          </a:p>
        </p:txBody>
      </p:sp>
      <p:pic>
        <p:nvPicPr>
          <p:cNvPr id="11" name="Picture 10" descr="image.jpg"/>
          <p:cNvPicPr>
            <a:picLocks noChangeAspect="1"/>
          </p:cNvPicPr>
          <p:nvPr/>
        </p:nvPicPr>
        <p:blipFill>
          <a:blip r:embed="rId3"/>
          <a:stretch>
            <a:fillRect/>
          </a:stretch>
        </p:blipFill>
        <p:spPr>
          <a:xfrm>
            <a:off x="7086600" y="1097280"/>
            <a:ext cx="4526280" cy="4526280"/>
          </a:xfrm>
          <a:prstGeom prst="rect">
            <a:avLst/>
          </a:prstGeom>
        </p:spPr>
      </p:pic>
      <p:sp>
        <p:nvSpPr>
          <p:cNvPr id="12" name="Rounded Rectangle 11"/>
          <p:cNvSpPr/>
          <p:nvPr/>
        </p:nvSpPr>
        <p:spPr>
          <a:xfrm>
            <a:off x="7360920" y="5230368"/>
            <a:ext cx="3977639" cy="384048"/>
          </a:xfrm>
          <a:prstGeom prst="roundRect">
            <a:avLst/>
          </a:prstGeom>
          <a:solidFill>
            <a:srgbClr val="FFFFFF"/>
          </a:solidFill>
          <a:ln>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a:solidFill>
                  <a:srgbClr val="1F2937"/>
                </a:solidFill>
              </a:rPr>
              <a:t>A strong, forward-looking image that combines elements of sustainability (e.g., coffee plant, natural textures) with bus</a:t>
            </a:r>
          </a:p>
        </p:txBody>
      </p:sp>
      <p:sp>
        <p:nvSpPr>
          <p:cNvPr id="13" name="TextBox 12"/>
          <p:cNvSpPr txBox="1"/>
          <p:nvPr/>
        </p:nvSpPr>
        <p:spPr>
          <a:xfrm>
            <a:off x="640080" y="6163056"/>
            <a:ext cx="10972800" cy="310896"/>
          </a:xfrm>
          <a:prstGeom prst="rect">
            <a:avLst/>
          </a:prstGeom>
          <a:noFill/>
        </p:spPr>
        <p:txBody>
          <a:bodyPr wrap="none">
            <a:spAutoFit/>
          </a:bodyPr>
          <a:lstStyle/>
          <a:p>
            <a:pPr algn="l"/>
            <a:r>
              <a:rPr sz="1000">
                <a:solidFill>
                  <a:srgbClr val="475569"/>
                </a:solidFill>
              </a:rPr>
              <a:t>Slide 8  |  Evidence: reasoned synthesis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