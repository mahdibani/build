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66534"/>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502920"/>
            <a:ext cx="2834640" cy="283464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66928"/>
            <a:ext cx="7863840" cy="731520"/>
          </a:xfrm>
          <a:prstGeom prst="rect">
            <a:avLst/>
          </a:prstGeom>
          <a:noFill/>
        </p:spPr>
        <p:txBody>
          <a:bodyPr wrap="square">
            <a:spAutoFit/>
          </a:bodyPr>
          <a:lstStyle/>
          <a:p>
            <a:r>
              <a:rPr sz="2800" b="1">
                <a:solidFill>
                  <a:srgbClr val="111827"/>
                </a:solidFill>
              </a:rPr>
              <a:t>The Dawn of a New Era: Solid-State Batteries</a:t>
            </a:r>
          </a:p>
        </p:txBody>
      </p:sp>
      <p:sp>
        <p:nvSpPr>
          <p:cNvPr id="5" name="TextBox 4"/>
          <p:cNvSpPr txBox="1"/>
          <p:nvPr/>
        </p:nvSpPr>
        <p:spPr>
          <a:xfrm>
            <a:off x="640080" y="1143000"/>
            <a:ext cx="7955279" cy="457200"/>
          </a:xfrm>
          <a:prstGeom prst="rect">
            <a:avLst/>
          </a:prstGeom>
          <a:noFill/>
        </p:spPr>
        <p:txBody>
          <a:bodyPr wrap="none">
            <a:spAutoFit/>
          </a:bodyPr>
          <a:lstStyle/>
          <a:p>
            <a:r>
              <a:rPr sz="1200" b="1">
                <a:solidFill>
                  <a:srgbClr val="166534"/>
                </a:solidFill>
              </a:rPr>
              <a:t>Introduce solid-state batteries and their transformative potential for the electric vehicle industry.</a:t>
            </a:r>
          </a:p>
        </p:txBody>
      </p:sp>
      <p:sp>
        <p:nvSpPr>
          <p:cNvPr id="6" name="TextBox 5"/>
          <p:cNvSpPr txBox="1"/>
          <p:nvPr/>
        </p:nvSpPr>
        <p:spPr>
          <a:xfrm>
            <a:off x="685800" y="1600200"/>
            <a:ext cx="6583680" cy="1143000"/>
          </a:xfrm>
          <a:prstGeom prst="rect">
            <a:avLst/>
          </a:prstGeom>
          <a:noFill/>
        </p:spPr>
        <p:txBody>
          <a:bodyPr wrap="square">
            <a:normAutofit/>
          </a:bodyPr>
          <a:lstStyle/>
          <a:p>
            <a:r>
              <a:rPr sz="1400">
                <a:solidFill>
                  <a:srgbClr val="334155"/>
                </a:solidFill>
              </a:rPr>
              <a:t>Solid-state batteries represent a paradigm shift in energy storage for electric vehicles, promising enhanced safety, greater energy density, and faster charging capabilities. This technology moves beyond traditional liquid electrolytes to solid materials, unlocking new performance benchmarks and addressing key limitations of current lithium-ion batteries.</a:t>
            </a:r>
          </a:p>
        </p:txBody>
      </p:sp>
      <p:sp>
        <p:nvSpPr>
          <p:cNvPr id="7" name="TextBox 6"/>
          <p:cNvSpPr txBox="1"/>
          <p:nvPr/>
        </p:nvSpPr>
        <p:spPr>
          <a:xfrm>
            <a:off x="731520" y="2788920"/>
            <a:ext cx="6217920" cy="2651760"/>
          </a:xfrm>
          <a:prstGeom prst="rect">
            <a:avLst/>
          </a:prstGeom>
          <a:noFill/>
        </p:spPr>
        <p:txBody>
          <a:bodyPr wrap="square">
            <a:normAutofit/>
          </a:bodyPr>
          <a:lstStyle/>
          <a:p>
            <a:pPr>
              <a:spcAft>
                <a:spcPts val="800"/>
              </a:spcAft>
              <a:defRPr sz="1600">
                <a:solidFill>
                  <a:srgbClr val="1F2937"/>
                </a:solidFill>
              </a:defRPr>
            </a:pPr>
            <a:r>
              <a:t>Solid-state batteries utilize solid electrolytes, eliminating fire risks associated with liquid electrolytes.</a:t>
            </a:r>
          </a:p>
          <a:p>
            <a:pPr>
              <a:spcAft>
                <a:spcPts val="800"/>
              </a:spcAft>
              <a:defRPr sz="1600">
                <a:solidFill>
                  <a:srgbClr val="1F2937"/>
                </a:solidFill>
              </a:defRPr>
            </a:pPr>
            <a:r>
              <a:t>They offer significantly higher energy density, enabling longer EV ranges.</a:t>
            </a:r>
          </a:p>
          <a:p>
            <a:pPr>
              <a:spcAft>
                <a:spcPts val="800"/>
              </a:spcAft>
              <a:defRPr sz="1600">
                <a:solidFill>
                  <a:srgbClr val="1F2937"/>
                </a:solidFill>
              </a:defRPr>
            </a:pPr>
            <a:r>
              <a:t>Potential for faster charging times compared to conventional lithium-ion technology.</a:t>
            </a:r>
          </a:p>
          <a:p>
            <a:pPr>
              <a:spcAft>
                <a:spcPts val="800"/>
              </a:spcAft>
              <a:defRPr sz="1600">
                <a:solidFill>
                  <a:srgbClr val="1F2937"/>
                </a:solidFill>
              </a:defRPr>
            </a:pPr>
            <a:r>
              <a:t>Represents the next frontier in EV battery innovation.</a:t>
            </a:r>
          </a:p>
        </p:txBody>
      </p:sp>
      <p:sp>
        <p:nvSpPr>
          <p:cNvPr id="8" name="Rounded Rectangle 7"/>
          <p:cNvSpPr/>
          <p:nvPr/>
        </p:nvSpPr>
        <p:spPr>
          <a:xfrm>
            <a:off x="7178040" y="1417320"/>
            <a:ext cx="4206240" cy="33832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66534"/>
                </a:solidFill>
              </a:rPr>
              <a:t>Title concept</a:t>
            </a:r>
          </a:p>
          <a:p>
            <a:pPr>
              <a:defRPr sz="1300">
                <a:solidFill>
                  <a:srgbClr val="334155"/>
                </a:solidFill>
              </a:defRPr>
            </a:pPr>
            <a:r>
              <a:t>A dynamic, abstract visual representing energy flow and advanced materials, with the title and subtitle prominently displayed.</a:t>
            </a:r>
          </a:p>
        </p:txBody>
      </p:sp>
      <p:sp>
        <p:nvSpPr>
          <p:cNvPr id="9" name="Rounded Rectangle 8"/>
          <p:cNvSpPr/>
          <p:nvPr/>
        </p:nvSpPr>
        <p:spPr>
          <a:xfrm>
            <a:off x="7178040" y="5074920"/>
            <a:ext cx="4206240" cy="868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66534"/>
                </a:solidFill>
              </a:rPr>
              <a:t>Speaker note</a:t>
            </a:r>
          </a:p>
          <a:p>
            <a:pPr>
              <a:defRPr sz="1050">
                <a:solidFill>
                  <a:srgbClr val="475569"/>
                </a:solidFill>
              </a:defRPr>
            </a:pPr>
            <a:r>
              <a:t>Welcome everyone. Today, we're diving into a technology that could redefine the electric vehicle landscape: solid-state batteries. This isn't just an incremental improvement; it's a fundamental leap forward.</a:t>
            </a:r>
          </a:p>
        </p:txBody>
      </p:sp>
      <p:sp>
        <p:nvSpPr>
          <p:cNvPr id="10" name="TextBox 9"/>
          <p:cNvSpPr txBox="1"/>
          <p:nvPr/>
        </p:nvSpPr>
        <p:spPr>
          <a:xfrm>
            <a:off x="640080" y="6199632"/>
            <a:ext cx="10972800" cy="292608"/>
          </a:xfrm>
          <a:prstGeom prst="rect">
            <a:avLst/>
          </a:prstGeom>
          <a:noFill/>
        </p:spPr>
        <p:txBody>
          <a:bodyPr wrap="none">
            <a:spAutoFit/>
          </a:bodyPr>
          <a:lstStyle/>
          <a:p>
            <a:pPr algn="l"/>
            <a:r>
              <a:rPr sz="1000">
                <a:solidFill>
                  <a:srgbClr val="64748B"/>
                </a:solidFill>
              </a:rPr>
              <a:t>Slide 1  |  Evidence: reasoned synthesis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66534"/>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502920"/>
            <a:ext cx="2834640" cy="283464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66928"/>
            <a:ext cx="7863840" cy="731520"/>
          </a:xfrm>
          <a:prstGeom prst="rect">
            <a:avLst/>
          </a:prstGeom>
          <a:noFill/>
        </p:spPr>
        <p:txBody>
          <a:bodyPr wrap="square">
            <a:spAutoFit/>
          </a:bodyPr>
          <a:lstStyle/>
          <a:p>
            <a:r>
              <a:rPr sz="2400" b="1">
                <a:solidFill>
                  <a:srgbClr val="111827"/>
                </a:solidFill>
              </a:rPr>
              <a:t>The Road to 2026: Commercialization Milestones</a:t>
            </a:r>
          </a:p>
        </p:txBody>
      </p:sp>
      <p:sp>
        <p:nvSpPr>
          <p:cNvPr id="5" name="TextBox 4"/>
          <p:cNvSpPr txBox="1"/>
          <p:nvPr/>
        </p:nvSpPr>
        <p:spPr>
          <a:xfrm>
            <a:off x="640080" y="1143000"/>
            <a:ext cx="7955279" cy="457200"/>
          </a:xfrm>
          <a:prstGeom prst="rect">
            <a:avLst/>
          </a:prstGeom>
          <a:noFill/>
        </p:spPr>
        <p:txBody>
          <a:bodyPr wrap="none">
            <a:spAutoFit/>
          </a:bodyPr>
          <a:lstStyle/>
          <a:p>
            <a:r>
              <a:rPr sz="1200" b="1">
                <a:solidFill>
                  <a:srgbClr val="166534"/>
                </a:solidFill>
              </a:rPr>
              <a:t>Outline the critical timeline for solid-state battery commercialization, focusing on 2026-2027.</a:t>
            </a:r>
          </a:p>
        </p:txBody>
      </p:sp>
      <p:sp>
        <p:nvSpPr>
          <p:cNvPr id="6" name="TextBox 5"/>
          <p:cNvSpPr txBox="1"/>
          <p:nvPr/>
        </p:nvSpPr>
        <p:spPr>
          <a:xfrm>
            <a:off x="685800" y="1600200"/>
            <a:ext cx="6583680" cy="1143000"/>
          </a:xfrm>
          <a:prstGeom prst="rect">
            <a:avLst/>
          </a:prstGeom>
          <a:noFill/>
        </p:spPr>
        <p:txBody>
          <a:bodyPr wrap="square">
            <a:normAutofit/>
          </a:bodyPr>
          <a:lstStyle/>
          <a:p>
            <a:r>
              <a:rPr sz="1400">
                <a:solidFill>
                  <a:srgbClr val="334155"/>
                </a:solidFill>
              </a:rPr>
              <a:t>The EV market is on the cusp of solid-state battery integration, with major automakers and OEMs committing to demonstration vehicles by 2027. Initial commercial launches are anticipated as early as 2026, marking a pivotal period for this advanced technology. This accelerated timeline reflects significant R&amp;D progress and strategic investments across the industry.</a:t>
            </a:r>
          </a:p>
        </p:txBody>
      </p:sp>
      <p:sp>
        <p:nvSpPr>
          <p:cNvPr id="7" name="TextBox 6"/>
          <p:cNvSpPr txBox="1"/>
          <p:nvPr/>
        </p:nvSpPr>
        <p:spPr>
          <a:xfrm>
            <a:off x="731520" y="2788920"/>
            <a:ext cx="6217920" cy="2651760"/>
          </a:xfrm>
          <a:prstGeom prst="rect">
            <a:avLst/>
          </a:prstGeom>
          <a:noFill/>
        </p:spPr>
        <p:txBody>
          <a:bodyPr wrap="square">
            <a:normAutofit/>
          </a:bodyPr>
          <a:lstStyle/>
          <a:p>
            <a:pPr>
              <a:spcAft>
                <a:spcPts val="800"/>
              </a:spcAft>
              <a:defRPr sz="1600">
                <a:solidFill>
                  <a:srgbClr val="1F2937"/>
                </a:solidFill>
              </a:defRPr>
            </a:pPr>
            <a:r>
              <a:t>Automakers and OEMs are targeting demonstration vehicles by 2027.</a:t>
            </a:r>
          </a:p>
          <a:p>
            <a:pPr>
              <a:spcAft>
                <a:spcPts val="800"/>
              </a:spcAft>
              <a:defRPr sz="1600">
                <a:solidFill>
                  <a:srgbClr val="1F2937"/>
                </a:solidFill>
              </a:defRPr>
            </a:pPr>
            <a:r>
              <a:t>Initial commercial EV launches featuring solid-state batteries are projected for 2026.</a:t>
            </a:r>
          </a:p>
          <a:p>
            <a:pPr>
              <a:spcAft>
                <a:spcPts val="800"/>
              </a:spcAft>
              <a:defRPr sz="1600">
                <a:solidFill>
                  <a:srgbClr val="1F2937"/>
                </a:solidFill>
              </a:defRPr>
            </a:pPr>
            <a:r>
              <a:t>This decade is crucial for the commercialization of solid-state batteries in EVs.</a:t>
            </a:r>
          </a:p>
          <a:p>
            <a:pPr>
              <a:spcAft>
                <a:spcPts val="800"/>
              </a:spcAft>
              <a:defRPr sz="1600">
                <a:solidFill>
                  <a:srgbClr val="1F2937"/>
                </a:solidFill>
              </a:defRPr>
            </a:pPr>
            <a:r>
              <a:t>Key players like Toyota, BYD, LG, Samsung, and Panasonic are actively involved.</a:t>
            </a:r>
          </a:p>
        </p:txBody>
      </p:sp>
      <p:pic>
        <p:nvPicPr>
          <p:cNvPr id="8" name="Picture 7" descr="image.png"/>
          <p:cNvPicPr>
            <a:picLocks noChangeAspect="1"/>
          </p:cNvPicPr>
          <p:nvPr/>
        </p:nvPicPr>
        <p:blipFill>
          <a:blip r:embed="rId2"/>
          <a:stretch>
            <a:fillRect/>
          </a:stretch>
        </p:blipFill>
        <p:spPr>
          <a:xfrm>
            <a:off x="7178040" y="1417320"/>
            <a:ext cx="4206240" cy="3383280"/>
          </a:xfrm>
          <a:prstGeom prst="rect">
            <a:avLst/>
          </a:prstGeom>
        </p:spPr>
      </p:pic>
      <p:sp>
        <p:nvSpPr>
          <p:cNvPr id="9" name="Rounded Rectangle 8"/>
          <p:cNvSpPr/>
          <p:nvPr/>
        </p:nvSpPr>
        <p:spPr>
          <a:xfrm>
            <a:off x="7406640" y="4389120"/>
            <a:ext cx="3749039" cy="4114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2937"/>
                </a:solidFill>
              </a:rPr>
              <a:t>A clear, forward-looking timeline graphic highlighting 2026 and 2027 as key years for initial SSB deployments and demons</a:t>
            </a:r>
          </a:p>
        </p:txBody>
      </p:sp>
      <p:sp>
        <p:nvSpPr>
          <p:cNvPr id="10" name="Rounded Rectangle 9"/>
          <p:cNvSpPr/>
          <p:nvPr/>
        </p:nvSpPr>
        <p:spPr>
          <a:xfrm>
            <a:off x="7178040" y="5074920"/>
            <a:ext cx="4206240" cy="868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66534"/>
                </a:solidFill>
              </a:rPr>
              <a:t>Speaker note</a:t>
            </a:r>
          </a:p>
          <a:p>
            <a:pPr>
              <a:defRPr sz="1050">
                <a:solidFill>
                  <a:srgbClr val="475569"/>
                </a:solidFill>
              </a:defRPr>
            </a:pPr>
            <a:r>
              <a:t>The industry is moving rapidly. We're seeing concrete commitments from major players, setting the stage for initial market entry within the next two years. This isn't theoretical; it's becoming a reality.</a:t>
            </a:r>
          </a:p>
        </p:txBody>
      </p:sp>
      <p:sp>
        <p:nvSpPr>
          <p:cNvPr id="11" name="TextBox 10"/>
          <p:cNvSpPr txBox="1"/>
          <p:nvPr/>
        </p:nvSpPr>
        <p:spPr>
          <a:xfrm>
            <a:off x="640080" y="6199632"/>
            <a:ext cx="10972800" cy="292608"/>
          </a:xfrm>
          <a:prstGeom prst="rect">
            <a:avLst/>
          </a:prstGeom>
          <a:noFill/>
        </p:spPr>
        <p:txBody>
          <a:bodyPr wrap="none">
            <a:spAutoFit/>
          </a:bodyPr>
          <a:lstStyle/>
          <a:p>
            <a:pPr algn="l"/>
            <a:r>
              <a:rPr sz="1000">
                <a:solidFill>
                  <a:srgbClr val="64748B"/>
                </a:solidFill>
              </a:rPr>
              <a:t>Slide 2  |  Evidence: ORB-8d9023c5, ORB-fade08f1, ORB-9ce9241a, ORB-d247bf02, ORB-a436b14e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66534"/>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502920"/>
            <a:ext cx="2834640" cy="283464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66928"/>
            <a:ext cx="7863840" cy="731520"/>
          </a:xfrm>
          <a:prstGeom prst="rect">
            <a:avLst/>
          </a:prstGeom>
          <a:noFill/>
        </p:spPr>
        <p:txBody>
          <a:bodyPr wrap="square">
            <a:spAutoFit/>
          </a:bodyPr>
          <a:lstStyle/>
          <a:p>
            <a:r>
              <a:rPr sz="2400" b="1">
                <a:solidFill>
                  <a:srgbClr val="111827"/>
                </a:solidFill>
              </a:rPr>
              <a:t>The Titans of Tomorrow: Key Players and Strategies</a:t>
            </a:r>
          </a:p>
        </p:txBody>
      </p:sp>
      <p:sp>
        <p:nvSpPr>
          <p:cNvPr id="5" name="TextBox 4"/>
          <p:cNvSpPr txBox="1"/>
          <p:nvPr/>
        </p:nvSpPr>
        <p:spPr>
          <a:xfrm>
            <a:off x="640080" y="1143000"/>
            <a:ext cx="7955279" cy="457200"/>
          </a:xfrm>
          <a:prstGeom prst="rect">
            <a:avLst/>
          </a:prstGeom>
          <a:noFill/>
        </p:spPr>
        <p:txBody>
          <a:bodyPr wrap="none">
            <a:spAutoFit/>
          </a:bodyPr>
          <a:lstStyle/>
          <a:p>
            <a:r>
              <a:rPr sz="1200" b="1">
                <a:solidFill>
                  <a:srgbClr val="166534"/>
                </a:solidFill>
              </a:rPr>
              <a:t>Identify the leading companies and their strategic approaches to solid-state battery development and commercialization.</a:t>
            </a:r>
          </a:p>
        </p:txBody>
      </p:sp>
      <p:sp>
        <p:nvSpPr>
          <p:cNvPr id="6" name="TextBox 5"/>
          <p:cNvSpPr txBox="1"/>
          <p:nvPr/>
        </p:nvSpPr>
        <p:spPr>
          <a:xfrm>
            <a:off x="685800" y="1600200"/>
            <a:ext cx="6583680" cy="1143000"/>
          </a:xfrm>
          <a:prstGeom prst="rect">
            <a:avLst/>
          </a:prstGeom>
          <a:noFill/>
        </p:spPr>
        <p:txBody>
          <a:bodyPr wrap="square">
            <a:normAutofit/>
          </a:bodyPr>
          <a:lstStyle/>
          <a:p>
            <a:r>
              <a:rPr sz="1400">
                <a:solidFill>
                  <a:srgbClr val="334155"/>
                </a:solidFill>
              </a:rPr>
              <a:t>The race to commercialize solid-state batteries involves a dynamic ecosystem of established automotive giants, innovative battery manufacturers, and specialized technology developers. Companies are pursuing diverse strategies, from in-house development to strategic partnerships and licensing agreements, all aiming to secure a leading position in this burgeoning market.</a:t>
            </a:r>
          </a:p>
        </p:txBody>
      </p:sp>
      <p:sp>
        <p:nvSpPr>
          <p:cNvPr id="7" name="TextBox 6"/>
          <p:cNvSpPr txBox="1"/>
          <p:nvPr/>
        </p:nvSpPr>
        <p:spPr>
          <a:xfrm>
            <a:off x="731520" y="2788920"/>
            <a:ext cx="6217920" cy="2651760"/>
          </a:xfrm>
          <a:prstGeom prst="rect">
            <a:avLst/>
          </a:prstGeom>
          <a:noFill/>
        </p:spPr>
        <p:txBody>
          <a:bodyPr wrap="square">
            <a:normAutofit/>
          </a:bodyPr>
          <a:lstStyle/>
          <a:p>
            <a:pPr>
              <a:spcAft>
                <a:spcPts val="800"/>
              </a:spcAft>
              <a:defRPr sz="1600">
                <a:solidFill>
                  <a:srgbClr val="1F2937"/>
                </a:solidFill>
              </a:defRPr>
            </a:pPr>
            <a:r>
              <a:t>Major automakers are investing heavily in SSB technology and partnerships.</a:t>
            </a:r>
          </a:p>
          <a:p>
            <a:pPr>
              <a:spcAft>
                <a:spcPts val="800"/>
              </a:spcAft>
              <a:defRPr sz="1600">
                <a:solidFill>
                  <a:srgbClr val="1F2937"/>
                </a:solidFill>
              </a:defRPr>
            </a:pPr>
            <a:r>
              <a:t>Leading battery manufacturers (e.g., Panasonic, LG, Samsung, BYD) are developing next-generation solid-state solutions.</a:t>
            </a:r>
          </a:p>
          <a:p>
            <a:pPr>
              <a:spcAft>
                <a:spcPts val="800"/>
              </a:spcAft>
              <a:defRPr sz="1600">
                <a:solidFill>
                  <a:srgbClr val="1F2937"/>
                </a:solidFill>
              </a:defRPr>
            </a:pPr>
            <a:r>
              <a:t>Technology developers are licensing their innovations to OEMs to accelerate scale-up.</a:t>
            </a:r>
          </a:p>
          <a:p>
            <a:pPr>
              <a:spcAft>
                <a:spcPts val="800"/>
              </a:spcAft>
              <a:defRPr sz="1600">
                <a:solidFill>
                  <a:srgbClr val="1F2937"/>
                </a:solidFill>
              </a:defRPr>
            </a:pPr>
            <a:r>
              <a:t>Collaboration is key to overcoming manufacturing and performance hurdles.</a:t>
            </a:r>
          </a:p>
        </p:txBody>
      </p:sp>
      <p:sp>
        <p:nvSpPr>
          <p:cNvPr id="8" name="Rounded Rectangle 7"/>
          <p:cNvSpPr/>
          <p:nvPr/>
        </p:nvSpPr>
        <p:spPr>
          <a:xfrm>
            <a:off x="7178040" y="1417320"/>
            <a:ext cx="4206240" cy="33832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66534"/>
                </a:solidFill>
              </a:rPr>
              <a:t>Comparison concept</a:t>
            </a:r>
          </a:p>
          <a:p>
            <a:pPr>
              <a:defRPr sz="1300">
                <a:solidFill>
                  <a:srgbClr val="334155"/>
                </a:solidFill>
              </a:defRPr>
            </a:pPr>
            <a:r>
              <a:t>A visual comparing key players (automakers, battery manufacturers, tech developers) and their general approaches to SSB commercialization, perhaps using logos and brief strategy descriptions.</a:t>
            </a:r>
          </a:p>
        </p:txBody>
      </p:sp>
      <p:sp>
        <p:nvSpPr>
          <p:cNvPr id="9" name="Rounded Rectangle 8"/>
          <p:cNvSpPr/>
          <p:nvPr/>
        </p:nvSpPr>
        <p:spPr>
          <a:xfrm>
            <a:off x="7178040" y="5074920"/>
            <a:ext cx="4206240" cy="868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66534"/>
                </a:solidFill>
              </a:rPr>
              <a:t>Speaker note</a:t>
            </a:r>
          </a:p>
          <a:p>
            <a:pPr>
              <a:defRPr sz="1050">
                <a:solidFill>
                  <a:srgbClr val="475569"/>
                </a:solidFill>
              </a:defRPr>
            </a:pPr>
            <a:r>
              <a:t>The competitive landscape is intense and collaborative. We're seeing a mix of internal development and external partnerships as companies vie for leadership in this critical technology.</a:t>
            </a:r>
          </a:p>
        </p:txBody>
      </p:sp>
      <p:sp>
        <p:nvSpPr>
          <p:cNvPr id="10" name="TextBox 9"/>
          <p:cNvSpPr txBox="1"/>
          <p:nvPr/>
        </p:nvSpPr>
        <p:spPr>
          <a:xfrm>
            <a:off x="640080" y="6199632"/>
            <a:ext cx="10972800" cy="292608"/>
          </a:xfrm>
          <a:prstGeom prst="rect">
            <a:avLst/>
          </a:prstGeom>
          <a:noFill/>
        </p:spPr>
        <p:txBody>
          <a:bodyPr wrap="none">
            <a:spAutoFit/>
          </a:bodyPr>
          <a:lstStyle/>
          <a:p>
            <a:pPr algn="l"/>
            <a:r>
              <a:rPr sz="1000">
                <a:solidFill>
                  <a:srgbClr val="64748B"/>
                </a:solidFill>
              </a:rPr>
              <a:t>Slide 3  |  Evidence: ORB-8d9023c5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66534"/>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502920"/>
            <a:ext cx="2834640" cy="283464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66928"/>
            <a:ext cx="7863840" cy="731520"/>
          </a:xfrm>
          <a:prstGeom prst="rect">
            <a:avLst/>
          </a:prstGeom>
          <a:noFill/>
        </p:spPr>
        <p:txBody>
          <a:bodyPr wrap="square">
            <a:spAutoFit/>
          </a:bodyPr>
          <a:lstStyle/>
          <a:p>
            <a:r>
              <a:rPr sz="2400" b="1">
                <a:solidFill>
                  <a:srgbClr val="111827"/>
                </a:solidFill>
              </a:rPr>
              <a:t>Bridging the Gap: Technological Hurdles</a:t>
            </a:r>
          </a:p>
        </p:txBody>
      </p:sp>
      <p:sp>
        <p:nvSpPr>
          <p:cNvPr id="5" name="TextBox 4"/>
          <p:cNvSpPr txBox="1"/>
          <p:nvPr/>
        </p:nvSpPr>
        <p:spPr>
          <a:xfrm>
            <a:off x="640080" y="1143000"/>
            <a:ext cx="7955279" cy="457200"/>
          </a:xfrm>
          <a:prstGeom prst="rect">
            <a:avLst/>
          </a:prstGeom>
          <a:noFill/>
        </p:spPr>
        <p:txBody>
          <a:bodyPr wrap="none">
            <a:spAutoFit/>
          </a:bodyPr>
          <a:lstStyle/>
          <a:p>
            <a:r>
              <a:rPr sz="1200" b="1">
                <a:solidFill>
                  <a:srgbClr val="166534"/>
                </a:solidFill>
              </a:rPr>
              <a:t>Examine the primary technological challenges that must be overcome for widespread solid-state battery adoption.</a:t>
            </a:r>
          </a:p>
        </p:txBody>
      </p:sp>
      <p:sp>
        <p:nvSpPr>
          <p:cNvPr id="6" name="TextBox 5"/>
          <p:cNvSpPr txBox="1"/>
          <p:nvPr/>
        </p:nvSpPr>
        <p:spPr>
          <a:xfrm>
            <a:off x="685800" y="1600200"/>
            <a:ext cx="6583680" cy="1143000"/>
          </a:xfrm>
          <a:prstGeom prst="rect">
            <a:avLst/>
          </a:prstGeom>
          <a:noFill/>
        </p:spPr>
        <p:txBody>
          <a:bodyPr wrap="square">
            <a:normAutofit/>
          </a:bodyPr>
          <a:lstStyle/>
          <a:p>
            <a:r>
              <a:rPr sz="1400">
                <a:solidFill>
                  <a:srgbClr val="334155"/>
                </a:solidFill>
              </a:rPr>
              <a:t>Despite their immense promise, solid-state batteries face significant technological hurdles that impede mass commercialization. Key challenges include ensuring the long-term stability and conductivity of solid electrolytes, achieving efficient ion transport across interfaces, and developing robust cell designs that can withstand repeated cycling and thermal stress.</a:t>
            </a:r>
          </a:p>
        </p:txBody>
      </p:sp>
      <p:sp>
        <p:nvSpPr>
          <p:cNvPr id="7" name="TextBox 6"/>
          <p:cNvSpPr txBox="1"/>
          <p:nvPr/>
        </p:nvSpPr>
        <p:spPr>
          <a:xfrm>
            <a:off x="731520" y="2788920"/>
            <a:ext cx="6217920" cy="2651760"/>
          </a:xfrm>
          <a:prstGeom prst="rect">
            <a:avLst/>
          </a:prstGeom>
          <a:noFill/>
        </p:spPr>
        <p:txBody>
          <a:bodyPr wrap="square">
            <a:normAutofit/>
          </a:bodyPr>
          <a:lstStyle/>
          <a:p>
            <a:pPr>
              <a:spcAft>
                <a:spcPts val="800"/>
              </a:spcAft>
              <a:defRPr sz="1600">
                <a:solidFill>
                  <a:srgbClr val="1F2937"/>
                </a:solidFill>
              </a:defRPr>
            </a:pPr>
            <a:r>
              <a:t>Achieving high ionic conductivity in solid electrolytes at operating temperatures.</a:t>
            </a:r>
          </a:p>
          <a:p>
            <a:pPr>
              <a:spcAft>
                <a:spcPts val="800"/>
              </a:spcAft>
              <a:defRPr sz="1600">
                <a:solidFill>
                  <a:srgbClr val="1F2937"/>
                </a:solidFill>
              </a:defRPr>
            </a:pPr>
            <a:r>
              <a:t>Managing interfacial resistance between electrodes and solid electrolytes.</a:t>
            </a:r>
          </a:p>
          <a:p>
            <a:pPr>
              <a:spcAft>
                <a:spcPts val="800"/>
              </a:spcAft>
              <a:defRPr sz="1600">
                <a:solidFill>
                  <a:srgbClr val="1F2937"/>
                </a:solidFill>
              </a:defRPr>
            </a:pPr>
            <a:r>
              <a:t>Ensuring mechanical stability and preventing dendrite formation.</a:t>
            </a:r>
          </a:p>
          <a:p>
            <a:pPr>
              <a:spcAft>
                <a:spcPts val="800"/>
              </a:spcAft>
              <a:defRPr sz="1600">
                <a:solidFill>
                  <a:srgbClr val="1F2937"/>
                </a:solidFill>
              </a:defRPr>
            </a:pPr>
            <a:r>
              <a:t>Developing scalable manufacturing processes for solid electrolyte materials and cell assembly.</a:t>
            </a:r>
          </a:p>
        </p:txBody>
      </p:sp>
      <p:sp>
        <p:nvSpPr>
          <p:cNvPr id="8" name="Rounded Rectangle 7"/>
          <p:cNvSpPr/>
          <p:nvPr/>
        </p:nvSpPr>
        <p:spPr>
          <a:xfrm>
            <a:off x="7178040" y="1417320"/>
            <a:ext cx="4206240" cy="33832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66534"/>
                </a:solidFill>
              </a:rPr>
              <a:t>Process concept</a:t>
            </a:r>
          </a:p>
          <a:p>
            <a:pPr>
              <a:defRPr sz="1300">
                <a:solidFill>
                  <a:srgbClr val="334155"/>
                </a:solidFill>
              </a:defRPr>
            </a:pPr>
            <a:r>
              <a:t>A diagram illustrating the key technological challenges in SSB development, such as electrolyte conductivity, interfacial resistance, and material stability.</a:t>
            </a:r>
          </a:p>
        </p:txBody>
      </p:sp>
      <p:sp>
        <p:nvSpPr>
          <p:cNvPr id="9" name="Rounded Rectangle 8"/>
          <p:cNvSpPr/>
          <p:nvPr/>
        </p:nvSpPr>
        <p:spPr>
          <a:xfrm>
            <a:off x="7178040" y="5074920"/>
            <a:ext cx="4206240" cy="868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66534"/>
                </a:solidFill>
              </a:rPr>
              <a:t>Speaker note</a:t>
            </a:r>
          </a:p>
          <a:p>
            <a:pPr>
              <a:defRPr sz="1050">
                <a:solidFill>
                  <a:srgbClr val="475569"/>
                </a:solidFill>
              </a:defRPr>
            </a:pPr>
            <a:r>
              <a:t>While the potential is clear, we must acknowledge the technical complexities. Overcoming these fundamental scientific and engineering challenges is paramount to unlocking the full capabilities of SSBs.</a:t>
            </a:r>
          </a:p>
        </p:txBody>
      </p:sp>
      <p:sp>
        <p:nvSpPr>
          <p:cNvPr id="10" name="TextBox 9"/>
          <p:cNvSpPr txBox="1"/>
          <p:nvPr/>
        </p:nvSpPr>
        <p:spPr>
          <a:xfrm>
            <a:off x="640080" y="6199632"/>
            <a:ext cx="10972800" cy="292608"/>
          </a:xfrm>
          <a:prstGeom prst="rect">
            <a:avLst/>
          </a:prstGeom>
          <a:noFill/>
        </p:spPr>
        <p:txBody>
          <a:bodyPr wrap="none">
            <a:spAutoFit/>
          </a:bodyPr>
          <a:lstStyle/>
          <a:p>
            <a:pPr algn="l"/>
            <a:r>
              <a:rPr sz="1000">
                <a:solidFill>
                  <a:srgbClr val="64748B"/>
                </a:solidFill>
              </a:rPr>
              <a:t>Slide 4  |  Evidence: reasoned synthesis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66534"/>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502920"/>
            <a:ext cx="2834640" cy="283464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66928"/>
            <a:ext cx="7863840" cy="731520"/>
          </a:xfrm>
          <a:prstGeom prst="rect">
            <a:avLst/>
          </a:prstGeom>
          <a:noFill/>
        </p:spPr>
        <p:txBody>
          <a:bodyPr wrap="square">
            <a:spAutoFit/>
          </a:bodyPr>
          <a:lstStyle/>
          <a:p>
            <a:r>
              <a:rPr sz="2400" b="1">
                <a:solidFill>
                  <a:srgbClr val="111827"/>
                </a:solidFill>
              </a:rPr>
              <a:t>Scaling Up: Manufacturing and Cost Realities</a:t>
            </a:r>
          </a:p>
        </p:txBody>
      </p:sp>
      <p:sp>
        <p:nvSpPr>
          <p:cNvPr id="5" name="TextBox 4"/>
          <p:cNvSpPr txBox="1"/>
          <p:nvPr/>
        </p:nvSpPr>
        <p:spPr>
          <a:xfrm>
            <a:off x="640080" y="1143000"/>
            <a:ext cx="7955279" cy="457200"/>
          </a:xfrm>
          <a:prstGeom prst="rect">
            <a:avLst/>
          </a:prstGeom>
          <a:noFill/>
        </p:spPr>
        <p:txBody>
          <a:bodyPr wrap="none">
            <a:spAutoFit/>
          </a:bodyPr>
          <a:lstStyle/>
          <a:p>
            <a:r>
              <a:rPr sz="1200" b="1">
                <a:solidFill>
                  <a:srgbClr val="166534"/>
                </a:solidFill>
              </a:rPr>
              <a:t>Analyze the manufacturing scale-up challenges and cost implications for solid-state batteries.</a:t>
            </a:r>
          </a:p>
        </p:txBody>
      </p:sp>
      <p:sp>
        <p:nvSpPr>
          <p:cNvPr id="6" name="TextBox 5"/>
          <p:cNvSpPr txBox="1"/>
          <p:nvPr/>
        </p:nvSpPr>
        <p:spPr>
          <a:xfrm>
            <a:off x="685800" y="1600200"/>
            <a:ext cx="6583680" cy="1143000"/>
          </a:xfrm>
          <a:prstGeom prst="rect">
            <a:avLst/>
          </a:prstGeom>
          <a:noFill/>
        </p:spPr>
        <p:txBody>
          <a:bodyPr wrap="square">
            <a:normAutofit/>
          </a:bodyPr>
          <a:lstStyle/>
          <a:p>
            <a:r>
              <a:rPr sz="1400">
                <a:solidFill>
                  <a:srgbClr val="334155"/>
                </a:solidFill>
              </a:rPr>
              <a:t>The transition from laboratory prototypes to mass-produced solid-state batteries presents substantial manufacturing and cost challenges. Scaling up the production of novel solid electrolyte materials and integrating them into high-volume battery cell manufacturing lines requires significant capital investment and process innovation. High initial production costs remain a barrier to widespread adoption compared to mature lithium-ion technologies.</a:t>
            </a:r>
          </a:p>
        </p:txBody>
      </p:sp>
      <p:sp>
        <p:nvSpPr>
          <p:cNvPr id="7" name="TextBox 6"/>
          <p:cNvSpPr txBox="1"/>
          <p:nvPr/>
        </p:nvSpPr>
        <p:spPr>
          <a:xfrm>
            <a:off x="731520" y="2788920"/>
            <a:ext cx="6217920" cy="2651760"/>
          </a:xfrm>
          <a:prstGeom prst="rect">
            <a:avLst/>
          </a:prstGeom>
          <a:noFill/>
        </p:spPr>
        <p:txBody>
          <a:bodyPr wrap="square">
            <a:normAutofit/>
          </a:bodyPr>
          <a:lstStyle/>
          <a:p>
            <a:pPr>
              <a:spcAft>
                <a:spcPts val="800"/>
              </a:spcAft>
              <a:defRPr sz="1600">
                <a:solidFill>
                  <a:srgbClr val="1F2937"/>
                </a:solidFill>
              </a:defRPr>
            </a:pPr>
            <a:r>
              <a:t>Scalability of manufacturing processes for solid-state electrolytes and battery cells is a major concern.</a:t>
            </a:r>
          </a:p>
          <a:p>
            <a:pPr>
              <a:spcAft>
                <a:spcPts val="800"/>
              </a:spcAft>
              <a:defRPr sz="1600">
                <a:solidFill>
                  <a:srgbClr val="1F2937"/>
                </a:solidFill>
              </a:defRPr>
            </a:pPr>
            <a:r>
              <a:t>Production costs are currently higher than traditional lithium-ion batteries.</a:t>
            </a:r>
          </a:p>
          <a:p>
            <a:pPr>
              <a:spcAft>
                <a:spcPts val="800"/>
              </a:spcAft>
              <a:defRPr sz="1600">
                <a:solidFill>
                  <a:srgbClr val="1F2937"/>
                </a:solidFill>
              </a:defRPr>
            </a:pPr>
            <a:r>
              <a:t>Developing cost-effective methods for synthesizing and processing solid electrolyte materials.</a:t>
            </a:r>
          </a:p>
          <a:p>
            <a:pPr>
              <a:spcAft>
                <a:spcPts val="800"/>
              </a:spcAft>
              <a:defRPr sz="1600">
                <a:solidFill>
                  <a:srgbClr val="1F2937"/>
                </a:solidFill>
              </a:defRPr>
            </a:pPr>
            <a:r>
              <a:t>Establishing robust supply chains for new materials required for SSB production.</a:t>
            </a:r>
          </a:p>
        </p:txBody>
      </p:sp>
      <p:pic>
        <p:nvPicPr>
          <p:cNvPr id="8" name="Picture 7" descr="image.png"/>
          <p:cNvPicPr>
            <a:picLocks noChangeAspect="1"/>
          </p:cNvPicPr>
          <p:nvPr/>
        </p:nvPicPr>
        <p:blipFill>
          <a:blip r:embed="rId2"/>
          <a:stretch>
            <a:fillRect/>
          </a:stretch>
        </p:blipFill>
        <p:spPr>
          <a:xfrm>
            <a:off x="7178040" y="1417320"/>
            <a:ext cx="4206240" cy="3383280"/>
          </a:xfrm>
          <a:prstGeom prst="rect">
            <a:avLst/>
          </a:prstGeom>
        </p:spPr>
      </p:pic>
      <p:sp>
        <p:nvSpPr>
          <p:cNvPr id="9" name="Rounded Rectangle 8"/>
          <p:cNvSpPr/>
          <p:nvPr/>
        </p:nvSpPr>
        <p:spPr>
          <a:xfrm>
            <a:off x="7406640" y="4389120"/>
            <a:ext cx="3749039" cy="4114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2937"/>
                </a:solidFill>
              </a:rPr>
              <a:t>A visual representing the complexity of scaling up SSB manufacturing, perhaps showing a simplified factory layout or a f</a:t>
            </a:r>
          </a:p>
        </p:txBody>
      </p:sp>
      <p:sp>
        <p:nvSpPr>
          <p:cNvPr id="10" name="Rounded Rectangle 9"/>
          <p:cNvSpPr/>
          <p:nvPr/>
        </p:nvSpPr>
        <p:spPr>
          <a:xfrm>
            <a:off x="7178040" y="5074920"/>
            <a:ext cx="4206240" cy="868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66534"/>
                </a:solidFill>
              </a:rPr>
              <a:t>Speaker note</a:t>
            </a:r>
          </a:p>
          <a:p>
            <a:pPr>
              <a:defRPr sz="1050">
                <a:solidFill>
                  <a:srgbClr val="475569"/>
                </a:solidFill>
              </a:defRPr>
            </a:pPr>
            <a:r>
              <a:t>Manufacturing scale and cost are critical business considerations. The industry needs to innovate not just in battery chemistry, but also in production techniques to make SSBs economically viable for mass-market EVs.</a:t>
            </a:r>
          </a:p>
        </p:txBody>
      </p:sp>
      <p:sp>
        <p:nvSpPr>
          <p:cNvPr id="11" name="TextBox 10"/>
          <p:cNvSpPr txBox="1"/>
          <p:nvPr/>
        </p:nvSpPr>
        <p:spPr>
          <a:xfrm>
            <a:off x="640080" y="6199632"/>
            <a:ext cx="10972800" cy="292608"/>
          </a:xfrm>
          <a:prstGeom prst="rect">
            <a:avLst/>
          </a:prstGeom>
          <a:noFill/>
        </p:spPr>
        <p:txBody>
          <a:bodyPr wrap="none">
            <a:spAutoFit/>
          </a:bodyPr>
          <a:lstStyle/>
          <a:p>
            <a:pPr algn="l"/>
            <a:r>
              <a:rPr sz="1000">
                <a:solidFill>
                  <a:srgbClr val="64748B"/>
                </a:solidFill>
              </a:rPr>
              <a:t>Slide 5  |  Evidence: ORB-fade08f1, ORB-9ce9241a, ORB-d247bf02, ORB-a436b14e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66534"/>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502920"/>
            <a:ext cx="2834640" cy="283464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66928"/>
            <a:ext cx="7863840" cy="731520"/>
          </a:xfrm>
          <a:prstGeom prst="rect">
            <a:avLst/>
          </a:prstGeom>
          <a:noFill/>
        </p:spPr>
        <p:txBody>
          <a:bodyPr wrap="square">
            <a:spAutoFit/>
          </a:bodyPr>
          <a:lstStyle/>
          <a:p>
            <a:r>
              <a:rPr sz="2400" b="1">
                <a:solidFill>
                  <a:srgbClr val="111827"/>
                </a:solidFill>
              </a:rPr>
              <a:t>Market Momentum: Drivers and Competitive Edge</a:t>
            </a:r>
          </a:p>
        </p:txBody>
      </p:sp>
      <p:sp>
        <p:nvSpPr>
          <p:cNvPr id="5" name="TextBox 4"/>
          <p:cNvSpPr txBox="1"/>
          <p:nvPr/>
        </p:nvSpPr>
        <p:spPr>
          <a:xfrm>
            <a:off x="640080" y="1143000"/>
            <a:ext cx="7955279" cy="457200"/>
          </a:xfrm>
          <a:prstGeom prst="rect">
            <a:avLst/>
          </a:prstGeom>
          <a:noFill/>
        </p:spPr>
        <p:txBody>
          <a:bodyPr wrap="none">
            <a:spAutoFit/>
          </a:bodyPr>
          <a:lstStyle/>
          <a:p>
            <a:r>
              <a:rPr sz="1200" b="1">
                <a:solidFill>
                  <a:srgbClr val="166534"/>
                </a:solidFill>
              </a:rPr>
              <a:t>Identify the key drivers pushing market adoption and the competitive advantages offered by solid-state batteries.</a:t>
            </a:r>
          </a:p>
        </p:txBody>
      </p:sp>
      <p:sp>
        <p:nvSpPr>
          <p:cNvPr id="6" name="TextBox 5"/>
          <p:cNvSpPr txBox="1"/>
          <p:nvPr/>
        </p:nvSpPr>
        <p:spPr>
          <a:xfrm>
            <a:off x="685800" y="1600200"/>
            <a:ext cx="6583680" cy="1143000"/>
          </a:xfrm>
          <a:prstGeom prst="rect">
            <a:avLst/>
          </a:prstGeom>
          <a:noFill/>
        </p:spPr>
        <p:txBody>
          <a:bodyPr wrap="square">
            <a:normAutofit/>
          </a:bodyPr>
          <a:lstStyle/>
          <a:p>
            <a:r>
              <a:rPr sz="1400">
                <a:solidFill>
                  <a:srgbClr val="334155"/>
                </a:solidFill>
              </a:rPr>
              <a:t>Several factors are accelerating the adoption of solid-state batteries in the EV market, primarily driven by the demand for enhanced safety and longer driving ranges. The superior energy density of SSBs directly translates to more competitive EVs, while their inherent safety features address consumer concerns and regulatory pressures. This technological leap provides a significant competitive edge for early adopters.</a:t>
            </a:r>
          </a:p>
        </p:txBody>
      </p:sp>
      <p:sp>
        <p:nvSpPr>
          <p:cNvPr id="7" name="TextBox 6"/>
          <p:cNvSpPr txBox="1"/>
          <p:nvPr/>
        </p:nvSpPr>
        <p:spPr>
          <a:xfrm>
            <a:off x="731520" y="2788920"/>
            <a:ext cx="6217920" cy="2651760"/>
          </a:xfrm>
          <a:prstGeom prst="rect">
            <a:avLst/>
          </a:prstGeom>
          <a:noFill/>
        </p:spPr>
        <p:txBody>
          <a:bodyPr wrap="square">
            <a:normAutofit/>
          </a:bodyPr>
          <a:lstStyle/>
          <a:p>
            <a:pPr>
              <a:spcAft>
                <a:spcPts val="800"/>
              </a:spcAft>
              <a:defRPr sz="1600">
                <a:solidFill>
                  <a:srgbClr val="1F2937"/>
                </a:solidFill>
              </a:defRPr>
            </a:pPr>
            <a:r>
              <a:t>Consumer demand for longer EV ranges and improved safety.</a:t>
            </a:r>
          </a:p>
          <a:p>
            <a:pPr>
              <a:spcAft>
                <a:spcPts val="800"/>
              </a:spcAft>
              <a:defRPr sz="1600">
                <a:solidFill>
                  <a:srgbClr val="1F2937"/>
                </a:solidFill>
              </a:defRPr>
            </a:pPr>
            <a:r>
              <a:t>Regulatory push for safer and more efficient battery technologies.</a:t>
            </a:r>
          </a:p>
          <a:p>
            <a:pPr>
              <a:spcAft>
                <a:spcPts val="800"/>
              </a:spcAft>
              <a:defRPr sz="1600">
                <a:solidFill>
                  <a:srgbClr val="1F2937"/>
                </a:solidFill>
              </a:defRPr>
            </a:pPr>
            <a:r>
              <a:t>Performance advantages: higher energy density and enhanced safety.</a:t>
            </a:r>
          </a:p>
          <a:p>
            <a:pPr>
              <a:spcAft>
                <a:spcPts val="800"/>
              </a:spcAft>
              <a:defRPr sz="1600">
                <a:solidFill>
                  <a:srgbClr val="1F2937"/>
                </a:solidFill>
              </a:defRPr>
            </a:pPr>
            <a:r>
              <a:t>Potential for faster charging to improve user experience.</a:t>
            </a:r>
          </a:p>
        </p:txBody>
      </p:sp>
      <p:sp>
        <p:nvSpPr>
          <p:cNvPr id="8" name="Rounded Rectangle 7"/>
          <p:cNvSpPr/>
          <p:nvPr/>
        </p:nvSpPr>
        <p:spPr>
          <a:xfrm>
            <a:off x="7178040" y="1417320"/>
            <a:ext cx="4206240" cy="33832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66534"/>
                </a:solidFill>
              </a:rPr>
              <a:t>Chart concept</a:t>
            </a:r>
          </a:p>
          <a:p>
            <a:pPr>
              <a:defRPr sz="1300">
                <a:solidFill>
                  <a:srgbClr val="334155"/>
                </a:solidFill>
              </a:defRPr>
            </a:pPr>
            <a:r>
              <a:t>A bar chart or infographic illustrating the key market drivers and the comparative advantages of SSBs (e.g., range, safety, charging speed) versus current Li-ion batteries.</a:t>
            </a:r>
          </a:p>
        </p:txBody>
      </p:sp>
      <p:sp>
        <p:nvSpPr>
          <p:cNvPr id="9" name="Rounded Rectangle 8"/>
          <p:cNvSpPr/>
          <p:nvPr/>
        </p:nvSpPr>
        <p:spPr>
          <a:xfrm>
            <a:off x="7178040" y="5074920"/>
            <a:ext cx="4206240" cy="868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66534"/>
                </a:solidFill>
              </a:rPr>
              <a:t>Speaker note</a:t>
            </a:r>
          </a:p>
          <a:p>
            <a:pPr>
              <a:defRPr sz="1050">
                <a:solidFill>
                  <a:srgbClr val="475569"/>
                </a:solidFill>
              </a:defRPr>
            </a:pPr>
            <a:r>
              <a:t>The market is ripe for disruption. Consumer expectations for performance and safety, coupled with regulatory trends, are creating a strong pull for solid-state battery technology.</a:t>
            </a:r>
          </a:p>
        </p:txBody>
      </p:sp>
      <p:sp>
        <p:nvSpPr>
          <p:cNvPr id="10" name="TextBox 9"/>
          <p:cNvSpPr txBox="1"/>
          <p:nvPr/>
        </p:nvSpPr>
        <p:spPr>
          <a:xfrm>
            <a:off x="640080" y="6199632"/>
            <a:ext cx="10972800" cy="292608"/>
          </a:xfrm>
          <a:prstGeom prst="rect">
            <a:avLst/>
          </a:prstGeom>
          <a:noFill/>
        </p:spPr>
        <p:txBody>
          <a:bodyPr wrap="none">
            <a:spAutoFit/>
          </a:bodyPr>
          <a:lstStyle/>
          <a:p>
            <a:pPr algn="l"/>
            <a:r>
              <a:rPr sz="1000">
                <a:solidFill>
                  <a:srgbClr val="64748B"/>
                </a:solidFill>
              </a:rPr>
              <a:t>Slide 6  |  Evidence: ORB-8d9023c5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66534"/>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502920"/>
            <a:ext cx="2834640" cy="283464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66928"/>
            <a:ext cx="7863840" cy="731520"/>
          </a:xfrm>
          <a:prstGeom prst="rect">
            <a:avLst/>
          </a:prstGeom>
          <a:noFill/>
        </p:spPr>
        <p:txBody>
          <a:bodyPr wrap="square">
            <a:spAutoFit/>
          </a:bodyPr>
          <a:lstStyle/>
          <a:p>
            <a:r>
              <a:rPr sz="2400" b="1">
                <a:solidFill>
                  <a:srgbClr val="111827"/>
                </a:solidFill>
              </a:rPr>
              <a:t>Investing in the Future: Opportunities and Risks</a:t>
            </a:r>
          </a:p>
        </p:txBody>
      </p:sp>
      <p:sp>
        <p:nvSpPr>
          <p:cNvPr id="5" name="TextBox 4"/>
          <p:cNvSpPr txBox="1"/>
          <p:nvPr/>
        </p:nvSpPr>
        <p:spPr>
          <a:xfrm>
            <a:off x="640080" y="1143000"/>
            <a:ext cx="7955279" cy="457200"/>
          </a:xfrm>
          <a:prstGeom prst="rect">
            <a:avLst/>
          </a:prstGeom>
          <a:noFill/>
        </p:spPr>
        <p:txBody>
          <a:bodyPr wrap="none">
            <a:spAutoFit/>
          </a:bodyPr>
          <a:lstStyle/>
          <a:p>
            <a:r>
              <a:rPr sz="1200" b="1">
                <a:solidFill>
                  <a:srgbClr val="166534"/>
                </a:solidFill>
              </a:rPr>
              <a:t>Assess the investment landscape, highlighting key opportunities and potential risks for stakeholders.</a:t>
            </a:r>
          </a:p>
        </p:txBody>
      </p:sp>
      <p:sp>
        <p:nvSpPr>
          <p:cNvPr id="6" name="TextBox 5"/>
          <p:cNvSpPr txBox="1"/>
          <p:nvPr/>
        </p:nvSpPr>
        <p:spPr>
          <a:xfrm>
            <a:off x="685800" y="1600200"/>
            <a:ext cx="6583680" cy="1143000"/>
          </a:xfrm>
          <a:prstGeom prst="rect">
            <a:avLst/>
          </a:prstGeom>
          <a:noFill/>
        </p:spPr>
        <p:txBody>
          <a:bodyPr wrap="square">
            <a:normAutofit/>
          </a:bodyPr>
          <a:lstStyle/>
          <a:p>
            <a:r>
              <a:rPr sz="1400">
                <a:solidFill>
                  <a:srgbClr val="334155"/>
                </a:solidFill>
              </a:rPr>
              <a:t>The commercialization of solid-state batteries presents a compelling investment opportunity, driven by the anticipated disruption in the EV market. However, investors must navigate significant risks, including technological uncertainties, manufacturing scale-up challenges, and the potential for supply chain bottlenecks. Strategic investments in R&amp;D, manufacturing capabilities, and key partnerships will be crucial for success.</a:t>
            </a:r>
          </a:p>
        </p:txBody>
      </p:sp>
      <p:sp>
        <p:nvSpPr>
          <p:cNvPr id="7" name="TextBox 6"/>
          <p:cNvSpPr txBox="1"/>
          <p:nvPr/>
        </p:nvSpPr>
        <p:spPr>
          <a:xfrm>
            <a:off x="731520" y="2788920"/>
            <a:ext cx="6217920" cy="2651760"/>
          </a:xfrm>
          <a:prstGeom prst="rect">
            <a:avLst/>
          </a:prstGeom>
          <a:noFill/>
        </p:spPr>
        <p:txBody>
          <a:bodyPr wrap="square">
            <a:normAutofit/>
          </a:bodyPr>
          <a:lstStyle/>
          <a:p>
            <a:pPr>
              <a:spcAft>
                <a:spcPts val="800"/>
              </a:spcAft>
              <a:defRPr sz="1600">
                <a:solidFill>
                  <a:srgbClr val="1F2937"/>
                </a:solidFill>
              </a:defRPr>
            </a:pPr>
            <a:r>
              <a:t>Significant market opportunity driven by EV electrification.</a:t>
            </a:r>
          </a:p>
          <a:p>
            <a:pPr>
              <a:spcAft>
                <a:spcPts val="800"/>
              </a:spcAft>
              <a:defRPr sz="1600">
                <a:solidFill>
                  <a:srgbClr val="1F2937"/>
                </a:solidFill>
              </a:defRPr>
            </a:pPr>
            <a:r>
              <a:t>Risks include unproven long-term performance and high initial costs.</a:t>
            </a:r>
          </a:p>
          <a:p>
            <a:pPr>
              <a:spcAft>
                <a:spcPts val="800"/>
              </a:spcAft>
              <a:defRPr sz="1600">
                <a:solidFill>
                  <a:srgbClr val="1F2937"/>
                </a:solidFill>
              </a:defRPr>
            </a:pPr>
            <a:r>
              <a:t>Potential for supply chain disruptions for novel materials.</a:t>
            </a:r>
          </a:p>
          <a:p>
            <a:pPr>
              <a:spcAft>
                <a:spcPts val="800"/>
              </a:spcAft>
              <a:defRPr sz="1600">
                <a:solidFill>
                  <a:srgbClr val="1F2937"/>
                </a:solidFill>
              </a:defRPr>
            </a:pPr>
            <a:r>
              <a:t>Strategic partnerships and targeted R&amp;D funding are critical for mitigating risks.</a:t>
            </a:r>
          </a:p>
        </p:txBody>
      </p:sp>
      <p:pic>
        <p:nvPicPr>
          <p:cNvPr id="8" name="Picture 7" descr="image.png"/>
          <p:cNvPicPr>
            <a:picLocks noChangeAspect="1"/>
          </p:cNvPicPr>
          <p:nvPr/>
        </p:nvPicPr>
        <p:blipFill>
          <a:blip r:embed="rId2"/>
          <a:stretch>
            <a:fillRect/>
          </a:stretch>
        </p:blipFill>
        <p:spPr>
          <a:xfrm>
            <a:off x="7178040" y="1417320"/>
            <a:ext cx="4206240" cy="3383280"/>
          </a:xfrm>
          <a:prstGeom prst="rect">
            <a:avLst/>
          </a:prstGeom>
        </p:spPr>
      </p:pic>
      <p:sp>
        <p:nvSpPr>
          <p:cNvPr id="9" name="Rounded Rectangle 8"/>
          <p:cNvSpPr/>
          <p:nvPr/>
        </p:nvSpPr>
        <p:spPr>
          <a:xfrm>
            <a:off x="7406640" y="4389120"/>
            <a:ext cx="3749039" cy="4114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2937"/>
                </a:solidFill>
              </a:rPr>
              <a:t>A visual representing investment opportunities and risks, perhaps using a SWOT analysis framework or a risk-reward matri</a:t>
            </a:r>
          </a:p>
        </p:txBody>
      </p:sp>
      <p:sp>
        <p:nvSpPr>
          <p:cNvPr id="10" name="Rounded Rectangle 9"/>
          <p:cNvSpPr/>
          <p:nvPr/>
        </p:nvSpPr>
        <p:spPr>
          <a:xfrm>
            <a:off x="7178040" y="5074920"/>
            <a:ext cx="4206240" cy="868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66534"/>
                </a:solidFill>
              </a:rPr>
              <a:t>Speaker note</a:t>
            </a:r>
          </a:p>
          <a:p>
            <a:pPr>
              <a:defRPr sz="1050">
                <a:solidFill>
                  <a:srgbClr val="475569"/>
                </a:solidFill>
              </a:defRPr>
            </a:pPr>
            <a:r>
              <a:t>For investors, the potential rewards are substantial, but so are the risks. A pragmatic approach, focusing on companies with robust technology and clear manufacturing roadmaps, is essential.</a:t>
            </a:r>
          </a:p>
        </p:txBody>
      </p:sp>
      <p:sp>
        <p:nvSpPr>
          <p:cNvPr id="11" name="TextBox 10"/>
          <p:cNvSpPr txBox="1"/>
          <p:nvPr/>
        </p:nvSpPr>
        <p:spPr>
          <a:xfrm>
            <a:off x="640080" y="6199632"/>
            <a:ext cx="10972800" cy="292608"/>
          </a:xfrm>
          <a:prstGeom prst="rect">
            <a:avLst/>
          </a:prstGeom>
          <a:noFill/>
        </p:spPr>
        <p:txBody>
          <a:bodyPr wrap="none">
            <a:spAutoFit/>
          </a:bodyPr>
          <a:lstStyle/>
          <a:p>
            <a:pPr algn="l"/>
            <a:r>
              <a:rPr sz="1000">
                <a:solidFill>
                  <a:srgbClr val="64748B"/>
                </a:solidFill>
              </a:rPr>
              <a:t>Slide 7  |  Evidence: ORB-fade08f1, ORB-9ce9241a, ORB-d247bf02, ORB-a436b14e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66534"/>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502920"/>
            <a:ext cx="2834640" cy="283464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66928"/>
            <a:ext cx="7863840" cy="731520"/>
          </a:xfrm>
          <a:prstGeom prst="rect">
            <a:avLst/>
          </a:prstGeom>
          <a:noFill/>
        </p:spPr>
        <p:txBody>
          <a:bodyPr wrap="square">
            <a:spAutoFit/>
          </a:bodyPr>
          <a:lstStyle/>
          <a:p>
            <a:r>
              <a:rPr sz="2400" b="1">
                <a:solidFill>
                  <a:srgbClr val="111827"/>
                </a:solidFill>
              </a:rPr>
              <a:t>Charting the Course: Strategic Recommendations</a:t>
            </a:r>
          </a:p>
        </p:txBody>
      </p:sp>
      <p:sp>
        <p:nvSpPr>
          <p:cNvPr id="5" name="TextBox 4"/>
          <p:cNvSpPr txBox="1"/>
          <p:nvPr/>
        </p:nvSpPr>
        <p:spPr>
          <a:xfrm>
            <a:off x="640080" y="1143000"/>
            <a:ext cx="7955279" cy="457200"/>
          </a:xfrm>
          <a:prstGeom prst="rect">
            <a:avLst/>
          </a:prstGeom>
          <a:noFill/>
        </p:spPr>
        <p:txBody>
          <a:bodyPr wrap="none">
            <a:spAutoFit/>
          </a:bodyPr>
          <a:lstStyle/>
          <a:p>
            <a:r>
              <a:rPr sz="1200" b="1">
                <a:solidFill>
                  <a:srgbClr val="166534"/>
                </a:solidFill>
              </a:rPr>
              <a:t>Provide actionable recommendations for automotive stakeholders to navigate the transition to solid-state batteries.</a:t>
            </a:r>
          </a:p>
        </p:txBody>
      </p:sp>
      <p:sp>
        <p:nvSpPr>
          <p:cNvPr id="6" name="TextBox 5"/>
          <p:cNvSpPr txBox="1"/>
          <p:nvPr/>
        </p:nvSpPr>
        <p:spPr>
          <a:xfrm>
            <a:off x="685800" y="1600200"/>
            <a:ext cx="6583680" cy="1143000"/>
          </a:xfrm>
          <a:prstGeom prst="rect">
            <a:avLst/>
          </a:prstGeom>
          <a:noFill/>
        </p:spPr>
        <p:txBody>
          <a:bodyPr wrap="square">
            <a:normAutofit/>
          </a:bodyPr>
          <a:lstStyle/>
          <a:p>
            <a:r>
              <a:rPr sz="1400">
                <a:solidFill>
                  <a:srgbClr val="334155"/>
                </a:solidFill>
              </a:rPr>
              <a:t>To capitalize on the solid-state battery revolution, automotive stakeholders must adopt a proactive and strategic approach. This includes fostering key partnerships, investing in advanced manufacturing capabilities, and closely monitoring technological advancements and market dynamics. By understanding and addressing the inherent challenges, companies can position themselves for leadership in the next generation of electric vehicles.</a:t>
            </a:r>
          </a:p>
        </p:txBody>
      </p:sp>
      <p:sp>
        <p:nvSpPr>
          <p:cNvPr id="7" name="TextBox 6"/>
          <p:cNvSpPr txBox="1"/>
          <p:nvPr/>
        </p:nvSpPr>
        <p:spPr>
          <a:xfrm>
            <a:off x="731520" y="2788920"/>
            <a:ext cx="6217920" cy="2651760"/>
          </a:xfrm>
          <a:prstGeom prst="rect">
            <a:avLst/>
          </a:prstGeom>
          <a:noFill/>
        </p:spPr>
        <p:txBody>
          <a:bodyPr wrap="square">
            <a:normAutofit/>
          </a:bodyPr>
          <a:lstStyle/>
          <a:p>
            <a:pPr>
              <a:spcAft>
                <a:spcPts val="800"/>
              </a:spcAft>
              <a:defRPr sz="1600">
                <a:solidFill>
                  <a:srgbClr val="1F2937"/>
                </a:solidFill>
              </a:defRPr>
            </a:pPr>
            <a:r>
              <a:t>Prioritize strategic partnerships with SSB technology developers and manufacturers.</a:t>
            </a:r>
          </a:p>
          <a:p>
            <a:pPr>
              <a:spcAft>
                <a:spcPts val="800"/>
              </a:spcAft>
              <a:defRPr sz="1600">
                <a:solidFill>
                  <a:srgbClr val="1F2937"/>
                </a:solidFill>
              </a:defRPr>
            </a:pPr>
            <a:r>
              <a:t>Invest in pilot production lines to de-risk manufacturing scale-up.</a:t>
            </a:r>
          </a:p>
          <a:p>
            <a:pPr>
              <a:spcAft>
                <a:spcPts val="800"/>
              </a:spcAft>
              <a:defRPr sz="1600">
                <a:solidFill>
                  <a:srgbClr val="1F2937"/>
                </a:solidFill>
              </a:defRPr>
            </a:pPr>
            <a:r>
              <a:t>Develop a flexible supply chain strategy for next-generation battery materials.</a:t>
            </a:r>
          </a:p>
          <a:p>
            <a:pPr>
              <a:spcAft>
                <a:spcPts val="800"/>
              </a:spcAft>
              <a:defRPr sz="1600">
                <a:solidFill>
                  <a:srgbClr val="1F2937"/>
                </a:solidFill>
              </a:defRPr>
            </a:pPr>
            <a:r>
              <a:t>Continuously evaluate market readiness and consumer adoption trends.</a:t>
            </a:r>
          </a:p>
        </p:txBody>
      </p:sp>
      <p:sp>
        <p:nvSpPr>
          <p:cNvPr id="8" name="Rounded Rectangle 7"/>
          <p:cNvSpPr/>
          <p:nvPr/>
        </p:nvSpPr>
        <p:spPr>
          <a:xfrm>
            <a:off x="7178040" y="1417320"/>
            <a:ext cx="4206240" cy="33832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66534"/>
                </a:solidFill>
              </a:rPr>
              <a:t>Closing concept</a:t>
            </a:r>
          </a:p>
          <a:p>
            <a:pPr>
              <a:defRPr sz="1300">
                <a:solidFill>
                  <a:srgbClr val="334155"/>
                </a:solidFill>
              </a:defRPr>
            </a:pPr>
            <a:r>
              <a:t>A concluding slide with a strong call to action, summarizing key strategic imperatives and contact information.</a:t>
            </a:r>
          </a:p>
        </p:txBody>
      </p:sp>
      <p:sp>
        <p:nvSpPr>
          <p:cNvPr id="9" name="Rounded Rectangle 8"/>
          <p:cNvSpPr/>
          <p:nvPr/>
        </p:nvSpPr>
        <p:spPr>
          <a:xfrm>
            <a:off x="7178040" y="5074920"/>
            <a:ext cx="4206240" cy="868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66534"/>
                </a:solidFill>
              </a:rPr>
              <a:t>Speaker note</a:t>
            </a:r>
          </a:p>
          <a:p>
            <a:pPr>
              <a:defRPr sz="1050">
                <a:solidFill>
                  <a:srgbClr val="475569"/>
                </a:solidFill>
              </a:defRPr>
            </a:pPr>
            <a:r>
              <a:t>The future of EVs is being written with solid-state batteries. By acting decisively and strategically today, we can ensure our place at the forefront of this transformative technology. Thank you.</a:t>
            </a:r>
          </a:p>
        </p:txBody>
      </p:sp>
      <p:sp>
        <p:nvSpPr>
          <p:cNvPr id="10" name="TextBox 9"/>
          <p:cNvSpPr txBox="1"/>
          <p:nvPr/>
        </p:nvSpPr>
        <p:spPr>
          <a:xfrm>
            <a:off x="640080" y="6199632"/>
            <a:ext cx="10972800" cy="292608"/>
          </a:xfrm>
          <a:prstGeom prst="rect">
            <a:avLst/>
          </a:prstGeom>
          <a:noFill/>
        </p:spPr>
        <p:txBody>
          <a:bodyPr wrap="none">
            <a:spAutoFit/>
          </a:bodyPr>
          <a:lstStyle/>
          <a:p>
            <a:pPr algn="l"/>
            <a:r>
              <a:rPr sz="1000">
                <a:solidFill>
                  <a:srgbClr val="64748B"/>
                </a:solidFill>
              </a:rPr>
              <a:t>Slide 8  |  Evidence: reasoned synthesis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