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Untapped Potential of Sustainable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highlight the rapidly expanding market for sustainable coffee and the increasing consumer demand driving this growth.</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global coffee market is undergoing a significant shift towards sustainability, driven by conscious consumerism. In 2026, this trend is projected to accelerate, creating a substantial opportunity for businesses that prioritize ethical sourcing and environmental responsibility. Early movers in this space are poised to capture a growing segment of the market.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The sustainable coffee market is experiencing robust year-over-year growth.</a:t>
            </a:r>
          </a:p>
          <a:p>
            <a:pPr>
              <a:spcAft>
                <a:spcPts val="800"/>
              </a:spcAft>
              <a:defRPr sz="1600">
                <a:solidFill>
                  <a:srgbClr val="1F2937"/>
                </a:solidFill>
              </a:defRPr>
            </a:pPr>
            <a:r>
              <a:t>Consumers are increasingly prioritizing ethical and eco-friendly products.</a:t>
            </a:r>
          </a:p>
          <a:p>
            <a:pPr>
              <a:spcAft>
                <a:spcPts val="800"/>
              </a:spcAft>
              <a:defRPr sz="1600">
                <a:solidFill>
                  <a:srgbClr val="1F2937"/>
                </a:solidFill>
              </a:defRPr>
            </a:pPr>
            <a:r>
              <a:t>Subscription models offer a direct channel to this engaged consumer base.</a:t>
            </a:r>
          </a:p>
          <a:p>
            <a:pPr>
              <a:spcAft>
                <a:spcPts val="800"/>
              </a:spcAft>
              <a:defRPr sz="1600">
                <a:solidFill>
                  <a:srgbClr val="1F2937"/>
                </a:solidFill>
              </a:defRPr>
            </a:pPr>
            <a:r>
              <a:t>This presents a timely opportunity for strategic investment.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dynamic bar chart showing projected market growth for sustainable coffee from 2024-2026, with a clear upward trend. Include a callout for consumer preference shifts.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ORB-7c90a897, ORB-5a39225e</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ORB-7c90a897, ORB-5a39225e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 Recurring Revenue Advantage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how a loyalty-driven recurring revenue model provides financial stability and predictable growth.</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Subscription models inherently foster customer loyalty, transforming one-time purchases into predictable, recurring revenue streams. This model reduces customer acquisition costs over time and allows for more accurate financial forecasting. By focusing on customer retention and value, we build a resilient business with a strong foundation for long-term profitability.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Subscription models create predictable monthly or annual revenue.</a:t>
            </a:r>
          </a:p>
          <a:p>
            <a:pPr>
              <a:spcAft>
                <a:spcPts val="800"/>
              </a:spcAft>
              <a:defRPr sz="1600">
                <a:solidFill>
                  <a:srgbClr val="1F2937"/>
                </a:solidFill>
              </a:defRPr>
            </a:pPr>
            <a:r>
              <a:t>Customer loyalty significantly reduces churn and acquisition costs.</a:t>
            </a:r>
          </a:p>
          <a:p>
            <a:pPr>
              <a:spcAft>
                <a:spcPts val="800"/>
              </a:spcAft>
              <a:defRPr sz="1600">
                <a:solidFill>
                  <a:srgbClr val="1F2937"/>
                </a:solidFill>
              </a:defRPr>
            </a:pPr>
            <a:r>
              <a:t>Higher lifetime customer value translates to greater profitability.</a:t>
            </a:r>
          </a:p>
          <a:p>
            <a:pPr>
              <a:spcAft>
                <a:spcPts val="800"/>
              </a:spcAft>
              <a:defRPr sz="1600">
                <a:solidFill>
                  <a:srgbClr val="1F2937"/>
                </a:solidFill>
              </a:defRPr>
            </a:pPr>
            <a:r>
              <a:t>This model offers a stable and scalable financial framework.</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circular flow diagram illustrating the customer lifecycle in a subscription model: acquisition -&gt; engagement -&gt; retention -&gt; increased lifetime value -&gt; repeat acquisition.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ORB-19f8a133, ORB-8fe2e183</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ORB-19f8a133, ORB-8fe2e183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AI-Optimized Logistics: Efficiency and Sustainability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how AI enhances delivery route efficiency, reducing costs and environmental impact.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Implementing AI-powered route optimization is a game-changer for subscription services. These advanced algorithms analyze real-time data to create the most efficient delivery paths, minimizing fuel consumption and delivery times. This not only cuts operational costs but also significantly reduces our carbon footprint, aligning with our sustainability mission.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AI algorithms optimize delivery routes for maximum efficiency.</a:t>
            </a:r>
          </a:p>
          <a:p>
            <a:pPr>
              <a:spcAft>
                <a:spcPts val="800"/>
              </a:spcAft>
              <a:defRPr sz="1600">
                <a:solidFill>
                  <a:srgbClr val="1F2937"/>
                </a:solidFill>
              </a:defRPr>
            </a:pPr>
            <a:r>
              <a:t>Reduced mileage leads to lower fuel costs and emissions.</a:t>
            </a:r>
          </a:p>
          <a:p>
            <a:pPr>
              <a:spcAft>
                <a:spcPts val="800"/>
              </a:spcAft>
              <a:defRPr sz="1600">
                <a:solidFill>
                  <a:srgbClr val="1F2937"/>
                </a:solidFill>
              </a:defRPr>
            </a:pPr>
            <a:r>
              <a:t>Predictive analytics improve delivery time accuracy.</a:t>
            </a:r>
          </a:p>
          <a:p>
            <a:pPr>
              <a:spcAft>
                <a:spcPts val="800"/>
              </a:spcAft>
              <a:defRPr sz="1600">
                <a:solidFill>
                  <a:srgbClr val="1F2937"/>
                </a:solidFill>
              </a:defRPr>
            </a:pPr>
            <a:r>
              <a:t>Enhanced operational efficiency directly impacts the bottom line.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An infographic showing a comparison between traditional delivery routes and AI-optimized routes, highlighting reduced distance, time, and CO2 emissions. Include icons representing data inputs and AI processing.</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ORB-10f68860, ORB-1efe564c</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ORB-10f68860, ORB-1efe564c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Compostable Packaging: ROI and Brand Value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the return on investment and brand enhancement derived from adopting compostable packaging.</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Transitioning to compostable packaging is more than an environmental commitment; it's a strategic business decision. It resonates deeply with our target demographic, enhancing brand loyalty and attracting new customers who value eco-conscious practices. Furthermore, advancements in material science are making these solutions increasingly cost-effective and scalable, offering a clear ROI.</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Compostable packaging aligns with consumer demand for eco-friendly products.</a:t>
            </a:r>
          </a:p>
          <a:p>
            <a:pPr>
              <a:spcAft>
                <a:spcPts val="800"/>
              </a:spcAft>
              <a:defRPr sz="1600">
                <a:solidFill>
                  <a:srgbClr val="1F2937"/>
                </a:solidFill>
              </a:defRPr>
            </a:pPr>
            <a:r>
              <a:t>It enhances brand perception and customer loyalty.</a:t>
            </a:r>
          </a:p>
          <a:p>
            <a:pPr>
              <a:spcAft>
                <a:spcPts val="800"/>
              </a:spcAft>
              <a:defRPr sz="1600">
                <a:solidFill>
                  <a:srgbClr val="1F2937"/>
                </a:solidFill>
              </a:defRPr>
            </a:pPr>
            <a:r>
              <a:t>Material innovation is driving down costs and improving scalability.</a:t>
            </a:r>
          </a:p>
          <a:p>
            <a:pPr>
              <a:spcAft>
                <a:spcPts val="800"/>
              </a:spcAft>
              <a:defRPr sz="1600">
                <a:solidFill>
                  <a:srgbClr val="1F2937"/>
                </a:solidFill>
              </a:defRPr>
            </a:pPr>
            <a:r>
              <a:t>This investment strengthens our market position and reduces waste.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visual comparison of traditional packaging versus advanced compostable packaging, highlighting environmental benefits (biodegradability, reduced waste) and consumer appeal (eco-friendly branding).</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ORB-5dae41b1</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ORB-5dae41b1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Synergy: Loyalty Meets Advanced Technology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illustrate how the combination of loyalty programs and technological advancements creates a competitive moat.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strategy is built on the powerful synergy between a loyal customer base and cutting-edge technology. The recurring revenue from loyal subscribers provides a stable financial base, while AI-driven logistics and sustainable packaging enhance operational efficiency and brand value. This integrated approach creates a virtuous cycle, driving growth and profitability while minimizing risk.</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Loyalty ensures consistent revenue, funding technological investment.</a:t>
            </a:r>
          </a:p>
          <a:p>
            <a:pPr>
              <a:spcAft>
                <a:spcPts val="800"/>
              </a:spcAft>
              <a:defRPr sz="1600">
                <a:solidFill>
                  <a:srgbClr val="1F2937"/>
                </a:solidFill>
              </a:defRPr>
            </a:pPr>
            <a:r>
              <a:t>AI optimizes operations, improving margins and customer experience.</a:t>
            </a:r>
          </a:p>
          <a:p>
            <a:pPr>
              <a:spcAft>
                <a:spcPts val="800"/>
              </a:spcAft>
              <a:defRPr sz="1600">
                <a:solidFill>
                  <a:srgbClr val="1F2937"/>
                </a:solidFill>
              </a:defRPr>
            </a:pPr>
            <a:r>
              <a:t>Sustainable packaging enhances brand appeal and market differentiation.</a:t>
            </a:r>
          </a:p>
          <a:p>
            <a:pPr>
              <a:spcAft>
                <a:spcPts val="800"/>
              </a:spcAft>
              <a:defRPr sz="1600">
                <a:solidFill>
                  <a:srgbClr val="1F2937"/>
                </a:solidFill>
              </a:defRPr>
            </a:pPr>
            <a:r>
              <a:t>This integrated model creates a strong, defensible market position.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diagram showing how customer loyalty feeds into technological investment, which in turn enhances the customer experience and strengthens loyalty, creating a positive feedback loop.</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ORB-19f8a133, ORB-10f68860, ORB-5dae41b1</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ORB-19f8a133, ORB-10f68860, ORB-5dae41b1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Addressing Market Risks and Competition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proactively address potential market saturation and competitive challenges.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We acknowledge the competitive landscape and the potential for market saturation. However, our focus on a niche market – sustainable coffee – combined with our unique technological advantages and strong loyalty model, positions us favorably. By continuously innovating and prioritizing customer value, we can effectively navigate competition and maintain market leadership.</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Our niche focus on sustainability differentiates us from broader competitors.</a:t>
            </a:r>
          </a:p>
          <a:p>
            <a:pPr>
              <a:spcAft>
                <a:spcPts val="800"/>
              </a:spcAft>
              <a:defRPr sz="1600">
                <a:solidFill>
                  <a:srgbClr val="1F2937"/>
                </a:solidFill>
              </a:defRPr>
            </a:pPr>
            <a:r>
              <a:t>Loyalty programs create a sticky customer base, reducing churn.</a:t>
            </a:r>
          </a:p>
          <a:p>
            <a:pPr>
              <a:spcAft>
                <a:spcPts val="800"/>
              </a:spcAft>
              <a:defRPr sz="1600">
                <a:solidFill>
                  <a:srgbClr val="1F2937"/>
                </a:solidFill>
              </a:defRPr>
            </a:pPr>
            <a:r>
              <a:t>Continuous innovation in technology and product offerings keeps us ahead.</a:t>
            </a:r>
          </a:p>
          <a:p>
            <a:pPr>
              <a:spcAft>
                <a:spcPts val="800"/>
              </a:spcAft>
              <a:defRPr sz="1600">
                <a:solidFill>
                  <a:srgbClr val="1F2937"/>
                </a:solidFill>
              </a:defRPr>
            </a:pPr>
            <a:r>
              <a:t>Strategic partnerships can further solidify our market position.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SWOT analysis graphic, with a particular emphasis on Strengths (loyalty, tech) and Opportunities (market growth, conscious consumerism), while acknowledging Weaknesses (potential saturation) and Threats (competition).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ORB-a131c70a</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ORB-a131c70a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Scalability and Consumer Price Sensitivity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the scalability of our model and address concerns about consumer price sensitivity.</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Our AI-optimized logistics and efficient sourcing strategies are designed for scalability, allowing us to grow without a proportional increase in costs. While price sensitivity is a factor, the premium value derived from our sustainable sourcing, superior quality, and convenient subscription service justifies the price point for our target audience. We offer a compelling value proposition that extends beyond just the cost of coffee.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Scalable infrastructure supports significant growth.</a:t>
            </a:r>
          </a:p>
          <a:p>
            <a:pPr>
              <a:spcAft>
                <a:spcPts val="800"/>
              </a:spcAft>
              <a:defRPr sz="1600">
                <a:solidFill>
                  <a:srgbClr val="1F2937"/>
                </a:solidFill>
              </a:defRPr>
            </a:pPr>
            <a:r>
              <a:t>Operational efficiencies from AI mitigate cost increases.</a:t>
            </a:r>
          </a:p>
          <a:p>
            <a:pPr>
              <a:spcAft>
                <a:spcPts val="800"/>
              </a:spcAft>
              <a:defRPr sz="1600">
                <a:solidFill>
                  <a:srgbClr val="1F2937"/>
                </a:solidFill>
              </a:defRPr>
            </a:pPr>
            <a:r>
              <a:t>Value proposition includes quality, convenience, and ethical sourcing.</a:t>
            </a:r>
          </a:p>
          <a:p>
            <a:pPr>
              <a:spcAft>
                <a:spcPts val="800"/>
              </a:spcAft>
              <a:defRPr sz="1600">
                <a:solidFill>
                  <a:srgbClr val="1F2937"/>
                </a:solidFill>
              </a:defRPr>
            </a:pPr>
            <a:r>
              <a:t>Targeted marketing reaches consumers willing to pay for premium, sustainable products.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line graph showing projected cost reduction per unit as volume increases, demonstrating scalability. Alongside, a pie chart illustrating the components of perceived value for the target consumer (quality, sustainability, convenience, price).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ORB-10f68860, ORB-19f8a133</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ORB-10f68860, ORB-19f8a133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Invest in the Future of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summarize the investment opportunity and call for partnership.</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sustainable coffee subscription market represents a significant, high-growth investment opportunity. Our proven loyalty-driven recurring revenue model, enhanced by AI-optimized logistics and eco-friendly packaging, creates a robust and resilient business. We are confident in our ability to capture market share and deliver strong returns, offering a chance to invest in a profitable and ethically sound future.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Strong market growth in sustainable coffee.</a:t>
            </a:r>
          </a:p>
          <a:p>
            <a:pPr>
              <a:spcAft>
                <a:spcPts val="800"/>
              </a:spcAft>
              <a:defRPr sz="1600">
                <a:solidFill>
                  <a:srgbClr val="1F2937"/>
                </a:solidFill>
              </a:defRPr>
            </a:pPr>
            <a:r>
              <a:t>Predictable recurring revenue model ensures stability.</a:t>
            </a:r>
          </a:p>
          <a:p>
            <a:pPr>
              <a:spcAft>
                <a:spcPts val="800"/>
              </a:spcAft>
              <a:defRPr sz="1600">
                <a:solidFill>
                  <a:srgbClr val="1F2937"/>
                </a:solidFill>
              </a:defRPr>
            </a:pPr>
            <a:r>
              <a:t>Technological advantages drive efficiency and brand value.</a:t>
            </a:r>
          </a:p>
          <a:p>
            <a:pPr>
              <a:spcAft>
                <a:spcPts val="800"/>
              </a:spcAft>
              <a:defRPr sz="1600">
                <a:solidFill>
                  <a:srgbClr val="1F2937"/>
                </a:solidFill>
              </a:defRPr>
            </a:pPr>
            <a:r>
              <a:t>Manageable risks and clear path to profitability.</a:t>
            </a:r>
          </a:p>
          <a:p>
            <a:pPr>
              <a:spcAft>
                <a:spcPts val="800"/>
              </a:spcAft>
              <a:defRPr sz="1600">
                <a:solidFill>
                  <a:srgbClr val="1F2937"/>
                </a:solidFill>
              </a:defRPr>
            </a:pPr>
            <a:r>
              <a:t>Join us in shaping the future of the coffee industry.</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compelling image of a perfectly brewed cup of coffee with sustainable packaging elements, overlaid with key investment highlights and a clear call to action. Include contact information.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ORB-7c90a897, ORB-19f8a133, ORB-10f68860</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ORB-7c90a897, ORB-19f8a133, ORB-10f68860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