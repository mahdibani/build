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Evolving Coffee Landscape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set the stage by highlighting the convergence of consumer demand for sustainability and the rise of subscription models.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coffee industry is undergoing a significant transformation, driven by two powerful trends: a growing consumer consciousness around sustainability and the increasing adoption of subscription-based services. This presents a unique opportunity for businesses that can effectively integrate these two forces.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Increasing consumer demand for ethically sourced and environmentally friendly products.</a:t>
            </a:r>
          </a:p>
          <a:p>
            <a:pPr>
              <a:spcAft>
                <a:spcPts val="800"/>
              </a:spcAft>
              <a:defRPr sz="1600">
                <a:solidFill>
                  <a:srgbClr val="1F2937"/>
                </a:solidFill>
              </a:defRPr>
            </a:pPr>
            <a:r>
              <a:t>The widespread adoption of subscription models across various consumer goods sectors.</a:t>
            </a:r>
          </a:p>
          <a:p>
            <a:pPr>
              <a:spcAft>
                <a:spcPts val="800"/>
              </a:spcAft>
              <a:defRPr sz="1600">
                <a:solidFill>
                  <a:srgbClr val="1F2937"/>
                </a:solidFill>
              </a:defRPr>
            </a:pPr>
            <a:r>
              <a:t>The intersection of these trends creates a fertile ground for innovative business strategies.</a:t>
            </a:r>
          </a:p>
          <a:p>
            <a:pPr>
              <a:spcAft>
                <a:spcPts val="800"/>
              </a:spcAft>
              <a:defRPr sz="1600">
                <a:solidFill>
                  <a:srgbClr val="1F2937"/>
                </a:solidFill>
              </a:defRPr>
            </a:pPr>
            <a:r>
              <a:t>Understanding this market shift is crucial for future growth.</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visually striking image that blends elements of nature (e.g., coffee beans, lush greenery) with modern subscription se</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Consumer Demand for Sustainability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underscore the significant and growing consumer preference for sustainable products.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Consumers are increasingly making purchasing decisions based on a brand's commitment to sustainability. This isn't just a niche trend; it's a mainstream expectation that influences brand loyalty and willingness to pay a premium.</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 majority of consumers actively seek out sustainable brands.</a:t>
            </a:r>
          </a:p>
          <a:p>
            <a:pPr>
              <a:spcAft>
                <a:spcPts val="800"/>
              </a:spcAft>
              <a:defRPr sz="1600">
                <a:solidFill>
                  <a:srgbClr val="1F2937"/>
                </a:solidFill>
              </a:defRPr>
            </a:pPr>
            <a:r>
              <a:t>Sustainability is a key differentiator in a crowded marketplace.</a:t>
            </a:r>
          </a:p>
          <a:p>
            <a:pPr>
              <a:spcAft>
                <a:spcPts val="800"/>
              </a:spcAft>
              <a:defRPr sz="1600">
                <a:solidFill>
                  <a:srgbClr val="1F2937"/>
                </a:solidFill>
              </a:defRPr>
            </a:pPr>
            <a:r>
              <a:t>Consumers are willing to pay more for products that align with their values.</a:t>
            </a:r>
          </a:p>
          <a:p>
            <a:pPr>
              <a:spcAft>
                <a:spcPts val="800"/>
              </a:spcAft>
              <a:defRPr sz="1600">
                <a:solidFill>
                  <a:srgbClr val="1F2937"/>
                </a:solidFill>
              </a:defRPr>
            </a:pPr>
            <a:r>
              <a:t>This trend is projected to accelerate in the coming years.</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bar chart illustrating the percentage of consumers who prioritize sustainability when making purchasing decisions, wit</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reasoned 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Loyalty-Driven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how subscription models foster deep customer loyalty and predictable revenue streams.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Subscription models are inherently designed to build loyalty by providing consistent value and convenience. This creates a predictable, recurring revenue stream that is far more stable and profitable than traditional transactional sales.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Subscription services offer convenience and curated experiences.</a:t>
            </a:r>
          </a:p>
          <a:p>
            <a:pPr>
              <a:spcAft>
                <a:spcPts val="800"/>
              </a:spcAft>
              <a:defRPr sz="1600">
                <a:solidFill>
                  <a:srgbClr val="1F2937"/>
                </a:solidFill>
              </a:defRPr>
            </a:pPr>
            <a:r>
              <a:t>Regular engagement builds stronger customer relationships and loyalty.</a:t>
            </a:r>
          </a:p>
          <a:p>
            <a:pPr>
              <a:spcAft>
                <a:spcPts val="800"/>
              </a:spcAft>
              <a:defRPr sz="1600">
                <a:solidFill>
                  <a:srgbClr val="1F2937"/>
                </a:solidFill>
              </a:defRPr>
            </a:pPr>
            <a:r>
              <a:t>Recurring revenue provides predictable cash flow and reduces market volatility.</a:t>
            </a:r>
          </a:p>
          <a:p>
            <a:pPr>
              <a:spcAft>
                <a:spcPts val="800"/>
              </a:spcAft>
              <a:defRPr sz="1600">
                <a:solidFill>
                  <a:srgbClr val="1F2937"/>
                </a:solidFill>
              </a:defRPr>
            </a:pPr>
            <a:r>
              <a:t>Loyal customers have a higher lifetime value.</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circular flow diagram showing how subscription sign-up leads to consistent delivery, customer satisfaction, repeat pur</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ORB-975165ce, ORB-15c2e7c7</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ORB-975165ce, ORB-15c2e7c7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Sustainable Coffee Subscriptions: A Synergistic Model</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illustrate how combining sustainability with subscription models creates a compelling value proposition.</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By integrating sustainable sourcing and ethical practices into a convenient subscription service, businesses can capture a growing segment of the market. This synergy appeals to the conscious consumer while providing the predictable revenue that businesses crave.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Offers a curated selection of high-quality, ethically sourced coffee.</a:t>
            </a:r>
          </a:p>
          <a:p>
            <a:pPr>
              <a:spcAft>
                <a:spcPts val="800"/>
              </a:spcAft>
              <a:defRPr sz="1600">
                <a:solidFill>
                  <a:srgbClr val="1F2937"/>
                </a:solidFill>
              </a:defRPr>
            </a:pPr>
            <a:r>
              <a:t>Provides convenience through regular, automated deliveries.</a:t>
            </a:r>
          </a:p>
          <a:p>
            <a:pPr>
              <a:spcAft>
                <a:spcPts val="800"/>
              </a:spcAft>
              <a:defRPr sz="1600">
                <a:solidFill>
                  <a:srgbClr val="1F2937"/>
                </a:solidFill>
              </a:defRPr>
            </a:pPr>
            <a:r>
              <a:t>Builds a community around shared values of sustainability and quality.</a:t>
            </a:r>
          </a:p>
          <a:p>
            <a:pPr>
              <a:spcAft>
                <a:spcPts val="800"/>
              </a:spcAft>
              <a:defRPr sz="1600">
                <a:solidFill>
                  <a:srgbClr val="1F2937"/>
                </a:solidFill>
              </a:defRPr>
            </a:pPr>
            <a:r>
              <a:t>Creates a strong competitive advantage in the premium coffee market.</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An architectural diagram showing the core components: Sustainable Sourcing (ethical farms, eco-friendly packaging) feedi</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ORB-db61399e</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ORB-db61399e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Projected 2026 Market Growth</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provide an outlook on the anticipated market expansion for sustainable coffee subscriptions.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While specific 2026 projections are still emerging, the underlying trends strongly indicate significant growth. The increasing consumer preference for both sustainability and subscription services points to a robust expansion in this niche.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The sustainable goods market is experiencing exponential growth.</a:t>
            </a:r>
          </a:p>
          <a:p>
            <a:pPr>
              <a:spcAft>
                <a:spcPts val="800"/>
              </a:spcAft>
              <a:defRPr sz="1600">
                <a:solidFill>
                  <a:srgbClr val="1F2937"/>
                </a:solidFill>
              </a:defRPr>
            </a:pPr>
            <a:r>
              <a:t>Subscription e-commerce continues its upward trajectory.</a:t>
            </a:r>
          </a:p>
          <a:p>
            <a:pPr>
              <a:spcAft>
                <a:spcPts val="800"/>
              </a:spcAft>
              <a:defRPr sz="1600">
                <a:solidFill>
                  <a:srgbClr val="1F2937"/>
                </a:solidFill>
              </a:defRPr>
            </a:pPr>
            <a:r>
              <a:t>The convergence of these markets is poised for substantial expansion by 2026.</a:t>
            </a:r>
          </a:p>
          <a:p>
            <a:pPr>
              <a:spcAft>
                <a:spcPts val="800"/>
              </a:spcAft>
              <a:defRPr sz="1600">
                <a:solidFill>
                  <a:srgbClr val="1F2937"/>
                </a:solidFill>
              </a:defRPr>
            </a:pPr>
            <a:r>
              <a:t>Early movers will capture significant market share.</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projected growth chart for the sustainable coffee subscription market from 2024-2026, showing a steep upward curve. (N</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ORB-872f7835</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ORB-872f7835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Quantifying the ROI of Loyalty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measurable business value derived from customer loyalty in subscription models.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Loyalty in subscription services translates directly into tangible business benefits. Increased customer lifetime value, reduced churn, and higher average order values all contribute to a strong return on investment for businesses that prioritize customer retention.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Loyal customers are less price-sensitive and more likely to upgrade.</a:t>
            </a:r>
          </a:p>
          <a:p>
            <a:pPr>
              <a:spcAft>
                <a:spcPts val="800"/>
              </a:spcAft>
              <a:defRPr sz="1600">
                <a:solidFill>
                  <a:srgbClr val="1F2937"/>
                </a:solidFill>
              </a:defRPr>
            </a:pPr>
            <a:r>
              <a:t>Reduced churn significantly lowers customer acquisition costs.</a:t>
            </a:r>
          </a:p>
          <a:p>
            <a:pPr>
              <a:spcAft>
                <a:spcPts val="800"/>
              </a:spcAft>
              <a:defRPr sz="1600">
                <a:solidFill>
                  <a:srgbClr val="1F2937"/>
                </a:solidFill>
              </a:defRPr>
            </a:pPr>
            <a:r>
              <a:t>Higher lifetime value per customer drives overall profitability.</a:t>
            </a:r>
          </a:p>
          <a:p>
            <a:pPr>
              <a:spcAft>
                <a:spcPts val="800"/>
              </a:spcAft>
              <a:defRPr sz="1600">
                <a:solidFill>
                  <a:srgbClr val="1F2937"/>
                </a:solidFill>
              </a:defRPr>
            </a:pPr>
            <a:r>
              <a:t>Advocacy from loyal customers provides powerful, low-cost marketing.</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comparison table showing key metrics for loyal vs. non-loyal subscription customers (e.g., Average Order Value, Purcha</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ORB-cee9d362, ORB-15c2e7c7</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ORB-cee9d362, ORB-15c2e7c7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Navigating Challenges for 2026 Growth</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address potential challenges such as cost, freshness, and scalability, and propose strategic solutions.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While the outlook is positive, businesses must proactively address potential hurdles. Optimizing supply chains for freshness, managing operational costs, and ensuring scalable infrastructure are critical for sustained success in the competitive subscription market.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Maintaining coffee freshness requires efficient logistics and packaging.</a:t>
            </a:r>
          </a:p>
          <a:p>
            <a:pPr>
              <a:spcAft>
                <a:spcPts val="800"/>
              </a:spcAft>
              <a:defRPr sz="1600">
                <a:solidFill>
                  <a:srgbClr val="1F2937"/>
                </a:solidFill>
              </a:defRPr>
            </a:pPr>
            <a:r>
              <a:t>Sourcing sustainable materials can impact initial costs.</a:t>
            </a:r>
          </a:p>
          <a:p>
            <a:pPr>
              <a:spcAft>
                <a:spcPts val="800"/>
              </a:spcAft>
              <a:defRPr sz="1600">
                <a:solidFill>
                  <a:srgbClr val="1F2937"/>
                </a:solidFill>
              </a:defRPr>
            </a:pPr>
            <a:r>
              <a:t>Scaling operations to meet demand requires robust infrastructure.</a:t>
            </a:r>
          </a:p>
          <a:p>
            <a:pPr>
              <a:spcAft>
                <a:spcPts val="800"/>
              </a:spcAft>
              <a:defRPr sz="1600">
                <a:solidFill>
                  <a:srgbClr val="1F2937"/>
                </a:solidFill>
              </a:defRPr>
            </a:pPr>
            <a:r>
              <a:t>Strategic partnerships and technology can mitigate these challenges.</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two-column layout contrasting 'Challenges' (e.g., Cost, Freshness, Scalability) with 'Strategic Solutions' (e.g., Supp</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Future is Sustainable and Subscribed</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conclude with a confident call to action, emphasizing the strategic imperative of embracing sustainable coffee subscriptions.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convergence of sustainability and subscription models represents a significant business opportunity for 2026. By focusing on loyalty-driven recurring revenue and strategically navigating potential challenges, companies can position themselves for substantial growth and market leadership.</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Embrace sustainability as a core business value.</a:t>
            </a:r>
          </a:p>
          <a:p>
            <a:pPr>
              <a:spcAft>
                <a:spcPts val="800"/>
              </a:spcAft>
              <a:defRPr sz="1600">
                <a:solidFill>
                  <a:srgbClr val="1F2937"/>
                </a:solidFill>
              </a:defRPr>
            </a:pPr>
            <a:r>
              <a:t>Leverage subscription models to build lasting customer loyalty.</a:t>
            </a:r>
          </a:p>
          <a:p>
            <a:pPr>
              <a:spcAft>
                <a:spcPts val="800"/>
              </a:spcAft>
              <a:defRPr sz="1600">
                <a:solidFill>
                  <a:srgbClr val="1F2937"/>
                </a:solidFill>
              </a:defRPr>
            </a:pPr>
            <a:r>
              <a:t>Prioritize recurring revenue for predictable and profitable growth.</a:t>
            </a:r>
          </a:p>
          <a:p>
            <a:pPr>
              <a:spcAft>
                <a:spcPts val="800"/>
              </a:spcAft>
              <a:defRPr sz="1600">
                <a:solidFill>
                  <a:srgbClr val="1F2937"/>
                </a:solidFill>
              </a:defRPr>
            </a:pPr>
            <a:r>
              <a:t>The time to invest in this future is now.</a:t>
            </a:r>
          </a:p>
        </p:txBody>
      </p:sp>
      <p:pic>
        <p:nvPicPr>
          <p:cNvPr id="12" name="Picture 11" descr="image.jpg"/>
          <p:cNvPicPr>
            <a:picLocks noChangeAspect="1"/>
          </p:cNvPicPr>
          <p:nvPr/>
        </p:nvPicPr>
        <p:blipFill>
          <a:blip r:embed="rId3"/>
          <a:stretch>
            <a:fillRect/>
          </a:stretch>
        </p:blipFill>
        <p:spPr>
          <a:xfrm>
            <a:off x="7086600" y="1097280"/>
            <a:ext cx="4526280" cy="4526280"/>
          </a:xfrm>
          <a:prstGeom prst="rect">
            <a:avLst/>
          </a:prstGeom>
        </p:spPr>
      </p:pic>
      <p:sp>
        <p:nvSpPr>
          <p:cNvPr id="13" name="Rounded Rectangle 12"/>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An inspiring image of a person enjoying a cup of coffee in a natural, serene setting, with subtle branding elements of a</a:t>
            </a:r>
          </a:p>
        </p:txBody>
      </p:sp>
      <p:sp>
        <p:nvSpPr>
          <p:cNvPr id="14" name="Rounded Rectangle 13"/>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ORB-45932bd6</a:t>
            </a:r>
          </a:p>
        </p:txBody>
      </p:sp>
      <p:sp>
        <p:nvSpPr>
          <p:cNvPr id="15" name="TextBox 14"/>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ORB-45932bd6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