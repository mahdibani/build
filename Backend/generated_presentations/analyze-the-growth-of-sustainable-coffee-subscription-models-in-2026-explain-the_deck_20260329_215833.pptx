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01</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800" b="1">
                <a:solidFill>
                  <a:srgbClr val="0F172A"/>
                </a:solidFill>
              </a:rPr>
              <a:t>The Evolving Coffee Landscape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establish the growing market demand for sustainable products and resilient business models.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consumer landscape is rapidly shifting towards conscious consumption. There's a clear and increasing demand for products that align with ethical and environmental values. Subscription models, offering convenience and predictability, are perfectly positioned to meet this demand, creating a powerful synergy for growth.</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Growing consumer preference for sustainable and ethically sourced products.</a:t>
            </a:r>
          </a:p>
          <a:p>
            <a:pPr>
              <a:spcAft>
                <a:spcPts val="800"/>
              </a:spcAft>
              <a:defRPr sz="1600">
                <a:solidFill>
                  <a:srgbClr val="1F2937"/>
                </a:solidFill>
              </a:defRPr>
            </a:pPr>
            <a:r>
              <a:t>Increased adoption of subscription services across various industries.</a:t>
            </a:r>
          </a:p>
          <a:p>
            <a:pPr>
              <a:spcAft>
                <a:spcPts val="800"/>
              </a:spcAft>
              <a:defRPr sz="1600">
                <a:solidFill>
                  <a:srgbClr val="1F2937"/>
                </a:solidFill>
              </a:defRPr>
            </a:pPr>
            <a:r>
              <a:t>The intersection of these trends presents a significant market opportunity.</a:t>
            </a:r>
          </a:p>
          <a:p>
            <a:pPr>
              <a:spcAft>
                <a:spcPts val="800"/>
              </a:spcAft>
              <a:defRPr sz="1600">
                <a:solidFill>
                  <a:srgbClr val="1F2937"/>
                </a:solidFill>
              </a:defRPr>
            </a:pPr>
            <a:r>
              <a:t>Resilient business models are favored in dynamic economic conditions.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Title concept</a:t>
            </a:r>
          </a:p>
          <a:p>
            <a:pPr>
              <a:defRPr sz="1400">
                <a:solidFill>
                  <a:srgbClr val="334155"/>
                </a:solidFill>
              </a:defRPr>
            </a:pPr>
            <a:r>
              <a:t>A visually appealing title slide with a background image of high-quality coffee beans and subtle green accents.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02</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Market Opportunity: Sustainable Coffee Subscriptions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quantify the projected market growth for sustainable coffee subscriptions in 2026.</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market for sustainable coffee subscriptions is experiencing robust expansion, driven by conscious consumerism and the inherent stability of recurring revenue models. Projections indicate a significant upward trend in 2026, making this a prime sector for investment.</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Anticipated substantial market growth in the sustainable coffee sector for 2026.</a:t>
            </a:r>
          </a:p>
          <a:p>
            <a:pPr>
              <a:spcAft>
                <a:spcPts val="800"/>
              </a:spcAft>
              <a:defRPr sz="1600">
                <a:solidFill>
                  <a:srgbClr val="1F2937"/>
                </a:solidFill>
              </a:defRPr>
            </a:pPr>
            <a:r>
              <a:t>Subscription models offer predictable revenue streams and customer loyalty.</a:t>
            </a:r>
          </a:p>
          <a:p>
            <a:pPr>
              <a:spcAft>
                <a:spcPts val="800"/>
              </a:spcAft>
              <a:defRPr sz="1600">
                <a:solidFill>
                  <a:srgbClr val="1F2937"/>
                </a:solidFill>
              </a:defRPr>
            </a:pPr>
            <a:r>
              <a:t>Consumers are actively seeking brands that align with their environmental values.</a:t>
            </a:r>
          </a:p>
          <a:p>
            <a:pPr>
              <a:spcAft>
                <a:spcPts val="800"/>
              </a:spcAft>
              <a:defRPr sz="1600">
                <a:solidFill>
                  <a:srgbClr val="1F2937"/>
                </a:solidFill>
              </a:defRPr>
            </a:pPr>
            <a:r>
              <a:t>This convergence creates a fertile ground for scalable business ventures.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bar chart illustrating projected market growth for sustainable coffee subscriptions in 2026, with a clear upward trend line.</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ORB-6157208e, ORB-c3968c28, ORB-c4cdac58</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ORB-6157208e, ORB-c3968c28, ORB-c4cdac58, ORB-7c90a897, ORB-5a39225e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03</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Power of Loyalty-Driven Recurring Revenue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explain the business value and stability offered by loyalty-driven recurring revenue models.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Loyalty-driven recurring revenue is the bedrock of a stable and predictable business. By fostering deep customer relationships and providing consistent value, these models ensure repeat purchases and reduce churn. This translates directly into predictable cash flow and a higher valuation for the business.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Recurring revenue provides predictable income streams, reducing financial volatility.</a:t>
            </a:r>
          </a:p>
          <a:p>
            <a:pPr>
              <a:spcAft>
                <a:spcPts val="800"/>
              </a:spcAft>
              <a:defRPr sz="1600">
                <a:solidFill>
                  <a:srgbClr val="1F2937"/>
                </a:solidFill>
              </a:defRPr>
            </a:pPr>
            <a:r>
              <a:t>Loyalty programs and consistent quality build strong customer retention.</a:t>
            </a:r>
          </a:p>
          <a:p>
            <a:pPr>
              <a:spcAft>
                <a:spcPts val="800"/>
              </a:spcAft>
              <a:defRPr sz="1600">
                <a:solidFill>
                  <a:srgbClr val="1F2937"/>
                </a:solidFill>
              </a:defRPr>
            </a:pPr>
            <a:r>
              <a:t>Reduced customer acquisition costs compared to one-off sales.</a:t>
            </a:r>
          </a:p>
          <a:p>
            <a:pPr>
              <a:spcAft>
                <a:spcPts val="800"/>
              </a:spcAft>
              <a:defRPr sz="1600">
                <a:solidFill>
                  <a:srgbClr val="1F2937"/>
                </a:solidFill>
              </a:defRPr>
            </a:pPr>
            <a:r>
              <a:t>Higher lifetime customer value significantly boosts profitability.</a:t>
            </a:r>
          </a:p>
          <a:p>
            <a:pPr>
              <a:spcAft>
                <a:spcPts val="800"/>
              </a:spcAft>
              <a:defRPr sz="1600">
                <a:solidFill>
                  <a:srgbClr val="1F2937"/>
                </a:solidFill>
              </a:defRPr>
            </a:pPr>
            <a:r>
              <a:t>This model offers a resilient foundation against market fluctuations.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flowchart illustrating the cycle of customer loyalty leading to recurring revenue, highlighting benefits like reduced churn and increased LTV.</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ORB-522ecf5c, ORB-52617b4c, ORB-19f8a133</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ORB-522ecf5c, ORB-52617b4c, ORB-19f8a133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04</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Technical Innovation: AI-Optimized Logistics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showcase how AI enhances operational efficiency and reduces delivery costs.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Artificial Intelligence is revolutionizing logistics for subscription services. By optimizing delivery routes, AI significantly cuts down on fuel consumption, driver time, and overall operational expenses. This technological advancement directly contributes to a healthier bottom line and a more sustainable operation.</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AI algorithms dynamically optimize delivery routes for maximum efficiency.</a:t>
            </a:r>
          </a:p>
          <a:p>
            <a:pPr>
              <a:spcAft>
                <a:spcPts val="800"/>
              </a:spcAft>
              <a:defRPr sz="1600">
                <a:solidFill>
                  <a:srgbClr val="1F2937"/>
                </a:solidFill>
              </a:defRPr>
            </a:pPr>
            <a:r>
              <a:t>Significant reduction in fuel costs and carbon emissions.</a:t>
            </a:r>
          </a:p>
          <a:p>
            <a:pPr>
              <a:spcAft>
                <a:spcPts val="800"/>
              </a:spcAft>
              <a:defRPr sz="1600">
                <a:solidFill>
                  <a:srgbClr val="1F2937"/>
                </a:solidFill>
              </a:defRPr>
            </a:pPr>
            <a:r>
              <a:t>Improved delivery times and reliability for customers.</a:t>
            </a:r>
          </a:p>
          <a:p>
            <a:pPr>
              <a:spcAft>
                <a:spcPts val="800"/>
              </a:spcAft>
              <a:defRPr sz="1600">
                <a:solidFill>
                  <a:srgbClr val="1F2937"/>
                </a:solidFill>
              </a:defRPr>
            </a:pPr>
            <a:r>
              <a:t>Potential for substantial cost savings in logistics operations (e.g., 15-20%).</a:t>
            </a:r>
          </a:p>
          <a:p>
            <a:pPr>
              <a:spcAft>
                <a:spcPts val="800"/>
              </a:spcAft>
              <a:defRPr sz="1600">
                <a:solidFill>
                  <a:srgbClr val="1F2937"/>
                </a:solidFill>
              </a:defRPr>
            </a:pPr>
            <a:r>
              <a:t>Scalable solution for expanding delivery networks.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An infographic depicting a network of delivery routes optimized by an AI 'brain', showing reduced travel distances and time.</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reasoned synthesis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05</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Technical Innovation: Compostable Packaging Tech</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highlight the appeal and environmental benefits of advanced compostable packaging.</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Embracing cutting-edge compostable packaging technology addresses consumer demand for eco-friendly solutions and reduces environmental impact. This innovation not only enhances brand perception but also aligns with circular economy principles, making our product more attractive to the conscious consumer.</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Utilizing fully compostable materials for all packaging components.</a:t>
            </a:r>
          </a:p>
          <a:p>
            <a:pPr>
              <a:spcAft>
                <a:spcPts val="800"/>
              </a:spcAft>
              <a:defRPr sz="1600">
                <a:solidFill>
                  <a:srgbClr val="1F2937"/>
                </a:solidFill>
              </a:defRPr>
            </a:pPr>
            <a:r>
              <a:t>Reduces landfill waste and plastic pollution.</a:t>
            </a:r>
          </a:p>
          <a:p>
            <a:pPr>
              <a:spcAft>
                <a:spcPts val="800"/>
              </a:spcAft>
              <a:defRPr sz="1600">
                <a:solidFill>
                  <a:srgbClr val="1F2937"/>
                </a:solidFill>
              </a:defRPr>
            </a:pPr>
            <a:r>
              <a:t>Meets growing consumer demand for sustainable product presentation.</a:t>
            </a:r>
          </a:p>
          <a:p>
            <a:pPr>
              <a:spcAft>
                <a:spcPts val="800"/>
              </a:spcAft>
              <a:defRPr sz="1600">
                <a:solidFill>
                  <a:srgbClr val="1F2937"/>
                </a:solidFill>
              </a:defRPr>
            </a:pPr>
            <a:r>
              <a:t>Enhances brand image and customer loyalty through environmental responsibility.</a:t>
            </a:r>
          </a:p>
          <a:p>
            <a:pPr>
              <a:spcAft>
                <a:spcPts val="800"/>
              </a:spcAft>
              <a:defRPr sz="1600">
                <a:solidFill>
                  <a:srgbClr val="1F2937"/>
                </a:solidFill>
              </a:defRPr>
            </a:pPr>
            <a:r>
              <a:t>Supports proper disposal and composting infrastructure.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visual showing the lifecycle of compostable packaging, from production to decomposition, emphasizing its environmental benefits.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reasoned synthesis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06</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Commercial Adoption and Consumer Trust</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provide data on consumer adoption and proper disposal of compostable packaging.</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Consumer adoption of sustainable practices, including the use of compostable packaging, is on the rise. Educating consumers on proper disposal methods is key to maximizing the environmental benefits and reinforcing brand trust. As awareness grows, so does the market's willingness to embrace these eco-conscious choices.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Increasing consumer willingness to pay a premium for sustainable products.</a:t>
            </a:r>
          </a:p>
          <a:p>
            <a:pPr>
              <a:spcAft>
                <a:spcPts val="800"/>
              </a:spcAft>
              <a:defRPr sz="1600">
                <a:solidFill>
                  <a:srgbClr val="1F2937"/>
                </a:solidFill>
              </a:defRPr>
            </a:pPr>
            <a:r>
              <a:t>Data shows a positive trend in the adoption of eco-friendly packaging.</a:t>
            </a:r>
          </a:p>
          <a:p>
            <a:pPr>
              <a:spcAft>
                <a:spcPts val="800"/>
              </a:spcAft>
              <a:defRPr sz="1600">
                <a:solidFill>
                  <a:srgbClr val="1F2937"/>
                </a:solidFill>
              </a:defRPr>
            </a:pPr>
            <a:r>
              <a:t>Educational initiatives are crucial for maximizing compostable packaging effectiveness.</a:t>
            </a:r>
          </a:p>
          <a:p>
            <a:pPr>
              <a:spcAft>
                <a:spcPts val="800"/>
              </a:spcAft>
              <a:defRPr sz="1600">
                <a:solidFill>
                  <a:srgbClr val="1F2937"/>
                </a:solidFill>
              </a:defRPr>
            </a:pPr>
            <a:r>
              <a:t>Proper disposal rates are improving with increased consumer awareness.</a:t>
            </a:r>
          </a:p>
          <a:p>
            <a:pPr>
              <a:spcAft>
                <a:spcPts val="800"/>
              </a:spcAft>
              <a:defRPr sz="1600">
                <a:solidFill>
                  <a:srgbClr val="1F2937"/>
                </a:solidFill>
              </a:defRPr>
            </a:pPr>
            <a:r>
              <a:t>Strong alignment with target audience values drives commercial success.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Case Study concept</a:t>
            </a:r>
          </a:p>
          <a:p>
            <a:pPr>
              <a:defRPr sz="1400">
                <a:solidFill>
                  <a:srgbClr val="334155"/>
                </a:solidFill>
              </a:defRPr>
            </a:pPr>
            <a:r>
              <a:t>A case study highlighting a successful brand that has implemented compostable packaging, showing positive customer feedback and adoption rates.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reasoned synthesis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07</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Investment Outlook: Growth and ROI</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emphasize the strong recurring revenue potential and attractive ROI for investors.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Investing in sustainable coffee subscriptions offers a compelling opportunity for significant returns. The combination of a growing market, a resilient loyalty-driven revenue model, and operational efficiencies through AI and eco-packaging creates a powerful value proposition. We project strong ROI driven by customer loyalty and market expansion.</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High-growth market segment with increasing consumer demand.</a:t>
            </a:r>
          </a:p>
          <a:p>
            <a:pPr>
              <a:spcAft>
                <a:spcPts val="800"/>
              </a:spcAft>
              <a:defRPr sz="1600">
                <a:solidFill>
                  <a:srgbClr val="1F2937"/>
                </a:solidFill>
              </a:defRPr>
            </a:pPr>
            <a:r>
              <a:t>Stable and predictable revenue streams from recurring subscriptions.</a:t>
            </a:r>
          </a:p>
          <a:p>
            <a:pPr>
              <a:spcAft>
                <a:spcPts val="800"/>
              </a:spcAft>
              <a:defRPr sz="1600">
                <a:solidFill>
                  <a:srgbClr val="1F2937"/>
                </a:solidFill>
              </a:defRPr>
            </a:pPr>
            <a:r>
              <a:t>Operational efficiencies leading to improved profit margins.</a:t>
            </a:r>
          </a:p>
          <a:p>
            <a:pPr>
              <a:spcAft>
                <a:spcPts val="800"/>
              </a:spcAft>
              <a:defRPr sz="1600">
                <a:solidFill>
                  <a:srgbClr val="1F2937"/>
                </a:solidFill>
              </a:defRPr>
            </a:pPr>
            <a:r>
              <a:t>Strong potential for capital appreciation and attractive investor returns.</a:t>
            </a:r>
          </a:p>
          <a:p>
            <a:pPr>
              <a:spcAft>
                <a:spcPts val="800"/>
              </a:spcAft>
              <a:defRPr sz="1600">
                <a:solidFill>
                  <a:srgbClr val="1F2937"/>
                </a:solidFill>
              </a:defRPr>
            </a:pPr>
            <a:r>
              <a:t>Manageable business risks due to established model and innovation.</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financial projection chart showing expected revenue growth and ROI over a 3-5 year period.</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reasoned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08</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Partnering for a Sustainable Future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invite investment and outline the next steps for collaboration.</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are at the forefront of a significant market shift, offering a unique opportunity to invest in a sustainable, profitable, and future-proof business. By partnering with us, you are investing in a company poised for substantial growth, driven by innovation and customer loyalty.</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Join us in capitalizing on the booming sustainable coffee market.</a:t>
            </a:r>
          </a:p>
          <a:p>
            <a:pPr>
              <a:spcAft>
                <a:spcPts val="800"/>
              </a:spcAft>
              <a:defRPr sz="1600">
                <a:solidFill>
                  <a:srgbClr val="1F2937"/>
                </a:solidFill>
              </a:defRPr>
            </a:pPr>
            <a:r>
              <a:t>Invest in a proven loyalty-driven recurring revenue model.</a:t>
            </a:r>
          </a:p>
          <a:p>
            <a:pPr>
              <a:spcAft>
                <a:spcPts val="800"/>
              </a:spcAft>
              <a:defRPr sz="1600">
                <a:solidFill>
                  <a:srgbClr val="1F2937"/>
                </a:solidFill>
              </a:defRPr>
            </a:pPr>
            <a:r>
              <a:t>Leverage cutting-edge AI and eco-friendly technologies.</a:t>
            </a:r>
          </a:p>
          <a:p>
            <a:pPr>
              <a:spcAft>
                <a:spcPts val="800"/>
              </a:spcAft>
              <a:defRPr sz="1600">
                <a:solidFill>
                  <a:srgbClr val="1F2937"/>
                </a:solidFill>
              </a:defRPr>
            </a:pPr>
            <a:r>
              <a:t>Achieve strong financial returns while supporting environmental responsibility.</a:t>
            </a:r>
          </a:p>
          <a:p>
            <a:pPr>
              <a:spcAft>
                <a:spcPts val="800"/>
              </a:spcAft>
              <a:defRPr sz="1600">
                <a:solidFill>
                  <a:srgbClr val="1F2937"/>
                </a:solidFill>
              </a:defRPr>
            </a:pPr>
            <a:r>
              <a:t>Let's build the future of coffee together.</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Closing concept</a:t>
            </a:r>
          </a:p>
          <a:p>
            <a:pPr>
              <a:defRPr sz="1400">
                <a:solidFill>
                  <a:srgbClr val="334155"/>
                </a:solidFill>
              </a:defRPr>
            </a:pPr>
            <a:r>
              <a:t>A clean closing slide with contact information and a call to action, perhaps featuring a subtle image of a coffee cup with a green leaf.</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