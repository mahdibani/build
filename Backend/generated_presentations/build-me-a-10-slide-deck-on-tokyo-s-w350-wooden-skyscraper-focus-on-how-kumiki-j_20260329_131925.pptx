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800" b="1">
                <a:solidFill>
                  <a:srgbClr val="111827"/>
                </a:solidFill>
              </a:rPr>
              <a:t>Introducing W350: A Vision for a Forested City</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D4ED8"/>
                </a:solidFill>
              </a:rPr>
              <a:t>To introduce the W350 skyscraper as a groundbreaking project aiming to transform urban landscapes into sustainable, timber-utilizing environments.</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The W350 project envisions a 350-meter tall wooden skyscraper, a testament to Sumitomo Forestry's commitment to innovative construction by 2041. This initiative goes beyond a single building, aiming to foster timber-utilizing cities that contribute to a greener, more sustainable future.</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A 350-meter tall wooden skyscraper by 2041.</a:t>
            </a:r>
          </a:p>
          <a:p>
            <a:pPr>
              <a:spcAft>
                <a:spcPts val="800"/>
              </a:spcAft>
              <a:defRPr sz="1600">
                <a:solidFill>
                  <a:srgbClr val="1F2937"/>
                </a:solidFill>
              </a:defRPr>
            </a:pPr>
            <a:r>
              <a:t>Part of a broader vision for timber-utilizing cities.</a:t>
            </a:r>
          </a:p>
          <a:p>
            <a:pPr>
              <a:spcAft>
                <a:spcPts val="800"/>
              </a:spcAft>
              <a:defRPr sz="1600">
                <a:solidFill>
                  <a:srgbClr val="1F2937"/>
                </a:solidFill>
              </a:defRPr>
            </a:pPr>
            <a:r>
              <a:t>Focus on environmentally-friendly construction methods.</a:t>
            </a:r>
          </a:p>
          <a:p>
            <a:pPr>
              <a:spcAft>
                <a:spcPts val="800"/>
              </a:spcAft>
              <a:defRPr sz="1600">
                <a:solidFill>
                  <a:srgbClr val="1F2937"/>
                </a:solidFill>
              </a:defRPr>
            </a:pPr>
            <a:r>
              <a:t>Contribution to humanity, society, and the environment.</a:t>
            </a:r>
          </a:p>
        </p:txBody>
      </p:sp>
      <p:pic>
        <p:nvPicPr>
          <p:cNvPr id="8" name="Picture 7" descr="image.jpg"/>
          <p:cNvPicPr>
            <a:picLocks noChangeAspect="1"/>
          </p:cNvPicPr>
          <p:nvPr/>
        </p:nvPicPr>
        <p:blipFill>
          <a:blip r:embed="rId2"/>
          <a:stretch>
            <a:fillRect/>
          </a:stretch>
        </p:blipFill>
        <p:spPr>
          <a:xfrm>
            <a:off x="7178040" y="1417320"/>
            <a:ext cx="4206240" cy="3383280"/>
          </a:xfrm>
          <a:prstGeom prst="rect">
            <a:avLst/>
          </a:prstGeom>
        </p:spPr>
      </p:pic>
      <p:sp>
        <p:nvSpPr>
          <p:cNvPr id="9" name="Rounded Rectangle 8"/>
          <p:cNvSpPr/>
          <p:nvPr/>
        </p:nvSpPr>
        <p:spPr>
          <a:xfrm>
            <a:off x="7406640" y="4389120"/>
            <a:ext cx="3749039" cy="411480"/>
          </a:xfrm>
          <a:prstGeom prst="roundRect">
            <a:avLst/>
          </a:prstGeom>
          <a:solidFill>
            <a:srgbClr val="FFFFFF"/>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2937"/>
                </a:solidFill>
              </a:rPr>
              <a:t>A striking, aspirational image of a futuristic wooden skyscraper integrated into a lush, green cityscape.</a:t>
            </a:r>
          </a:p>
        </p:txBody>
      </p:sp>
      <p:sp>
        <p:nvSpPr>
          <p:cNvPr id="10" name="Rounded Rectangle 9"/>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D4ED8"/>
                </a:solidFill>
              </a:rPr>
              <a:t>Speaker note</a:t>
            </a:r>
          </a:p>
          <a:p>
            <a:pPr>
              <a:defRPr sz="1050">
                <a:solidFill>
                  <a:srgbClr val="475569"/>
                </a:solidFill>
              </a:defRPr>
            </a:pPr>
            <a:r>
              <a:t>This slide sets the stage for our presentation, introducing the ambitious W350 project. It highlights the scale and the forward-thinking environmental goals that underpin this development.</a:t>
            </a:r>
          </a:p>
        </p:txBody>
      </p:sp>
      <p:sp>
        <p:nvSpPr>
          <p:cNvPr id="11" name="TextBox 10"/>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1  |  Evidence: ORB-e147e271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400" b="1">
                <a:solidFill>
                  <a:srgbClr val="111827"/>
                </a:solidFill>
              </a:rPr>
              <a:t>The W350 Blueprint: Scale and Sustainability Goals</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D4ED8"/>
                </a:solidFill>
              </a:rPr>
              <a:t>To outline the ambitious scale of the W350 project and its core environmental objectives.</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The W350 is designed to be a super high-rise, pushing the boundaries of timber construction. Its development is intrinsically linked to creating environmentally-friendly cities and advancing earth-friendly technologies.</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Target height: 350 meters.</a:t>
            </a:r>
          </a:p>
          <a:p>
            <a:pPr>
              <a:spcAft>
                <a:spcPts val="800"/>
              </a:spcAft>
              <a:defRPr sz="1600">
                <a:solidFill>
                  <a:srgbClr val="1F2937"/>
                </a:solidFill>
              </a:defRPr>
            </a:pPr>
            <a:r>
              <a:t>Construction timeline: By 2041.</a:t>
            </a:r>
          </a:p>
          <a:p>
            <a:pPr>
              <a:spcAft>
                <a:spcPts val="800"/>
              </a:spcAft>
              <a:defRPr sz="1600">
                <a:solidFill>
                  <a:srgbClr val="1F2937"/>
                </a:solidFill>
              </a:defRPr>
            </a:pPr>
            <a:r>
              <a:t>Core mission: Develop sustainable, wood-based high-rise construction.</a:t>
            </a:r>
          </a:p>
          <a:p>
            <a:pPr>
              <a:spcAft>
                <a:spcPts val="800"/>
              </a:spcAft>
              <a:defRPr sz="1600">
                <a:solidFill>
                  <a:srgbClr val="1F2937"/>
                </a:solidFill>
              </a:defRPr>
            </a:pPr>
            <a:r>
              <a:t>Broader impact: Transforming cities into 'forests'.</a:t>
            </a:r>
          </a:p>
        </p:txBody>
      </p:sp>
      <p:pic>
        <p:nvPicPr>
          <p:cNvPr id="8" name="Picture 7" descr="image.jpg"/>
          <p:cNvPicPr>
            <a:picLocks noChangeAspect="1"/>
          </p:cNvPicPr>
          <p:nvPr/>
        </p:nvPicPr>
        <p:blipFill>
          <a:blip r:embed="rId2"/>
          <a:stretch>
            <a:fillRect/>
          </a:stretch>
        </p:blipFill>
        <p:spPr>
          <a:xfrm>
            <a:off x="7178040" y="1417320"/>
            <a:ext cx="4206240" cy="3383280"/>
          </a:xfrm>
          <a:prstGeom prst="rect">
            <a:avLst/>
          </a:prstGeom>
        </p:spPr>
      </p:pic>
      <p:sp>
        <p:nvSpPr>
          <p:cNvPr id="9" name="Rounded Rectangle 8"/>
          <p:cNvSpPr/>
          <p:nvPr/>
        </p:nvSpPr>
        <p:spPr>
          <a:xfrm>
            <a:off x="7406640" y="4389120"/>
            <a:ext cx="3749039" cy="411480"/>
          </a:xfrm>
          <a:prstGeom prst="roundRect">
            <a:avLst/>
          </a:prstGeom>
          <a:solidFill>
            <a:srgbClr val="FFFFFF"/>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2937"/>
                </a:solidFill>
              </a:rPr>
              <a:t>A diagram showing the W350's scale in comparison to existing landmarks, with callouts highlighting its wooden structure </a:t>
            </a:r>
          </a:p>
        </p:txBody>
      </p:sp>
      <p:sp>
        <p:nvSpPr>
          <p:cNvPr id="10" name="Rounded Rectangle 9"/>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D4ED8"/>
                </a:solidFill>
              </a:rPr>
              <a:t>Speaker note</a:t>
            </a:r>
          </a:p>
          <a:p>
            <a:pPr>
              <a:defRPr sz="1050">
                <a:solidFill>
                  <a:srgbClr val="475569"/>
                </a:solidFill>
              </a:defRPr>
            </a:pPr>
            <a:r>
              <a:t>Here we emphasize the sheer scale of the W350 and its alignment with global sustainability trends. This project is not just about building tall, but building responsibly.</a:t>
            </a:r>
          </a:p>
        </p:txBody>
      </p:sp>
      <p:sp>
        <p:nvSpPr>
          <p:cNvPr id="11" name="TextBox 10"/>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2  |  Evidence: ORB-e147e271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400" b="1">
                <a:solidFill>
                  <a:srgbClr val="111827"/>
                </a:solidFill>
              </a:rPr>
              <a:t>Engineered for Extremes: The Kumiki Joinery System</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D4ED8"/>
                </a:solidFill>
              </a:rPr>
              <a:t>To introduce Kumiki joinery as the foundational technology for the W350's structural integrity and seismic resilience.</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At the heart of W350's structural innovation is the Kumiki joinery technique, a sophisticated method adapted from traditional Japanese woodworking. This system interlocks wooden components to create a robust framework capable of withstanding significant forces.</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Leverages traditional Japanese Kumiki joinery.</a:t>
            </a:r>
          </a:p>
          <a:p>
            <a:pPr>
              <a:spcAft>
                <a:spcPts val="800"/>
              </a:spcAft>
              <a:defRPr sz="1600">
                <a:solidFill>
                  <a:srgbClr val="1F2937"/>
                </a:solidFill>
              </a:defRPr>
            </a:pPr>
            <a:r>
              <a:t>Interlocking wooden components form a strong structural framework.</a:t>
            </a:r>
          </a:p>
          <a:p>
            <a:pPr>
              <a:spcAft>
                <a:spcPts val="800"/>
              </a:spcAft>
              <a:defRPr sz="1600">
                <a:solidFill>
                  <a:srgbClr val="1F2937"/>
                </a:solidFill>
              </a:defRPr>
            </a:pPr>
            <a:r>
              <a:t>Designed for high-rise construction applications.</a:t>
            </a:r>
          </a:p>
          <a:p>
            <a:pPr>
              <a:spcAft>
                <a:spcPts val="800"/>
              </a:spcAft>
              <a:defRPr sz="1600">
                <a:solidFill>
                  <a:srgbClr val="1F2937"/>
                </a:solidFill>
              </a:defRPr>
            </a:pPr>
            <a:r>
              <a:t>Foundation for seismic resilience.</a:t>
            </a:r>
          </a:p>
        </p:txBody>
      </p:sp>
      <p:sp>
        <p:nvSpPr>
          <p:cNvPr id="8" name="Rounded Rectangle 7"/>
          <p:cNvSpPr/>
          <p:nvPr/>
        </p:nvSpPr>
        <p:spPr>
          <a:xfrm>
            <a:off x="7178040" y="1417320"/>
            <a:ext cx="4206240" cy="3383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D4ED8"/>
                </a:solidFill>
              </a:rPr>
              <a:t>Process concept</a:t>
            </a:r>
          </a:p>
          <a:p>
            <a:pPr>
              <a:defRPr sz="1300">
                <a:solidFill>
                  <a:srgbClr val="334155"/>
                </a:solidFill>
              </a:defRPr>
            </a:pPr>
            <a:r>
              <a:t>An animation or detailed illustration showing how Kumiki joints fit together, emphasizing their strength and interlocking nature.</a:t>
            </a:r>
          </a:p>
        </p:txBody>
      </p:sp>
      <p:sp>
        <p:nvSpPr>
          <p:cNvPr id="9" name="Rounded Rectangle 8"/>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D4ED8"/>
                </a:solidFill>
              </a:rPr>
              <a:t>Speaker note</a:t>
            </a:r>
          </a:p>
          <a:p>
            <a:pPr>
              <a:defRPr sz="1050">
                <a:solidFill>
                  <a:srgbClr val="475569"/>
                </a:solidFill>
              </a:defRPr>
            </a:pPr>
            <a:r>
              <a:t>This slide introduces the core technical innovation: Kumiki joinery. We will delve deeper into its seismic performance in the following slides.</a:t>
            </a:r>
          </a:p>
        </p:txBody>
      </p:sp>
      <p:sp>
        <p:nvSpPr>
          <p:cNvPr id="10" name="TextBox 9"/>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3  |  Evidence: reasoned synthesis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400" b="1">
                <a:solidFill>
                  <a:srgbClr val="111827"/>
                </a:solidFill>
              </a:rPr>
              <a:t>Seismic Resilience: Kumiki's Dynamic Performance</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D4ED8"/>
                </a:solidFill>
              </a:rPr>
              <a:t>To explain how Kumiki joinery contributes to the W350's ability to withstand seismic activity.</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The unique design of Kumiki joints allows for a degree of flexibility and energy dissipation, crucial for earthquake-prone regions like Tokyo. This system is engineered to absorb and redirect seismic forces, enhancing the building's overall stability and safety.</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Kumiki joints provide flexibility and energy dissipation.</a:t>
            </a:r>
          </a:p>
          <a:p>
            <a:pPr>
              <a:spcAft>
                <a:spcPts val="800"/>
              </a:spcAft>
              <a:defRPr sz="1600">
                <a:solidFill>
                  <a:srgbClr val="1F2937"/>
                </a:solidFill>
              </a:defRPr>
            </a:pPr>
            <a:r>
              <a:t>Reduces stress on the overall structure during seismic events.</a:t>
            </a:r>
          </a:p>
          <a:p>
            <a:pPr>
              <a:spcAft>
                <a:spcPts val="800"/>
              </a:spcAft>
              <a:defRPr sz="1600">
                <a:solidFill>
                  <a:srgbClr val="1F2937"/>
                </a:solidFill>
              </a:defRPr>
            </a:pPr>
            <a:r>
              <a:t>Engineered to meet stringent seismic safety standards.</a:t>
            </a:r>
          </a:p>
          <a:p>
            <a:pPr>
              <a:spcAft>
                <a:spcPts val="800"/>
              </a:spcAft>
              <a:defRPr sz="1600">
                <a:solidFill>
                  <a:srgbClr val="1F2937"/>
                </a:solidFill>
              </a:defRPr>
            </a:pPr>
            <a:r>
              <a:t>A key differentiator in high-rise construction.</a:t>
            </a:r>
          </a:p>
        </p:txBody>
      </p:sp>
      <p:sp>
        <p:nvSpPr>
          <p:cNvPr id="8" name="Rounded Rectangle 7"/>
          <p:cNvSpPr/>
          <p:nvPr/>
        </p:nvSpPr>
        <p:spPr>
          <a:xfrm>
            <a:off x="7178040" y="1417320"/>
            <a:ext cx="4206240" cy="3383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D4ED8"/>
                </a:solidFill>
              </a:rPr>
              <a:t>Architecture concept</a:t>
            </a:r>
          </a:p>
          <a:p>
            <a:pPr>
              <a:defRPr sz="1300">
                <a:solidFill>
                  <a:srgbClr val="334155"/>
                </a:solidFill>
              </a:defRPr>
            </a:pPr>
            <a:r>
              <a:t>A cross-section of the W350 structure highlighting the Kumiki joints and illustrating how they flex and absorb energy during an earthquake simulation.</a:t>
            </a:r>
          </a:p>
        </p:txBody>
      </p:sp>
      <p:sp>
        <p:nvSpPr>
          <p:cNvPr id="9" name="Rounded Rectangle 8"/>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D4ED8"/>
                </a:solidFill>
              </a:rPr>
              <a:t>Speaker note</a:t>
            </a:r>
          </a:p>
          <a:p>
            <a:pPr>
              <a:defRPr sz="1050">
                <a:solidFill>
                  <a:srgbClr val="475569"/>
                </a:solidFill>
              </a:defRPr>
            </a:pPr>
            <a:r>
              <a:t>While specific data for a 350m structure is a gap, the principle of Kumiki joinery is to provide inherent seismic resistance through its flexible, energy-absorbing connections.</a:t>
            </a:r>
          </a:p>
        </p:txBody>
      </p:sp>
      <p:sp>
        <p:nvSpPr>
          <p:cNvPr id="10" name="TextBox 9"/>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4  |  Evidence: ORB-fd7c5abf, ORB-9127b9ef, ORB-6ce387f3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400" b="1">
                <a:solidFill>
                  <a:srgbClr val="111827"/>
                </a:solidFill>
              </a:rPr>
              <a:t>Material Science: The Strength of Engineered Timber</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D4ED8"/>
                </a:solidFill>
              </a:rPr>
              <a:t>To discuss the advanced material science behind the engineered timber used in W350.</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The W350 utilizes advanced engineered timber, processed for maximum strength, durability, and fire resistance. This material science focus ensures that the wooden structure performs comparably to, or better than, traditional materials in terms of safety and longevity.</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Use of advanced, high-strength engineered timber.</a:t>
            </a:r>
          </a:p>
          <a:p>
            <a:pPr>
              <a:spcAft>
                <a:spcPts val="800"/>
              </a:spcAft>
              <a:defRPr sz="1600">
                <a:solidFill>
                  <a:srgbClr val="1F2937"/>
                </a:solidFill>
              </a:defRPr>
            </a:pPr>
            <a:r>
              <a:t>Materials selected for durability and longevity.</a:t>
            </a:r>
          </a:p>
          <a:p>
            <a:pPr>
              <a:spcAft>
                <a:spcPts val="800"/>
              </a:spcAft>
              <a:defRPr sz="1600">
                <a:solidFill>
                  <a:srgbClr val="1F2937"/>
                </a:solidFill>
              </a:defRPr>
            </a:pPr>
            <a:r>
              <a:t>Focus on fire resistance engineering.</a:t>
            </a:r>
          </a:p>
          <a:p>
            <a:pPr>
              <a:spcAft>
                <a:spcPts val="800"/>
              </a:spcAft>
              <a:defRPr sz="1600">
                <a:solidFill>
                  <a:srgbClr val="1F2937"/>
                </a:solidFill>
              </a:defRPr>
            </a:pPr>
            <a:r>
              <a:t>Ensuring structural integrity over the building's lifespan.</a:t>
            </a:r>
          </a:p>
        </p:txBody>
      </p:sp>
      <p:sp>
        <p:nvSpPr>
          <p:cNvPr id="8" name="Rounded Rectangle 7"/>
          <p:cNvSpPr/>
          <p:nvPr/>
        </p:nvSpPr>
        <p:spPr>
          <a:xfrm>
            <a:off x="7178040" y="1417320"/>
            <a:ext cx="4206240" cy="3383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D4ED8"/>
                </a:solidFill>
              </a:rPr>
              <a:t>Process concept</a:t>
            </a:r>
          </a:p>
          <a:p>
            <a:pPr>
              <a:defRPr sz="1300">
                <a:solidFill>
                  <a:srgbClr val="334155"/>
                </a:solidFill>
              </a:defRPr>
            </a:pPr>
            <a:r>
              <a:t>Close-up visuals of engineered timber samples, perhaps with data overlays showing strength and fire-resistance ratings.</a:t>
            </a:r>
          </a:p>
        </p:txBody>
      </p:sp>
      <p:sp>
        <p:nvSpPr>
          <p:cNvPr id="9" name="Rounded Rectangle 8"/>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D4ED8"/>
                </a:solidFill>
              </a:rPr>
              <a:t>Speaker note</a:t>
            </a:r>
          </a:p>
          <a:p>
            <a:pPr>
              <a:defRPr sz="1050">
                <a:solidFill>
                  <a:srgbClr val="475569"/>
                </a:solidFill>
              </a:defRPr>
            </a:pPr>
            <a:r>
              <a:t>Addressing potential concerns, we emphasize the advanced material science. This isn't just any wood; it's engineered for the demands of a super high-rise.</a:t>
            </a:r>
          </a:p>
        </p:txBody>
      </p:sp>
      <p:sp>
        <p:nvSpPr>
          <p:cNvPr id="10" name="TextBox 9"/>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5  |  Evidence: reasoned synthesis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400" b="1">
                <a:solidFill>
                  <a:srgbClr val="111827"/>
                </a:solidFill>
              </a:rPr>
              <a:t>The Carbon Advantage: W350 as a Carbon Sink</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D4ED8"/>
                </a:solidFill>
              </a:rPr>
              <a:t>To present the significant carbon storage capacity of the W350 and its implications for environmental and economic value.</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The W350 skyscraper represents a massive carbon sink, sequestering a substantial amount of atmospheric carbon within its wooden structure. This feature offers a unique competitive advantage, positioning the building as a carbon-negative asset and appealing to environmentally conscious investors.</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W350 acts as a significant carbon storage unit.</a:t>
            </a:r>
          </a:p>
          <a:p>
            <a:pPr>
              <a:spcAft>
                <a:spcPts val="800"/>
              </a:spcAft>
              <a:defRPr sz="1600">
                <a:solidFill>
                  <a:srgbClr val="1F2937"/>
                </a:solidFill>
              </a:defRPr>
            </a:pPr>
            <a:r>
              <a:t>Quantifiable carbon sequestration benefits.</a:t>
            </a:r>
          </a:p>
          <a:p>
            <a:pPr>
              <a:spcAft>
                <a:spcPts val="800"/>
              </a:spcAft>
              <a:defRPr sz="1600">
                <a:solidFill>
                  <a:srgbClr val="1F2937"/>
                </a:solidFill>
              </a:defRPr>
            </a:pPr>
            <a:r>
              <a:t>Potential for carbon credits and green financing.</a:t>
            </a:r>
          </a:p>
          <a:p>
            <a:pPr>
              <a:spcAft>
                <a:spcPts val="800"/>
              </a:spcAft>
              <a:defRPr sz="1600">
                <a:solidFill>
                  <a:srgbClr val="1F2937"/>
                </a:solidFill>
              </a:defRPr>
            </a:pPr>
            <a:r>
              <a:t>Enhances the building's environmental profile and marketability.</a:t>
            </a:r>
          </a:p>
        </p:txBody>
      </p:sp>
      <p:pic>
        <p:nvPicPr>
          <p:cNvPr id="8" name="Picture 7" descr="image.jpg"/>
          <p:cNvPicPr>
            <a:picLocks noChangeAspect="1"/>
          </p:cNvPicPr>
          <p:nvPr/>
        </p:nvPicPr>
        <p:blipFill>
          <a:blip r:embed="rId2"/>
          <a:stretch>
            <a:fillRect/>
          </a:stretch>
        </p:blipFill>
        <p:spPr>
          <a:xfrm>
            <a:off x="7178040" y="1417320"/>
            <a:ext cx="4206240" cy="3383280"/>
          </a:xfrm>
          <a:prstGeom prst="rect">
            <a:avLst/>
          </a:prstGeom>
        </p:spPr>
      </p:pic>
      <p:sp>
        <p:nvSpPr>
          <p:cNvPr id="9" name="Rounded Rectangle 8"/>
          <p:cNvSpPr/>
          <p:nvPr/>
        </p:nvSpPr>
        <p:spPr>
          <a:xfrm>
            <a:off x="7406640" y="4389120"/>
            <a:ext cx="3749039" cy="411480"/>
          </a:xfrm>
          <a:prstGeom prst="roundRect">
            <a:avLst/>
          </a:prstGeom>
          <a:solidFill>
            <a:srgbClr val="FFFFFF"/>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F2937"/>
                </a:solidFill>
              </a:rPr>
              <a:t>A bar chart comparing the carbon footprint of W350 (negative) against traditional skyscrapers (positive), with clear fig</a:t>
            </a:r>
          </a:p>
        </p:txBody>
      </p:sp>
      <p:sp>
        <p:nvSpPr>
          <p:cNvPr id="10" name="Rounded Rectangle 9"/>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D4ED8"/>
                </a:solidFill>
              </a:rPr>
              <a:t>Speaker note</a:t>
            </a:r>
          </a:p>
          <a:p>
            <a:pPr>
              <a:defRPr sz="1050">
                <a:solidFill>
                  <a:srgbClr val="475569"/>
                </a:solidFill>
              </a:defRPr>
            </a:pPr>
            <a:r>
              <a:t>This slide pivots to the business case, highlighting the environmental benefit of carbon storage as a tangible economic asset.</a:t>
            </a:r>
          </a:p>
        </p:txBody>
      </p:sp>
      <p:sp>
        <p:nvSpPr>
          <p:cNvPr id="11" name="TextBox 10"/>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6  |  Evidence: ORB-e147e271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400" b="1">
                <a:solidFill>
                  <a:srgbClr val="111827"/>
                </a:solidFill>
              </a:rPr>
              <a:t>Investment Outlook: Sustainability Meets Profitability</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D4ED8"/>
                </a:solidFill>
              </a:rPr>
              <a:t>To outline the compelling investment case for W350, focusing on its market positioning and future potential.</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Investing in W350 offers a unique opportunity to capitalize on the growing demand for sustainable urban development. Its innovative design, coupled with significant carbon storage, provides a distinct competitive edge and positions it as a leader in the future of high-rise construction.</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Strong market positioning in sustainable real estate.</a:t>
            </a:r>
          </a:p>
          <a:p>
            <a:pPr>
              <a:spcAft>
                <a:spcPts val="800"/>
              </a:spcAft>
              <a:defRPr sz="1600">
                <a:solidFill>
                  <a:srgbClr val="1F2937"/>
                </a:solidFill>
              </a:defRPr>
            </a:pPr>
            <a:r>
              <a:t>Potential for attractive ROI through green credentials.</a:t>
            </a:r>
          </a:p>
          <a:p>
            <a:pPr>
              <a:spcAft>
                <a:spcPts val="800"/>
              </a:spcAft>
              <a:defRPr sz="1600">
                <a:solidFill>
                  <a:srgbClr val="1F2937"/>
                </a:solidFill>
              </a:defRPr>
            </a:pPr>
            <a:r>
              <a:t>Scalability of the W350 model for future projects.</a:t>
            </a:r>
          </a:p>
          <a:p>
            <a:pPr>
              <a:spcAft>
                <a:spcPts val="800"/>
              </a:spcAft>
              <a:defRPr sz="1600">
                <a:solidFill>
                  <a:srgbClr val="1F2937"/>
                </a:solidFill>
              </a:defRPr>
            </a:pPr>
            <a:r>
              <a:t>Addressing supply chain and long-term durability as manageable challenges.</a:t>
            </a:r>
          </a:p>
        </p:txBody>
      </p:sp>
      <p:sp>
        <p:nvSpPr>
          <p:cNvPr id="8" name="Rounded Rectangle 7"/>
          <p:cNvSpPr/>
          <p:nvPr/>
        </p:nvSpPr>
        <p:spPr>
          <a:xfrm>
            <a:off x="7178040" y="1417320"/>
            <a:ext cx="4206240" cy="3383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D4ED8"/>
                </a:solidFill>
              </a:rPr>
              <a:t>Case Study concept</a:t>
            </a:r>
          </a:p>
          <a:p>
            <a:pPr>
              <a:defRPr sz="1300">
                <a:solidFill>
                  <a:srgbClr val="334155"/>
                </a:solidFill>
              </a:defRPr>
            </a:pPr>
            <a:r>
              <a:t>A graphic illustrating the W350's unique selling propositions: seismic resilience, carbon storage, and modern aesthetics, leading to investor appeal.</a:t>
            </a:r>
          </a:p>
        </p:txBody>
      </p:sp>
      <p:sp>
        <p:nvSpPr>
          <p:cNvPr id="9" name="Rounded Rectangle 8"/>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D4ED8"/>
                </a:solidFill>
              </a:rPr>
              <a:t>Speaker note</a:t>
            </a:r>
          </a:p>
          <a:p>
            <a:pPr>
              <a:defRPr sz="1050">
                <a:solidFill>
                  <a:srgbClr val="475569"/>
                </a:solidFill>
              </a:defRPr>
            </a:pPr>
            <a:r>
              <a:t>We conclude the business case by summarizing the investment appeal, acknowledging potential challenges like supply chain and durability, but framing them as opportunities for innovation.</a:t>
            </a:r>
          </a:p>
        </p:txBody>
      </p:sp>
      <p:sp>
        <p:nvSpPr>
          <p:cNvPr id="10" name="TextBox 9"/>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7  |  Evidence: reasoned synthesis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502920"/>
            <a:ext cx="2834640" cy="2834640"/>
          </a:xfrm>
          <a:prstGeom prst="ellipse">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66928"/>
            <a:ext cx="7863840" cy="731520"/>
          </a:xfrm>
          <a:prstGeom prst="rect">
            <a:avLst/>
          </a:prstGeom>
          <a:noFill/>
        </p:spPr>
        <p:txBody>
          <a:bodyPr wrap="square">
            <a:spAutoFit/>
          </a:bodyPr>
          <a:lstStyle/>
          <a:p>
            <a:r>
              <a:rPr sz="2400" b="1">
                <a:solidFill>
                  <a:srgbClr val="111827"/>
                </a:solidFill>
              </a:rPr>
              <a:t>Q&amp;A: Addressing Your Questions</a:t>
            </a:r>
          </a:p>
        </p:txBody>
      </p:sp>
      <p:sp>
        <p:nvSpPr>
          <p:cNvPr id="5" name="TextBox 4"/>
          <p:cNvSpPr txBox="1"/>
          <p:nvPr/>
        </p:nvSpPr>
        <p:spPr>
          <a:xfrm>
            <a:off x="640080" y="1143000"/>
            <a:ext cx="7955279" cy="457200"/>
          </a:xfrm>
          <a:prstGeom prst="rect">
            <a:avLst/>
          </a:prstGeom>
          <a:noFill/>
        </p:spPr>
        <p:txBody>
          <a:bodyPr wrap="none">
            <a:spAutoFit/>
          </a:bodyPr>
          <a:lstStyle/>
          <a:p>
            <a:r>
              <a:rPr sz="1200" b="1">
                <a:solidFill>
                  <a:srgbClr val="1D4ED8"/>
                </a:solidFill>
              </a:rPr>
              <a:t>To facilitate a discussion and address any remaining questions from the audience.</a:t>
            </a:r>
          </a:p>
        </p:txBody>
      </p:sp>
      <p:sp>
        <p:nvSpPr>
          <p:cNvPr id="6" name="TextBox 5"/>
          <p:cNvSpPr txBox="1"/>
          <p:nvPr/>
        </p:nvSpPr>
        <p:spPr>
          <a:xfrm>
            <a:off x="685800" y="1600200"/>
            <a:ext cx="6583680" cy="1143000"/>
          </a:xfrm>
          <a:prstGeom prst="rect">
            <a:avLst/>
          </a:prstGeom>
          <a:noFill/>
        </p:spPr>
        <p:txBody>
          <a:bodyPr wrap="square">
            <a:normAutofit/>
          </a:bodyPr>
          <a:lstStyle/>
          <a:p>
            <a:r>
              <a:rPr sz="1400">
                <a:solidFill>
                  <a:srgbClr val="334155"/>
                </a:solidFill>
              </a:rPr>
              <a:t>We are now open to your questions regarding the W350 project, its technical innovations, seismic resilience, carbon storage benefits, and investment potential. We aim to provide clear and comprehensive answers.</a:t>
            </a:r>
          </a:p>
        </p:txBody>
      </p:sp>
      <p:sp>
        <p:nvSpPr>
          <p:cNvPr id="7" name="TextBox 6"/>
          <p:cNvSpPr txBox="1"/>
          <p:nvPr/>
        </p:nvSpPr>
        <p:spPr>
          <a:xfrm>
            <a:off x="731520" y="2788920"/>
            <a:ext cx="6217920" cy="2651760"/>
          </a:xfrm>
          <a:prstGeom prst="rect">
            <a:avLst/>
          </a:prstGeom>
          <a:noFill/>
        </p:spPr>
        <p:txBody>
          <a:bodyPr wrap="square">
            <a:normAutofit/>
          </a:bodyPr>
          <a:lstStyle/>
          <a:p>
            <a:pPr>
              <a:spcAft>
                <a:spcPts val="800"/>
              </a:spcAft>
              <a:defRPr sz="1600">
                <a:solidFill>
                  <a:srgbClr val="1F2937"/>
                </a:solidFill>
              </a:defRPr>
            </a:pPr>
            <a:r>
              <a:t>Open forum for investor and stakeholder inquiries.</a:t>
            </a:r>
          </a:p>
          <a:p>
            <a:pPr>
              <a:spcAft>
                <a:spcPts val="800"/>
              </a:spcAft>
              <a:defRPr sz="1600">
                <a:solidFill>
                  <a:srgbClr val="1F2937"/>
                </a:solidFill>
              </a:defRPr>
            </a:pPr>
            <a:r>
              <a:t>Focus on technical, environmental, and financial aspects.</a:t>
            </a:r>
          </a:p>
          <a:p>
            <a:pPr>
              <a:spcAft>
                <a:spcPts val="800"/>
              </a:spcAft>
              <a:defRPr sz="1600">
                <a:solidFill>
                  <a:srgbClr val="1F2937"/>
                </a:solidFill>
              </a:defRPr>
            </a:pPr>
            <a:r>
              <a:t>Discussion on implementation, risks, and future opportunities.</a:t>
            </a:r>
          </a:p>
          <a:p>
            <a:pPr>
              <a:spcAft>
                <a:spcPts val="800"/>
              </a:spcAft>
              <a:defRPr sz="1600">
                <a:solidFill>
                  <a:srgbClr val="1F2937"/>
                </a:solidFill>
              </a:defRPr>
            </a:pPr>
            <a:r>
              <a:t>Commitment to transparency and detailed information.</a:t>
            </a:r>
          </a:p>
        </p:txBody>
      </p:sp>
      <p:sp>
        <p:nvSpPr>
          <p:cNvPr id="8" name="Rounded Rectangle 7"/>
          <p:cNvSpPr/>
          <p:nvPr/>
        </p:nvSpPr>
        <p:spPr>
          <a:xfrm>
            <a:off x="7178040" y="1417320"/>
            <a:ext cx="4206240" cy="33832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1D4ED8"/>
                </a:solidFill>
              </a:rPr>
              <a:t>Quote concept</a:t>
            </a:r>
          </a:p>
          <a:p>
            <a:pPr>
              <a:defRPr sz="1300">
                <a:solidFill>
                  <a:srgbClr val="334155"/>
                </a:solidFill>
              </a:defRPr>
            </a:pPr>
            <a:r>
              <a:t>A clean slide with the title 'Q&amp;A' and contact information for follow-up questions.</a:t>
            </a:r>
          </a:p>
        </p:txBody>
      </p:sp>
      <p:sp>
        <p:nvSpPr>
          <p:cNvPr id="9" name="Rounded Rectangle 8"/>
          <p:cNvSpPr/>
          <p:nvPr/>
        </p:nvSpPr>
        <p:spPr>
          <a:xfrm>
            <a:off x="7178040" y="5074920"/>
            <a:ext cx="4206240" cy="868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D4ED8"/>
                </a:solidFill>
              </a:rPr>
              <a:t>Speaker note</a:t>
            </a:r>
          </a:p>
          <a:p>
            <a:pPr>
              <a:defRPr sz="1050">
                <a:solidFill>
                  <a:srgbClr val="475569"/>
                </a:solidFill>
              </a:defRPr>
            </a:pPr>
            <a:r>
              <a:t>This is our opportunity to engage directly with our audience and clarify any points. Please feel free to ask about any aspect of the W350 project.</a:t>
            </a:r>
          </a:p>
        </p:txBody>
      </p:sp>
      <p:sp>
        <p:nvSpPr>
          <p:cNvPr id="10" name="TextBox 9"/>
          <p:cNvSpPr txBox="1"/>
          <p:nvPr/>
        </p:nvSpPr>
        <p:spPr>
          <a:xfrm>
            <a:off x="640080" y="6199632"/>
            <a:ext cx="10972800" cy="292608"/>
          </a:xfrm>
          <a:prstGeom prst="rect">
            <a:avLst/>
          </a:prstGeom>
          <a:noFill/>
        </p:spPr>
        <p:txBody>
          <a:bodyPr wrap="none">
            <a:spAutoFit/>
          </a:bodyPr>
          <a:lstStyle/>
          <a:p>
            <a:pPr algn="l"/>
            <a:r>
              <a:rPr sz="1000">
                <a:solidFill>
                  <a:srgbClr val="64748B"/>
                </a:solidFill>
              </a:rPr>
              <a:t>Slide 8  |  Evidence: reasoned synthesis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