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C121C"/>
        </a:solidFill>
        <a:effectLst/>
      </p:bgPr>
    </p:bg>
    <p:spTree>
      <p:nvGrpSpPr>
        <p:cNvPr id="1" name=""/>
        <p:cNvGrpSpPr/>
        <p:nvPr/>
      </p:nvGrpSpPr>
      <p:grpSpPr/>
      <p:pic>
        <p:nvPicPr>
          <p:cNvPr id="2" name="Picture 1" descr="2a1de542-04c7-45ed-bd9b-f68586de0987.jpeg"/>
          <p:cNvPicPr>
            <a:picLocks noChangeAspect="1"/>
          </p:cNvPicPr>
          <p:nvPr/>
        </p:nvPicPr>
        <p:blipFill>
          <a:blip r:embed="rId2"/>
          <a:stretch>
            <a:fillRect/>
          </a:stretch>
        </p:blipFill>
        <p:spPr>
          <a:xfrm>
            <a:off x="0" y="0"/>
            <a:ext cx="12191695" cy="6858000"/>
          </a:xfrm>
          <a:prstGeom prst="rect">
            <a:avLst/>
          </a:prstGeom>
        </p:spPr>
      </p:pic>
      <p:sp>
        <p:nvSpPr>
          <p:cNvPr id="3" name="Rectangle 2"/>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347472"/>
          </a:xfrm>
          <a:prstGeom prst="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8549640" y="502920"/>
            <a:ext cx="3017520" cy="3017520"/>
          </a:xfrm>
          <a:prstGeom prst="ellipse">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58368" y="384048"/>
            <a:ext cx="1417320" cy="347472"/>
          </a:xfrm>
          <a:prstGeom prst="round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FFFFFF"/>
                </a:solidFill>
              </a:rPr>
              <a:t>SLIDE 01</a:t>
            </a:r>
          </a:p>
        </p:txBody>
      </p:sp>
      <p:sp>
        <p:nvSpPr>
          <p:cNvPr id="7" name="Rounded Rectangle 6"/>
          <p:cNvSpPr/>
          <p:nvPr/>
        </p:nvSpPr>
        <p:spPr>
          <a:xfrm>
            <a:off x="384048" y="841248"/>
            <a:ext cx="6583680" cy="50292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1005840"/>
            <a:ext cx="5852160" cy="822960"/>
          </a:xfrm>
          <a:prstGeom prst="rect">
            <a:avLst/>
          </a:prstGeom>
          <a:noFill/>
        </p:spPr>
        <p:txBody>
          <a:bodyPr wrap="square">
            <a:spAutoFit/>
          </a:bodyPr>
          <a:lstStyle/>
          <a:p>
            <a:r>
              <a:rPr sz="2800" b="1">
                <a:solidFill>
                  <a:srgbClr val="0F172A"/>
                </a:solidFill>
              </a:rPr>
              <a:t>The Unmet Need: Japan's Looming Elder Care Crisis</a:t>
            </a:r>
          </a:p>
        </p:txBody>
      </p:sp>
      <p:sp>
        <p:nvSpPr>
          <p:cNvPr id="9" name="TextBox 8"/>
          <p:cNvSpPr txBox="1"/>
          <p:nvPr/>
        </p:nvSpPr>
        <p:spPr>
          <a:xfrm>
            <a:off x="694944" y="1572768"/>
            <a:ext cx="5760720" cy="438912"/>
          </a:xfrm>
          <a:prstGeom prst="rect">
            <a:avLst/>
          </a:prstGeom>
          <a:noFill/>
        </p:spPr>
        <p:txBody>
          <a:bodyPr wrap="none">
            <a:spAutoFit/>
          </a:bodyPr>
          <a:lstStyle/>
          <a:p>
            <a:r>
              <a:rPr sz="1200" b="1">
                <a:solidFill>
                  <a:srgbClr val="166534"/>
                </a:solidFill>
              </a:rPr>
              <a:t>To establish the critical labor shortage in Japan's elder care sector as the primary market driver.</a:t>
            </a:r>
          </a:p>
        </p:txBody>
      </p:sp>
      <p:sp>
        <p:nvSpPr>
          <p:cNvPr id="10" name="TextBox 9"/>
          <p:cNvSpPr txBox="1"/>
          <p:nvPr/>
        </p:nvSpPr>
        <p:spPr>
          <a:xfrm>
            <a:off x="731520" y="2011680"/>
            <a:ext cx="5486400" cy="1298448"/>
          </a:xfrm>
          <a:prstGeom prst="rect">
            <a:avLst/>
          </a:prstGeom>
          <a:noFill/>
        </p:spPr>
        <p:txBody>
          <a:bodyPr wrap="square">
            <a:normAutofit/>
          </a:bodyPr>
          <a:lstStyle/>
          <a:p>
            <a:r>
              <a:rPr sz="1400">
                <a:solidFill>
                  <a:srgbClr val="334155"/>
                </a:solidFill>
              </a:rPr>
              <a:t>Japan faces an unprecedented demographic challenge with a rapidly aging population and a shrinking workforce. This creates an urgent and growing deficit in elder care services, impacting millions of families and straining existing infrastructure. The current system is unsustainable, necessitating innovative solutions to bridge the care gap.</a:t>
            </a:r>
          </a:p>
        </p:txBody>
      </p:sp>
      <p:sp>
        <p:nvSpPr>
          <p:cNvPr id="11" name="TextBox 10"/>
          <p:cNvSpPr txBox="1"/>
          <p:nvPr/>
        </p:nvSpPr>
        <p:spPr>
          <a:xfrm>
            <a:off x="786384" y="3429000"/>
            <a:ext cx="5440680" cy="1965960"/>
          </a:xfrm>
          <a:prstGeom prst="rect">
            <a:avLst/>
          </a:prstGeom>
          <a:noFill/>
        </p:spPr>
        <p:txBody>
          <a:bodyPr wrap="square">
            <a:normAutofit/>
          </a:bodyPr>
          <a:lstStyle/>
          <a:p>
            <a:pPr>
              <a:spcAft>
                <a:spcPts val="800"/>
              </a:spcAft>
              <a:defRPr sz="1600">
                <a:solidFill>
                  <a:srgbClr val="1F2937"/>
                </a:solidFill>
              </a:defRPr>
            </a:pPr>
            <a:r>
              <a:t>Japan's population is aging faster than any other nation globally.</a:t>
            </a:r>
          </a:p>
          <a:p>
            <a:pPr>
              <a:spcAft>
                <a:spcPts val="800"/>
              </a:spcAft>
              <a:defRPr sz="1600">
                <a:solidFill>
                  <a:srgbClr val="1F2937"/>
                </a:solidFill>
              </a:defRPr>
            </a:pPr>
            <a:r>
              <a:t>Projected shortfall of over 300,000 care workers by 2026.</a:t>
            </a:r>
          </a:p>
          <a:p>
            <a:pPr>
              <a:spcAft>
                <a:spcPts val="800"/>
              </a:spcAft>
              <a:defRPr sz="1600">
                <a:solidFill>
                  <a:srgbClr val="1F2937"/>
                </a:solidFill>
              </a:defRPr>
            </a:pPr>
            <a:r>
              <a:t>Existing care models are strained and unable to meet rising demand.</a:t>
            </a:r>
          </a:p>
          <a:p>
            <a:pPr>
              <a:spcAft>
                <a:spcPts val="800"/>
              </a:spcAft>
              <a:defRPr sz="1600">
                <a:solidFill>
                  <a:srgbClr val="1F2937"/>
                </a:solidFill>
              </a:defRPr>
            </a:pPr>
            <a:r>
              <a:t>Significant societal and economic implications of inadequate elder care.</a:t>
            </a:r>
          </a:p>
        </p:txBody>
      </p:sp>
      <p:sp>
        <p:nvSpPr>
          <p:cNvPr id="12" name="Rounded Rectangle 11"/>
          <p:cNvSpPr/>
          <p:nvPr/>
        </p:nvSpPr>
        <p:spPr>
          <a:xfrm>
            <a:off x="7086600" y="1097280"/>
            <a:ext cx="4526280" cy="4526280"/>
          </a:xfrm>
          <a:prstGeom prst="roundRect">
            <a:avLst/>
          </a:prstGeom>
          <a:solidFill>
            <a:srgbClr val="FFFFFF"/>
          </a:solidFill>
          <a:ln>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166534"/>
                </a:solidFill>
              </a:rPr>
              <a:t>Chart concept</a:t>
            </a:r>
          </a:p>
          <a:p>
            <a:pPr>
              <a:defRPr sz="1400">
                <a:solidFill>
                  <a:srgbClr val="334155"/>
                </a:solidFill>
              </a:defRPr>
            </a:pPr>
            <a:r>
              <a:t>A stark bar chart illustrating the projected care worker deficit in Japan for 2026, contrasted with current workforce numbers. Include a small graphic representing an aging population.</a:t>
            </a:r>
          </a:p>
        </p:txBody>
      </p:sp>
      <p:sp>
        <p:nvSpPr>
          <p:cNvPr id="13" name="Rounded Rectangle 12"/>
          <p:cNvSpPr/>
          <p:nvPr/>
        </p:nvSpPr>
        <p:spPr>
          <a:xfrm>
            <a:off x="7114032" y="5623560"/>
            <a:ext cx="4443984" cy="4572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a:solidFill>
                  <a:srgbClr val="1F2937"/>
                </a:solidFill>
              </a:rPr>
              <a:t>Evidence: reasoned synthesis</a:t>
            </a:r>
          </a:p>
        </p:txBody>
      </p:sp>
      <p:sp>
        <p:nvSpPr>
          <p:cNvPr id="14" name="TextBox 13"/>
          <p:cNvSpPr txBox="1"/>
          <p:nvPr/>
        </p:nvSpPr>
        <p:spPr>
          <a:xfrm>
            <a:off x="640080" y="6163056"/>
            <a:ext cx="10972800" cy="310896"/>
          </a:xfrm>
          <a:prstGeom prst="rect">
            <a:avLst/>
          </a:prstGeom>
          <a:noFill/>
        </p:spPr>
        <p:txBody>
          <a:bodyPr wrap="none">
            <a:spAutoFit/>
          </a:bodyPr>
          <a:lstStyle/>
          <a:p>
            <a:pPr algn="l"/>
            <a:r>
              <a:rPr sz="1000">
                <a:solidFill>
                  <a:srgbClr val="475569"/>
                </a:solidFill>
              </a:rPr>
              <a:t>Slide 1  |  Evidence: reasoned synthesis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C121C"/>
        </a:solidFill>
        <a:effectLst/>
      </p:bgPr>
    </p:bg>
    <p:spTree>
      <p:nvGrpSpPr>
        <p:cNvPr id="1" name=""/>
        <p:cNvGrpSpPr/>
        <p:nvPr/>
      </p:nvGrpSpPr>
      <p:grpSpPr/>
      <p:pic>
        <p:nvPicPr>
          <p:cNvPr id="2" name="Picture 1" descr="2a1de542-04c7-45ed-bd9b-f68586de0987.jpeg"/>
          <p:cNvPicPr>
            <a:picLocks noChangeAspect="1"/>
          </p:cNvPicPr>
          <p:nvPr/>
        </p:nvPicPr>
        <p:blipFill>
          <a:blip r:embed="rId2"/>
          <a:stretch>
            <a:fillRect/>
          </a:stretch>
        </p:blipFill>
        <p:spPr>
          <a:xfrm>
            <a:off x="0" y="0"/>
            <a:ext cx="12191695" cy="6858000"/>
          </a:xfrm>
          <a:prstGeom prst="rect">
            <a:avLst/>
          </a:prstGeom>
        </p:spPr>
      </p:pic>
      <p:sp>
        <p:nvSpPr>
          <p:cNvPr id="3" name="Rectangle 2"/>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347472"/>
          </a:xfrm>
          <a:prstGeom prst="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8549640" y="502920"/>
            <a:ext cx="3017520" cy="3017520"/>
          </a:xfrm>
          <a:prstGeom prst="ellipse">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58368" y="384048"/>
            <a:ext cx="1417320" cy="347472"/>
          </a:xfrm>
          <a:prstGeom prst="round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FFFFFF"/>
                </a:solidFill>
              </a:rPr>
              <a:t>SLIDE 02</a:t>
            </a:r>
          </a:p>
        </p:txBody>
      </p:sp>
      <p:sp>
        <p:nvSpPr>
          <p:cNvPr id="7" name="Rounded Rectangle 6"/>
          <p:cNvSpPr/>
          <p:nvPr/>
        </p:nvSpPr>
        <p:spPr>
          <a:xfrm>
            <a:off x="384048" y="841248"/>
            <a:ext cx="6583680" cy="50292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1005840"/>
            <a:ext cx="5852160" cy="822960"/>
          </a:xfrm>
          <a:prstGeom prst="rect">
            <a:avLst/>
          </a:prstGeom>
          <a:noFill/>
        </p:spPr>
        <p:txBody>
          <a:bodyPr wrap="square">
            <a:spAutoFit/>
          </a:bodyPr>
          <a:lstStyle/>
          <a:p>
            <a:r>
              <a:rPr sz="2400" b="1">
                <a:solidFill>
                  <a:srgbClr val="0F172A"/>
                </a:solidFill>
              </a:rPr>
              <a:t>Introducing the Solution: Socially Assistive Robots (SARs)</a:t>
            </a:r>
          </a:p>
        </p:txBody>
      </p:sp>
      <p:sp>
        <p:nvSpPr>
          <p:cNvPr id="9" name="TextBox 8"/>
          <p:cNvSpPr txBox="1"/>
          <p:nvPr/>
        </p:nvSpPr>
        <p:spPr>
          <a:xfrm>
            <a:off x="694944" y="1572768"/>
            <a:ext cx="5760720" cy="438912"/>
          </a:xfrm>
          <a:prstGeom prst="rect">
            <a:avLst/>
          </a:prstGeom>
          <a:noFill/>
        </p:spPr>
        <p:txBody>
          <a:bodyPr wrap="none">
            <a:spAutoFit/>
          </a:bodyPr>
          <a:lstStyle/>
          <a:p>
            <a:r>
              <a:rPr sz="1200" b="1">
                <a:solidFill>
                  <a:srgbClr val="166534"/>
                </a:solidFill>
              </a:rPr>
              <a:t>To introduce Socially Assistive Robots (SARs) as a viable and scalable solution to the elder care labor shortage.</a:t>
            </a:r>
          </a:p>
        </p:txBody>
      </p:sp>
      <p:sp>
        <p:nvSpPr>
          <p:cNvPr id="10" name="TextBox 9"/>
          <p:cNvSpPr txBox="1"/>
          <p:nvPr/>
        </p:nvSpPr>
        <p:spPr>
          <a:xfrm>
            <a:off x="731520" y="2011680"/>
            <a:ext cx="5486400" cy="1298448"/>
          </a:xfrm>
          <a:prstGeom prst="rect">
            <a:avLst/>
          </a:prstGeom>
          <a:noFill/>
        </p:spPr>
        <p:txBody>
          <a:bodyPr wrap="square">
            <a:normAutofit/>
          </a:bodyPr>
          <a:lstStyle/>
          <a:p>
            <a:r>
              <a:rPr sz="1400">
                <a:solidFill>
                  <a:srgbClr val="334155"/>
                </a:solidFill>
              </a:rPr>
              <a:t>Socially Assistive Robots (SARs) are emerging as a powerful technological response to the care deficit. These robots are designed to provide physical assistance, companionship, and monitoring, thereby augmenting human care capabilities. Their deployment offers a pathway to maintaining quality of care and supporting the well-being of the elderly population.</a:t>
            </a:r>
          </a:p>
        </p:txBody>
      </p:sp>
      <p:sp>
        <p:nvSpPr>
          <p:cNvPr id="11" name="TextBox 10"/>
          <p:cNvSpPr txBox="1"/>
          <p:nvPr/>
        </p:nvSpPr>
        <p:spPr>
          <a:xfrm>
            <a:off x="786384" y="3429000"/>
            <a:ext cx="5440680" cy="1965960"/>
          </a:xfrm>
          <a:prstGeom prst="rect">
            <a:avLst/>
          </a:prstGeom>
          <a:noFill/>
        </p:spPr>
        <p:txBody>
          <a:bodyPr wrap="square">
            <a:normAutofit/>
          </a:bodyPr>
          <a:lstStyle/>
          <a:p>
            <a:pPr>
              <a:spcAft>
                <a:spcPts val="800"/>
              </a:spcAft>
              <a:defRPr sz="1600">
                <a:solidFill>
                  <a:srgbClr val="1F2937"/>
                </a:solidFill>
              </a:defRPr>
            </a:pPr>
            <a:r>
              <a:t>SARs offer consistent and reliable support for daily living activities.</a:t>
            </a:r>
          </a:p>
          <a:p>
            <a:pPr>
              <a:spcAft>
                <a:spcPts val="800"/>
              </a:spcAft>
              <a:defRPr sz="1600">
                <a:solidFill>
                  <a:srgbClr val="1F2937"/>
                </a:solidFill>
              </a:defRPr>
            </a:pPr>
            <a:r>
              <a:t>Robots can perform repetitive or physically demanding tasks, freeing up human caregivers.</a:t>
            </a:r>
          </a:p>
          <a:p>
            <a:pPr>
              <a:spcAft>
                <a:spcPts val="800"/>
              </a:spcAft>
              <a:defRPr sz="1600">
                <a:solidFill>
                  <a:srgbClr val="1F2937"/>
                </a:solidFill>
              </a:defRPr>
            </a:pPr>
            <a:r>
              <a:t>Companionship features can combat loneliness and improve mental well-being.</a:t>
            </a:r>
          </a:p>
          <a:p>
            <a:pPr>
              <a:spcAft>
                <a:spcPts val="800"/>
              </a:spcAft>
              <a:defRPr sz="1600">
                <a:solidFill>
                  <a:srgbClr val="1F2937"/>
                </a:solidFill>
              </a:defRPr>
            </a:pPr>
            <a:r>
              <a:t>Scalability of SARs deployment to meet widespread demand.</a:t>
            </a:r>
          </a:p>
        </p:txBody>
      </p:sp>
      <p:sp>
        <p:nvSpPr>
          <p:cNvPr id="12" name="Rounded Rectangle 11"/>
          <p:cNvSpPr/>
          <p:nvPr/>
        </p:nvSpPr>
        <p:spPr>
          <a:xfrm>
            <a:off x="7086600" y="1097280"/>
            <a:ext cx="4526280" cy="4526280"/>
          </a:xfrm>
          <a:prstGeom prst="roundRect">
            <a:avLst/>
          </a:prstGeom>
          <a:solidFill>
            <a:srgbClr val="FFFFFF"/>
          </a:solidFill>
          <a:ln>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166534"/>
                </a:solidFill>
              </a:rPr>
              <a:t>Architecture concept</a:t>
            </a:r>
          </a:p>
          <a:p>
            <a:pPr>
              <a:defRPr sz="1400">
                <a:solidFill>
                  <a:srgbClr val="334155"/>
                </a:solidFill>
              </a:defRPr>
            </a:pPr>
            <a:r>
              <a:t>An infographic showcasing different types of SARs and their functionalities in an elder care setting (e.g., mobility assistance, medication reminders, social interaction).</a:t>
            </a:r>
          </a:p>
        </p:txBody>
      </p:sp>
      <p:sp>
        <p:nvSpPr>
          <p:cNvPr id="13" name="Rounded Rectangle 12"/>
          <p:cNvSpPr/>
          <p:nvPr/>
        </p:nvSpPr>
        <p:spPr>
          <a:xfrm>
            <a:off x="7114032" y="5623560"/>
            <a:ext cx="4443984" cy="4572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a:solidFill>
                  <a:srgbClr val="1F2937"/>
                </a:solidFill>
              </a:rPr>
              <a:t>Evidence: reasoned synthesis</a:t>
            </a:r>
          </a:p>
        </p:txBody>
      </p:sp>
      <p:sp>
        <p:nvSpPr>
          <p:cNvPr id="14" name="TextBox 13"/>
          <p:cNvSpPr txBox="1"/>
          <p:nvPr/>
        </p:nvSpPr>
        <p:spPr>
          <a:xfrm>
            <a:off x="640080" y="6163056"/>
            <a:ext cx="10972800" cy="310896"/>
          </a:xfrm>
          <a:prstGeom prst="rect">
            <a:avLst/>
          </a:prstGeom>
          <a:noFill/>
        </p:spPr>
        <p:txBody>
          <a:bodyPr wrap="none">
            <a:spAutoFit/>
          </a:bodyPr>
          <a:lstStyle/>
          <a:p>
            <a:pPr algn="l"/>
            <a:r>
              <a:rPr sz="1000">
                <a:solidFill>
                  <a:srgbClr val="475569"/>
                </a:solidFill>
              </a:rPr>
              <a:t>Slide 2  |  Evidence: reasoned synthesis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C121C"/>
        </a:solidFill>
        <a:effectLst/>
      </p:bgPr>
    </p:bg>
    <p:spTree>
      <p:nvGrpSpPr>
        <p:cNvPr id="1" name=""/>
        <p:cNvGrpSpPr/>
        <p:nvPr/>
      </p:nvGrpSpPr>
      <p:grpSpPr/>
      <p:pic>
        <p:nvPicPr>
          <p:cNvPr id="2" name="Picture 1" descr="2a1de542-04c7-45ed-bd9b-f68586de0987.jpeg"/>
          <p:cNvPicPr>
            <a:picLocks noChangeAspect="1"/>
          </p:cNvPicPr>
          <p:nvPr/>
        </p:nvPicPr>
        <p:blipFill>
          <a:blip r:embed="rId2"/>
          <a:stretch>
            <a:fillRect/>
          </a:stretch>
        </p:blipFill>
        <p:spPr>
          <a:xfrm>
            <a:off x="0" y="0"/>
            <a:ext cx="12191695" cy="6858000"/>
          </a:xfrm>
          <a:prstGeom prst="rect">
            <a:avLst/>
          </a:prstGeom>
        </p:spPr>
      </p:pic>
      <p:sp>
        <p:nvSpPr>
          <p:cNvPr id="3" name="Rectangle 2"/>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347472"/>
          </a:xfrm>
          <a:prstGeom prst="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8549640" y="502920"/>
            <a:ext cx="3017520" cy="3017520"/>
          </a:xfrm>
          <a:prstGeom prst="ellipse">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58368" y="384048"/>
            <a:ext cx="1417320" cy="347472"/>
          </a:xfrm>
          <a:prstGeom prst="round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FFFFFF"/>
                </a:solidFill>
              </a:rPr>
              <a:t>SLIDE 03</a:t>
            </a:r>
          </a:p>
        </p:txBody>
      </p:sp>
      <p:sp>
        <p:nvSpPr>
          <p:cNvPr id="7" name="Rounded Rectangle 6"/>
          <p:cNvSpPr/>
          <p:nvPr/>
        </p:nvSpPr>
        <p:spPr>
          <a:xfrm>
            <a:off x="384048" y="841248"/>
            <a:ext cx="6583680" cy="50292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1005840"/>
            <a:ext cx="5852160" cy="822960"/>
          </a:xfrm>
          <a:prstGeom prst="rect">
            <a:avLst/>
          </a:prstGeom>
          <a:noFill/>
        </p:spPr>
        <p:txBody>
          <a:bodyPr wrap="square">
            <a:spAutoFit/>
          </a:bodyPr>
          <a:lstStyle/>
          <a:p>
            <a:r>
              <a:rPr sz="2400" b="1">
                <a:solidFill>
                  <a:srgbClr val="0F172A"/>
                </a:solidFill>
              </a:rPr>
              <a:t>The Market Opportunity: SARs Growth in Japan</a:t>
            </a:r>
          </a:p>
        </p:txBody>
      </p:sp>
      <p:sp>
        <p:nvSpPr>
          <p:cNvPr id="9" name="TextBox 8"/>
          <p:cNvSpPr txBox="1"/>
          <p:nvPr/>
        </p:nvSpPr>
        <p:spPr>
          <a:xfrm>
            <a:off x="694944" y="1572768"/>
            <a:ext cx="5760720" cy="438912"/>
          </a:xfrm>
          <a:prstGeom prst="rect">
            <a:avLst/>
          </a:prstGeom>
          <a:noFill/>
        </p:spPr>
        <p:txBody>
          <a:bodyPr wrap="none">
            <a:spAutoFit/>
          </a:bodyPr>
          <a:lstStyle/>
          <a:p>
            <a:r>
              <a:rPr sz="1200" b="1">
                <a:solidFill>
                  <a:srgbClr val="166534"/>
                </a:solidFill>
              </a:rPr>
              <a:t>To present the significant market growth projections for SARs in Japan by 2026.</a:t>
            </a:r>
          </a:p>
        </p:txBody>
      </p:sp>
      <p:sp>
        <p:nvSpPr>
          <p:cNvPr id="10" name="TextBox 9"/>
          <p:cNvSpPr txBox="1"/>
          <p:nvPr/>
        </p:nvSpPr>
        <p:spPr>
          <a:xfrm>
            <a:off x="731520" y="2011680"/>
            <a:ext cx="5486400" cy="1298448"/>
          </a:xfrm>
          <a:prstGeom prst="rect">
            <a:avLst/>
          </a:prstGeom>
          <a:noFill/>
        </p:spPr>
        <p:txBody>
          <a:bodyPr wrap="square">
            <a:normAutofit/>
          </a:bodyPr>
          <a:lstStyle/>
          <a:p>
            <a:r>
              <a:rPr sz="1400">
                <a:solidFill>
                  <a:srgbClr val="334155"/>
                </a:solidFill>
              </a:rPr>
              <a:t>The Japanese market for Socially Assistive Robots is poised for substantial growth, driven by the urgent need for care solutions and increasing technological acceptance. Projections indicate a robust expansion, presenting a lucrative opportunity for early investors and strategic partners. This growth is fueled by government initiatives and a societal readiness for advanced technological integration in healthcare.</a:t>
            </a:r>
          </a:p>
        </p:txBody>
      </p:sp>
      <p:sp>
        <p:nvSpPr>
          <p:cNvPr id="11" name="TextBox 10"/>
          <p:cNvSpPr txBox="1"/>
          <p:nvPr/>
        </p:nvSpPr>
        <p:spPr>
          <a:xfrm>
            <a:off x="786384" y="3429000"/>
            <a:ext cx="5440680" cy="1965960"/>
          </a:xfrm>
          <a:prstGeom prst="rect">
            <a:avLst/>
          </a:prstGeom>
          <a:noFill/>
        </p:spPr>
        <p:txBody>
          <a:bodyPr wrap="square">
            <a:normAutofit/>
          </a:bodyPr>
          <a:lstStyle/>
          <a:p>
            <a:pPr>
              <a:spcAft>
                <a:spcPts val="800"/>
              </a:spcAft>
              <a:defRPr sz="1600">
                <a:solidFill>
                  <a:srgbClr val="1F2937"/>
                </a:solidFill>
              </a:defRPr>
            </a:pPr>
            <a:r>
              <a:t>Projected market value for Japanese SARs in 2026: [Insert specific figure if available, otherwise state 'significant growth'].</a:t>
            </a:r>
          </a:p>
          <a:p>
            <a:pPr>
              <a:spcAft>
                <a:spcPts val="800"/>
              </a:spcAft>
              <a:defRPr sz="1600">
                <a:solidFill>
                  <a:srgbClr val="1F2937"/>
                </a:solidFill>
              </a:defRPr>
            </a:pPr>
            <a:r>
              <a:t>Compound Annual Growth Rate (CAGR) expected to exceed [Insert percentage if available].</a:t>
            </a:r>
          </a:p>
          <a:p>
            <a:pPr>
              <a:spcAft>
                <a:spcPts val="800"/>
              </a:spcAft>
              <a:defRPr sz="1600">
                <a:solidFill>
                  <a:srgbClr val="1F2937"/>
                </a:solidFill>
              </a:defRPr>
            </a:pPr>
            <a:r>
              <a:t>Key market drivers include the labor shortage and government support for robotics.</a:t>
            </a:r>
          </a:p>
          <a:p>
            <a:pPr>
              <a:spcAft>
                <a:spcPts val="800"/>
              </a:spcAft>
              <a:defRPr sz="1600">
                <a:solidFill>
                  <a:srgbClr val="1F2937"/>
                </a:solidFill>
              </a:defRPr>
            </a:pPr>
            <a:r>
              <a:t>Increasing consumer acceptance of robots in daily life and care settings.</a:t>
            </a:r>
          </a:p>
        </p:txBody>
      </p:sp>
      <p:sp>
        <p:nvSpPr>
          <p:cNvPr id="12" name="Rounded Rectangle 11"/>
          <p:cNvSpPr/>
          <p:nvPr/>
        </p:nvSpPr>
        <p:spPr>
          <a:xfrm>
            <a:off x="7086600" y="1097280"/>
            <a:ext cx="4526280" cy="4526280"/>
          </a:xfrm>
          <a:prstGeom prst="roundRect">
            <a:avLst/>
          </a:prstGeom>
          <a:solidFill>
            <a:srgbClr val="FFFFFF"/>
          </a:solidFill>
          <a:ln>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166534"/>
                </a:solidFill>
              </a:rPr>
              <a:t>Chart concept</a:t>
            </a:r>
          </a:p>
          <a:p>
            <a:pPr>
              <a:defRPr sz="1400">
                <a:solidFill>
                  <a:srgbClr val="334155"/>
                </a:solidFill>
              </a:defRPr>
            </a:pPr>
            <a:r>
              <a:t>A line graph showing the projected growth trajectory of the Japanese SARs market from the present to 2026, with clear data points and growth rate indicators.</a:t>
            </a:r>
          </a:p>
        </p:txBody>
      </p:sp>
      <p:sp>
        <p:nvSpPr>
          <p:cNvPr id="13" name="Rounded Rectangle 12"/>
          <p:cNvSpPr/>
          <p:nvPr/>
        </p:nvSpPr>
        <p:spPr>
          <a:xfrm>
            <a:off x="7114032" y="5623560"/>
            <a:ext cx="4443984" cy="4572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a:solidFill>
                  <a:srgbClr val="1F2937"/>
                </a:solidFill>
              </a:rPr>
              <a:t>Evidence: ORB-2717ee53, ORB-7a4efcc1</a:t>
            </a:r>
          </a:p>
        </p:txBody>
      </p:sp>
      <p:sp>
        <p:nvSpPr>
          <p:cNvPr id="14" name="TextBox 13"/>
          <p:cNvSpPr txBox="1"/>
          <p:nvPr/>
        </p:nvSpPr>
        <p:spPr>
          <a:xfrm>
            <a:off x="640080" y="6163056"/>
            <a:ext cx="10972800" cy="310896"/>
          </a:xfrm>
          <a:prstGeom prst="rect">
            <a:avLst/>
          </a:prstGeom>
          <a:noFill/>
        </p:spPr>
        <p:txBody>
          <a:bodyPr wrap="none">
            <a:spAutoFit/>
          </a:bodyPr>
          <a:lstStyle/>
          <a:p>
            <a:pPr algn="l"/>
            <a:r>
              <a:rPr sz="1000">
                <a:solidFill>
                  <a:srgbClr val="475569"/>
                </a:solidFill>
              </a:rPr>
              <a:t>Slide 3  |  Evidence: ORB-2717ee53, ORB-7a4efcc1</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C121C"/>
        </a:solidFill>
        <a:effectLst/>
      </p:bgPr>
    </p:bg>
    <p:spTree>
      <p:nvGrpSpPr>
        <p:cNvPr id="1" name=""/>
        <p:cNvGrpSpPr/>
        <p:nvPr/>
      </p:nvGrpSpPr>
      <p:grpSpPr/>
      <p:pic>
        <p:nvPicPr>
          <p:cNvPr id="2" name="Picture 1" descr="2a1de542-04c7-45ed-bd9b-f68586de0987.jpeg"/>
          <p:cNvPicPr>
            <a:picLocks noChangeAspect="1"/>
          </p:cNvPicPr>
          <p:nvPr/>
        </p:nvPicPr>
        <p:blipFill>
          <a:blip r:embed="rId2"/>
          <a:stretch>
            <a:fillRect/>
          </a:stretch>
        </p:blipFill>
        <p:spPr>
          <a:xfrm>
            <a:off x="0" y="0"/>
            <a:ext cx="12191695" cy="6858000"/>
          </a:xfrm>
          <a:prstGeom prst="rect">
            <a:avLst/>
          </a:prstGeom>
        </p:spPr>
      </p:pic>
      <p:sp>
        <p:nvSpPr>
          <p:cNvPr id="3" name="Rectangle 2"/>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347472"/>
          </a:xfrm>
          <a:prstGeom prst="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8549640" y="502920"/>
            <a:ext cx="3017520" cy="3017520"/>
          </a:xfrm>
          <a:prstGeom prst="ellipse">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58368" y="384048"/>
            <a:ext cx="1417320" cy="347472"/>
          </a:xfrm>
          <a:prstGeom prst="round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FFFFFF"/>
                </a:solidFill>
              </a:rPr>
              <a:t>SLIDE 04</a:t>
            </a:r>
          </a:p>
        </p:txBody>
      </p:sp>
      <p:sp>
        <p:nvSpPr>
          <p:cNvPr id="7" name="Rounded Rectangle 6"/>
          <p:cNvSpPr/>
          <p:nvPr/>
        </p:nvSpPr>
        <p:spPr>
          <a:xfrm>
            <a:off x="384048" y="841248"/>
            <a:ext cx="6583680" cy="50292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1005840"/>
            <a:ext cx="5852160" cy="822960"/>
          </a:xfrm>
          <a:prstGeom prst="rect">
            <a:avLst/>
          </a:prstGeom>
          <a:noFill/>
        </p:spPr>
        <p:txBody>
          <a:bodyPr wrap="square">
            <a:spAutoFit/>
          </a:bodyPr>
          <a:lstStyle/>
          <a:p>
            <a:r>
              <a:rPr sz="2400" b="1">
                <a:solidFill>
                  <a:srgbClr val="0F172A"/>
                </a:solidFill>
              </a:rPr>
              <a:t>The Technological Edge: Sensory Fusion AI</a:t>
            </a:r>
          </a:p>
        </p:txBody>
      </p:sp>
      <p:sp>
        <p:nvSpPr>
          <p:cNvPr id="9" name="TextBox 8"/>
          <p:cNvSpPr txBox="1"/>
          <p:nvPr/>
        </p:nvSpPr>
        <p:spPr>
          <a:xfrm>
            <a:off x="694944" y="1572768"/>
            <a:ext cx="5760720" cy="438912"/>
          </a:xfrm>
          <a:prstGeom prst="rect">
            <a:avLst/>
          </a:prstGeom>
          <a:noFill/>
        </p:spPr>
        <p:txBody>
          <a:bodyPr wrap="none">
            <a:spAutoFit/>
          </a:bodyPr>
          <a:lstStyle/>
          <a:p>
            <a:r>
              <a:rPr sz="1200" b="1">
                <a:solidFill>
                  <a:srgbClr val="166534"/>
                </a:solidFill>
              </a:rPr>
              <a:t>To explain how Sensory Fusion AI enables SARs to understand and respond to human needs in real-time.</a:t>
            </a:r>
          </a:p>
        </p:txBody>
      </p:sp>
      <p:sp>
        <p:nvSpPr>
          <p:cNvPr id="10" name="TextBox 9"/>
          <p:cNvSpPr txBox="1"/>
          <p:nvPr/>
        </p:nvSpPr>
        <p:spPr>
          <a:xfrm>
            <a:off x="731520" y="2011680"/>
            <a:ext cx="5486400" cy="1298448"/>
          </a:xfrm>
          <a:prstGeom prst="rect">
            <a:avLst/>
          </a:prstGeom>
          <a:noFill/>
        </p:spPr>
        <p:txBody>
          <a:bodyPr wrap="square">
            <a:normAutofit/>
          </a:bodyPr>
          <a:lstStyle/>
          <a:p>
            <a:r>
              <a:rPr sz="1400">
                <a:solidFill>
                  <a:srgbClr val="334155"/>
                </a:solidFill>
              </a:rPr>
              <a:t>At the heart of advanced SARs lies Sensory Fusion AI, a sophisticated technology that integrates multiple data streams to create a comprehensive understanding of the environment and human occupants. This AI allows robots to perceive subtle emotional cues and detect critical physical events like falls with remarkable accuracy. This real-time situational awareness is crucial for providing proactive and personalized care.</a:t>
            </a:r>
          </a:p>
        </p:txBody>
      </p:sp>
      <p:sp>
        <p:nvSpPr>
          <p:cNvPr id="11" name="TextBox 10"/>
          <p:cNvSpPr txBox="1"/>
          <p:nvPr/>
        </p:nvSpPr>
        <p:spPr>
          <a:xfrm>
            <a:off x="786384" y="3429000"/>
            <a:ext cx="5440680" cy="1965960"/>
          </a:xfrm>
          <a:prstGeom prst="rect">
            <a:avLst/>
          </a:prstGeom>
          <a:noFill/>
        </p:spPr>
        <p:txBody>
          <a:bodyPr wrap="square">
            <a:normAutofit/>
          </a:bodyPr>
          <a:lstStyle/>
          <a:p>
            <a:pPr>
              <a:spcAft>
                <a:spcPts val="800"/>
              </a:spcAft>
              <a:defRPr sz="1600">
                <a:solidFill>
                  <a:srgbClr val="1F2937"/>
                </a:solidFill>
              </a:defRPr>
            </a:pPr>
            <a:r>
              <a:t>Sensory Fusion AI combines data from cameras, microphones, and other sensors.</a:t>
            </a:r>
          </a:p>
          <a:p>
            <a:pPr>
              <a:spcAft>
                <a:spcPts val="800"/>
              </a:spcAft>
              <a:defRPr sz="1600">
                <a:solidFill>
                  <a:srgbClr val="1F2937"/>
                </a:solidFill>
              </a:defRPr>
            </a:pPr>
            <a:r>
              <a:t>Real-time emotion detection through facial expression and vocal tone analysis.</a:t>
            </a:r>
          </a:p>
          <a:p>
            <a:pPr>
              <a:spcAft>
                <a:spcPts val="800"/>
              </a:spcAft>
              <a:defRPr sz="1600">
                <a:solidFill>
                  <a:srgbClr val="1F2937"/>
                </a:solidFill>
              </a:defRPr>
            </a:pPr>
            <a:r>
              <a:t>Advanced fall detection algorithms with high accuracy and low false positives.</a:t>
            </a:r>
          </a:p>
          <a:p>
            <a:pPr>
              <a:spcAft>
                <a:spcPts val="800"/>
              </a:spcAft>
              <a:defRPr sz="1600">
                <a:solidFill>
                  <a:srgbClr val="1F2937"/>
                </a:solidFill>
              </a:defRPr>
            </a:pPr>
            <a:r>
              <a:t>Enables SARs to provide timely and appropriate assistance.</a:t>
            </a:r>
          </a:p>
        </p:txBody>
      </p:sp>
      <p:sp>
        <p:nvSpPr>
          <p:cNvPr id="12" name="Rounded Rectangle 11"/>
          <p:cNvSpPr/>
          <p:nvPr/>
        </p:nvSpPr>
        <p:spPr>
          <a:xfrm>
            <a:off x="7086600" y="1097280"/>
            <a:ext cx="4526280" cy="4526280"/>
          </a:xfrm>
          <a:prstGeom prst="roundRect">
            <a:avLst/>
          </a:prstGeom>
          <a:solidFill>
            <a:srgbClr val="FFFFFF"/>
          </a:solidFill>
          <a:ln>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166534"/>
                </a:solidFill>
              </a:rPr>
              <a:t>Architecture concept</a:t>
            </a:r>
          </a:p>
          <a:p>
            <a:pPr>
              <a:defRPr sz="1400">
                <a:solidFill>
                  <a:srgbClr val="334155"/>
                </a:solidFill>
              </a:defRPr>
            </a:pPr>
            <a:r>
              <a:t>A diagram illustrating the Sensory Fusion AI process: input sensors (camera, mic), data processing layers (emotion, fall detection), and output actions (alert, assistance).</a:t>
            </a:r>
          </a:p>
        </p:txBody>
      </p:sp>
      <p:sp>
        <p:nvSpPr>
          <p:cNvPr id="13" name="Rounded Rectangle 12"/>
          <p:cNvSpPr/>
          <p:nvPr/>
        </p:nvSpPr>
        <p:spPr>
          <a:xfrm>
            <a:off x="7114032" y="5623560"/>
            <a:ext cx="4443984" cy="4572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a:solidFill>
                  <a:srgbClr val="1F2937"/>
                </a:solidFill>
              </a:rPr>
              <a:t>Evidence: ORB-14301047, ORB-0bcb35d0</a:t>
            </a:r>
          </a:p>
        </p:txBody>
      </p:sp>
      <p:sp>
        <p:nvSpPr>
          <p:cNvPr id="14" name="TextBox 13"/>
          <p:cNvSpPr txBox="1"/>
          <p:nvPr/>
        </p:nvSpPr>
        <p:spPr>
          <a:xfrm>
            <a:off x="640080" y="6163056"/>
            <a:ext cx="10972800" cy="310896"/>
          </a:xfrm>
          <a:prstGeom prst="rect">
            <a:avLst/>
          </a:prstGeom>
          <a:noFill/>
        </p:spPr>
        <p:txBody>
          <a:bodyPr wrap="none">
            <a:spAutoFit/>
          </a:bodyPr>
          <a:lstStyle/>
          <a:p>
            <a:pPr algn="l"/>
            <a:r>
              <a:rPr sz="1000">
                <a:solidFill>
                  <a:srgbClr val="475569"/>
                </a:solidFill>
              </a:rPr>
              <a:t>Slide 4  |  Evidence: ORB-14301047, ORB-0bcb35d0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C121C"/>
        </a:solidFill>
        <a:effectLst/>
      </p:bgPr>
    </p:bg>
    <p:spTree>
      <p:nvGrpSpPr>
        <p:cNvPr id="1" name=""/>
        <p:cNvGrpSpPr/>
        <p:nvPr/>
      </p:nvGrpSpPr>
      <p:grpSpPr/>
      <p:pic>
        <p:nvPicPr>
          <p:cNvPr id="2" name="Picture 1" descr="2a1de542-04c7-45ed-bd9b-f68586de0987.jpeg"/>
          <p:cNvPicPr>
            <a:picLocks noChangeAspect="1"/>
          </p:cNvPicPr>
          <p:nvPr/>
        </p:nvPicPr>
        <p:blipFill>
          <a:blip r:embed="rId2"/>
          <a:stretch>
            <a:fillRect/>
          </a:stretch>
        </p:blipFill>
        <p:spPr>
          <a:xfrm>
            <a:off x="0" y="0"/>
            <a:ext cx="12191695" cy="6858000"/>
          </a:xfrm>
          <a:prstGeom prst="rect">
            <a:avLst/>
          </a:prstGeom>
        </p:spPr>
      </p:pic>
      <p:sp>
        <p:nvSpPr>
          <p:cNvPr id="3" name="Rectangle 2"/>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347472"/>
          </a:xfrm>
          <a:prstGeom prst="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8549640" y="502920"/>
            <a:ext cx="3017520" cy="3017520"/>
          </a:xfrm>
          <a:prstGeom prst="ellipse">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58368" y="384048"/>
            <a:ext cx="1417320" cy="347472"/>
          </a:xfrm>
          <a:prstGeom prst="round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FFFFFF"/>
                </a:solidFill>
              </a:rPr>
              <a:t>SLIDE 05</a:t>
            </a:r>
          </a:p>
        </p:txBody>
      </p:sp>
      <p:sp>
        <p:nvSpPr>
          <p:cNvPr id="7" name="Rounded Rectangle 6"/>
          <p:cNvSpPr/>
          <p:nvPr/>
        </p:nvSpPr>
        <p:spPr>
          <a:xfrm>
            <a:off x="384048" y="841248"/>
            <a:ext cx="6583680" cy="50292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1005840"/>
            <a:ext cx="5852160" cy="822960"/>
          </a:xfrm>
          <a:prstGeom prst="rect">
            <a:avLst/>
          </a:prstGeom>
          <a:noFill/>
        </p:spPr>
        <p:txBody>
          <a:bodyPr wrap="square">
            <a:spAutoFit/>
          </a:bodyPr>
          <a:lstStyle/>
          <a:p>
            <a:r>
              <a:rPr sz="2400" b="1">
                <a:solidFill>
                  <a:srgbClr val="0F172A"/>
                </a:solidFill>
              </a:rPr>
              <a:t>Preserving Omotenashi: The Human Touch in AI</a:t>
            </a:r>
          </a:p>
        </p:txBody>
      </p:sp>
      <p:sp>
        <p:nvSpPr>
          <p:cNvPr id="9" name="TextBox 8"/>
          <p:cNvSpPr txBox="1"/>
          <p:nvPr/>
        </p:nvSpPr>
        <p:spPr>
          <a:xfrm>
            <a:off x="694944" y="1572768"/>
            <a:ext cx="5760720" cy="438912"/>
          </a:xfrm>
          <a:prstGeom prst="rect">
            <a:avLst/>
          </a:prstGeom>
          <a:noFill/>
        </p:spPr>
        <p:txBody>
          <a:bodyPr wrap="none">
            <a:spAutoFit/>
          </a:bodyPr>
          <a:lstStyle/>
          <a:p>
            <a:r>
              <a:rPr sz="1200" b="1">
                <a:solidFill>
                  <a:srgbClr val="166534"/>
                </a:solidFill>
              </a:rPr>
              <a:t>To demonstrate how Sensory Fusion AI can enable robots to embody the spirit of 'Omotenashi'.</a:t>
            </a:r>
          </a:p>
        </p:txBody>
      </p:sp>
      <p:sp>
        <p:nvSpPr>
          <p:cNvPr id="10" name="TextBox 9"/>
          <p:cNvSpPr txBox="1"/>
          <p:nvPr/>
        </p:nvSpPr>
        <p:spPr>
          <a:xfrm>
            <a:off x="731520" y="2011680"/>
            <a:ext cx="5486400" cy="1298448"/>
          </a:xfrm>
          <a:prstGeom prst="rect">
            <a:avLst/>
          </a:prstGeom>
          <a:noFill/>
        </p:spPr>
        <p:txBody>
          <a:bodyPr wrap="square">
            <a:normAutofit/>
          </a:bodyPr>
          <a:lstStyle/>
          <a:p>
            <a:r>
              <a:rPr sz="1400">
                <a:solidFill>
                  <a:srgbClr val="334155"/>
                </a:solidFill>
              </a:rPr>
              <a:t>'Omotenashi,' the Japanese concept of wholehearted hospitality, emphasizes anticipating needs and providing selfless service. Sensory Fusion AI allows SARs to interpret emotional states and react with empathy, mimicking the attentiveness central to Omotenashi. By detecting distress or loneliness and responding appropriately, these robots can offer a level of care that feels personal and culturally resonant, even without direct human intervention.</a:t>
            </a:r>
          </a:p>
        </p:txBody>
      </p:sp>
      <p:sp>
        <p:nvSpPr>
          <p:cNvPr id="11" name="TextBox 10"/>
          <p:cNvSpPr txBox="1"/>
          <p:nvPr/>
        </p:nvSpPr>
        <p:spPr>
          <a:xfrm>
            <a:off x="786384" y="3429000"/>
            <a:ext cx="5440680" cy="1965960"/>
          </a:xfrm>
          <a:prstGeom prst="rect">
            <a:avLst/>
          </a:prstGeom>
          <a:noFill/>
        </p:spPr>
        <p:txBody>
          <a:bodyPr wrap="square">
            <a:normAutofit/>
          </a:bodyPr>
          <a:lstStyle/>
          <a:p>
            <a:pPr>
              <a:spcAft>
                <a:spcPts val="800"/>
              </a:spcAft>
              <a:defRPr sz="1600">
                <a:solidFill>
                  <a:srgbClr val="1F2937"/>
                </a:solidFill>
              </a:defRPr>
            </a:pPr>
            <a:r>
              <a:t>Omotenashi: Anticipating needs with selfless hospitality.</a:t>
            </a:r>
          </a:p>
          <a:p>
            <a:pPr>
              <a:spcAft>
                <a:spcPts val="800"/>
              </a:spcAft>
              <a:defRPr sz="1600">
                <a:solidFill>
                  <a:srgbClr val="1F2937"/>
                </a:solidFill>
              </a:defRPr>
            </a:pPr>
            <a:r>
              <a:t>AI's ability to detect emotional cues (e.g., sadness, confusion) and respond empathetically.</a:t>
            </a:r>
          </a:p>
          <a:p>
            <a:pPr>
              <a:spcAft>
                <a:spcPts val="800"/>
              </a:spcAft>
              <a:defRPr sz="1600">
                <a:solidFill>
                  <a:srgbClr val="1F2937"/>
                </a:solidFill>
              </a:defRPr>
            </a:pPr>
            <a:r>
              <a:t>Proactive assistance based on perceived emotional or physical needs.</a:t>
            </a:r>
          </a:p>
          <a:p>
            <a:pPr>
              <a:spcAft>
                <a:spcPts val="800"/>
              </a:spcAft>
              <a:defRPr sz="1600">
                <a:solidFill>
                  <a:srgbClr val="1F2937"/>
                </a:solidFill>
              </a:defRPr>
            </a:pPr>
            <a:r>
              <a:t>Maintaining dignity and comfort for the elderly through personalized interaction.</a:t>
            </a:r>
          </a:p>
        </p:txBody>
      </p:sp>
      <p:sp>
        <p:nvSpPr>
          <p:cNvPr id="12" name="Rounded Rectangle 11"/>
          <p:cNvSpPr/>
          <p:nvPr/>
        </p:nvSpPr>
        <p:spPr>
          <a:xfrm>
            <a:off x="7086600" y="1097280"/>
            <a:ext cx="4526280" cy="4526280"/>
          </a:xfrm>
          <a:prstGeom prst="roundRect">
            <a:avLst/>
          </a:prstGeom>
          <a:solidFill>
            <a:srgbClr val="FFFFFF"/>
          </a:solidFill>
          <a:ln>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166534"/>
                </a:solidFill>
              </a:rPr>
              <a:t>Quote concept</a:t>
            </a:r>
          </a:p>
          <a:p>
            <a:pPr>
              <a:defRPr sz="1400">
                <a:solidFill>
                  <a:srgbClr val="334155"/>
                </a:solidFill>
              </a:defRPr>
            </a:pPr>
            <a:r>
              <a:t>A visually appealing slide featuring the Japanese characters for 'Omotenashi' (おもてなし) with a quote about its meaning, juxtaposed with an image of a caring robot interacting gently with an elderly person.</a:t>
            </a:r>
          </a:p>
        </p:txBody>
      </p:sp>
      <p:sp>
        <p:nvSpPr>
          <p:cNvPr id="13" name="Rounded Rectangle 12"/>
          <p:cNvSpPr/>
          <p:nvPr/>
        </p:nvSpPr>
        <p:spPr>
          <a:xfrm>
            <a:off x="7114032" y="5623560"/>
            <a:ext cx="4443984" cy="4572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a:solidFill>
                  <a:srgbClr val="1F2937"/>
                </a:solidFill>
              </a:rPr>
              <a:t>Evidence: ORB-10596c19, ORB-396d7a9d</a:t>
            </a:r>
          </a:p>
        </p:txBody>
      </p:sp>
      <p:sp>
        <p:nvSpPr>
          <p:cNvPr id="14" name="TextBox 13"/>
          <p:cNvSpPr txBox="1"/>
          <p:nvPr/>
        </p:nvSpPr>
        <p:spPr>
          <a:xfrm>
            <a:off x="640080" y="6163056"/>
            <a:ext cx="10972800" cy="310896"/>
          </a:xfrm>
          <a:prstGeom prst="rect">
            <a:avLst/>
          </a:prstGeom>
          <a:noFill/>
        </p:spPr>
        <p:txBody>
          <a:bodyPr wrap="none">
            <a:spAutoFit/>
          </a:bodyPr>
          <a:lstStyle/>
          <a:p>
            <a:pPr algn="l"/>
            <a:r>
              <a:rPr sz="1000">
                <a:solidFill>
                  <a:srgbClr val="475569"/>
                </a:solidFill>
              </a:rPr>
              <a:t>Slide 5  |  Evidence: ORB-10596c19, ORB-396d7a9d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C121C"/>
        </a:solidFill>
        <a:effectLst/>
      </p:bgPr>
    </p:bg>
    <p:spTree>
      <p:nvGrpSpPr>
        <p:cNvPr id="1" name=""/>
        <p:cNvGrpSpPr/>
        <p:nvPr/>
      </p:nvGrpSpPr>
      <p:grpSpPr/>
      <p:pic>
        <p:nvPicPr>
          <p:cNvPr id="2" name="Picture 1" descr="2a1de542-04c7-45ed-bd9b-f68586de0987.jpeg"/>
          <p:cNvPicPr>
            <a:picLocks noChangeAspect="1"/>
          </p:cNvPicPr>
          <p:nvPr/>
        </p:nvPicPr>
        <p:blipFill>
          <a:blip r:embed="rId2"/>
          <a:stretch>
            <a:fillRect/>
          </a:stretch>
        </p:blipFill>
        <p:spPr>
          <a:xfrm>
            <a:off x="0" y="0"/>
            <a:ext cx="12191695" cy="6858000"/>
          </a:xfrm>
          <a:prstGeom prst="rect">
            <a:avLst/>
          </a:prstGeom>
        </p:spPr>
      </p:pic>
      <p:sp>
        <p:nvSpPr>
          <p:cNvPr id="3" name="Rectangle 2"/>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347472"/>
          </a:xfrm>
          <a:prstGeom prst="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8549640" y="502920"/>
            <a:ext cx="3017520" cy="3017520"/>
          </a:xfrm>
          <a:prstGeom prst="ellipse">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58368" y="384048"/>
            <a:ext cx="1417320" cy="347472"/>
          </a:xfrm>
          <a:prstGeom prst="round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FFFFFF"/>
                </a:solidFill>
              </a:rPr>
              <a:t>SLIDE 06</a:t>
            </a:r>
          </a:p>
        </p:txBody>
      </p:sp>
      <p:sp>
        <p:nvSpPr>
          <p:cNvPr id="7" name="Rounded Rectangle 6"/>
          <p:cNvSpPr/>
          <p:nvPr/>
        </p:nvSpPr>
        <p:spPr>
          <a:xfrm>
            <a:off x="384048" y="841248"/>
            <a:ext cx="6583680" cy="50292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1005840"/>
            <a:ext cx="5852160" cy="822960"/>
          </a:xfrm>
          <a:prstGeom prst="rect">
            <a:avLst/>
          </a:prstGeom>
          <a:noFill/>
        </p:spPr>
        <p:txBody>
          <a:bodyPr wrap="square">
            <a:spAutoFit/>
          </a:bodyPr>
          <a:lstStyle/>
          <a:p>
            <a:r>
              <a:rPr sz="2400" b="1">
                <a:solidFill>
                  <a:srgbClr val="0F172A"/>
                </a:solidFill>
              </a:rPr>
              <a:t>Case Study: 'Omotenashi' in Action</a:t>
            </a:r>
          </a:p>
        </p:txBody>
      </p:sp>
      <p:sp>
        <p:nvSpPr>
          <p:cNvPr id="9" name="TextBox 8"/>
          <p:cNvSpPr txBox="1"/>
          <p:nvPr/>
        </p:nvSpPr>
        <p:spPr>
          <a:xfrm>
            <a:off x="694944" y="1572768"/>
            <a:ext cx="5760720" cy="438912"/>
          </a:xfrm>
          <a:prstGeom prst="rect">
            <a:avLst/>
          </a:prstGeom>
          <a:noFill/>
        </p:spPr>
        <p:txBody>
          <a:bodyPr wrap="none">
            <a:spAutoFit/>
          </a:bodyPr>
          <a:lstStyle/>
          <a:p>
            <a:r>
              <a:rPr sz="1200" b="1">
                <a:solidFill>
                  <a:srgbClr val="166534"/>
                </a:solidFill>
              </a:rPr>
              <a:t>To showcase real-world examples or potential scenarios of SARs delivering 'Omotenashi'.</a:t>
            </a:r>
          </a:p>
        </p:txBody>
      </p:sp>
      <p:sp>
        <p:nvSpPr>
          <p:cNvPr id="10" name="TextBox 9"/>
          <p:cNvSpPr txBox="1"/>
          <p:nvPr/>
        </p:nvSpPr>
        <p:spPr>
          <a:xfrm>
            <a:off x="731520" y="2011680"/>
            <a:ext cx="5486400" cy="1298448"/>
          </a:xfrm>
          <a:prstGeom prst="rect">
            <a:avLst/>
          </a:prstGeom>
          <a:noFill/>
        </p:spPr>
        <p:txBody>
          <a:bodyPr wrap="square">
            <a:normAutofit/>
          </a:bodyPr>
          <a:lstStyle/>
          <a:p>
            <a:r>
              <a:rPr sz="1400">
                <a:solidFill>
                  <a:srgbClr val="334155"/>
                </a:solidFill>
              </a:rPr>
              <a:t>Imagine a SAR detecting a subtle sign of loneliness in an elderly resident and initiating a conversation or playing their favorite music. Or consider a robot immediately alerting staff to a fall, ensuring rapid response and preventing serious injury. These are not futuristic fantasies but achievable applications of Sensory Fusion AI, demonstrating how technology can enhance the quality of care and uphold the principles of Omotenashi in practice.</a:t>
            </a:r>
          </a:p>
        </p:txBody>
      </p:sp>
      <p:sp>
        <p:nvSpPr>
          <p:cNvPr id="11" name="TextBox 10"/>
          <p:cNvSpPr txBox="1"/>
          <p:nvPr/>
        </p:nvSpPr>
        <p:spPr>
          <a:xfrm>
            <a:off x="786384" y="3429000"/>
            <a:ext cx="5440680" cy="1965960"/>
          </a:xfrm>
          <a:prstGeom prst="rect">
            <a:avLst/>
          </a:prstGeom>
          <a:noFill/>
        </p:spPr>
        <p:txBody>
          <a:bodyPr wrap="square">
            <a:normAutofit/>
          </a:bodyPr>
          <a:lstStyle/>
          <a:p>
            <a:pPr>
              <a:spcAft>
                <a:spcPts val="800"/>
              </a:spcAft>
              <a:defRPr sz="1600">
                <a:solidFill>
                  <a:srgbClr val="1F2937"/>
                </a:solidFill>
              </a:defRPr>
            </a:pPr>
            <a:r>
              <a:t>Scenario 1: Proactive emotional support and companionship.</a:t>
            </a:r>
          </a:p>
          <a:p>
            <a:pPr>
              <a:spcAft>
                <a:spcPts val="800"/>
              </a:spcAft>
              <a:defRPr sz="1600">
                <a:solidFill>
                  <a:srgbClr val="1F2937"/>
                </a:solidFill>
              </a:defRPr>
            </a:pPr>
            <a:r>
              <a:t>Scenario 2: Rapid response to falls and emergencies.</a:t>
            </a:r>
          </a:p>
          <a:p>
            <a:pPr>
              <a:spcAft>
                <a:spcPts val="800"/>
              </a:spcAft>
              <a:defRPr sz="1600">
                <a:solidFill>
                  <a:srgbClr val="1F2937"/>
                </a:solidFill>
              </a:defRPr>
            </a:pPr>
            <a:r>
              <a:t>Scenario 3: Personalized reminders and daily assistance.</a:t>
            </a:r>
          </a:p>
          <a:p>
            <a:pPr>
              <a:spcAft>
                <a:spcPts val="800"/>
              </a:spcAft>
              <a:defRPr sz="1600">
                <a:solidFill>
                  <a:srgbClr val="1F2937"/>
                </a:solidFill>
              </a:defRPr>
            </a:pPr>
            <a:r>
              <a:t>Demonstrating tangible benefits for both residents and care facilities.</a:t>
            </a:r>
          </a:p>
        </p:txBody>
      </p:sp>
      <p:sp>
        <p:nvSpPr>
          <p:cNvPr id="12" name="Rounded Rectangle 11"/>
          <p:cNvSpPr/>
          <p:nvPr/>
        </p:nvSpPr>
        <p:spPr>
          <a:xfrm>
            <a:off x="7086600" y="1097280"/>
            <a:ext cx="4526280" cy="4526280"/>
          </a:xfrm>
          <a:prstGeom prst="roundRect">
            <a:avLst/>
          </a:prstGeom>
          <a:solidFill>
            <a:srgbClr val="FFFFFF"/>
          </a:solidFill>
          <a:ln>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166534"/>
                </a:solidFill>
              </a:rPr>
              <a:t>Case Study concept</a:t>
            </a:r>
          </a:p>
          <a:p>
            <a:pPr>
              <a:defRPr sz="1400">
                <a:solidFill>
                  <a:srgbClr val="334155"/>
                </a:solidFill>
              </a:defRPr>
            </a:pPr>
            <a:r>
              <a:t>A split visual: one side showing a robot offering a warm beverage to an elderly person, the other side showing a robot's interface displaying an alert for a detected fall. Use icons to represent the 'Omotenashi' elements.</a:t>
            </a:r>
          </a:p>
        </p:txBody>
      </p:sp>
      <p:sp>
        <p:nvSpPr>
          <p:cNvPr id="13" name="Rounded Rectangle 12"/>
          <p:cNvSpPr/>
          <p:nvPr/>
        </p:nvSpPr>
        <p:spPr>
          <a:xfrm>
            <a:off x="7114032" y="5623560"/>
            <a:ext cx="4443984" cy="4572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a:solidFill>
                  <a:srgbClr val="1F2937"/>
                </a:solidFill>
              </a:rPr>
              <a:t>Evidence: ORB-10596c19</a:t>
            </a:r>
          </a:p>
        </p:txBody>
      </p:sp>
      <p:sp>
        <p:nvSpPr>
          <p:cNvPr id="14" name="TextBox 13"/>
          <p:cNvSpPr txBox="1"/>
          <p:nvPr/>
        </p:nvSpPr>
        <p:spPr>
          <a:xfrm>
            <a:off x="640080" y="6163056"/>
            <a:ext cx="10972800" cy="310896"/>
          </a:xfrm>
          <a:prstGeom prst="rect">
            <a:avLst/>
          </a:prstGeom>
          <a:noFill/>
        </p:spPr>
        <p:txBody>
          <a:bodyPr wrap="none">
            <a:spAutoFit/>
          </a:bodyPr>
          <a:lstStyle/>
          <a:p>
            <a:pPr algn="l"/>
            <a:r>
              <a:rPr sz="1000">
                <a:solidFill>
                  <a:srgbClr val="475569"/>
                </a:solidFill>
              </a:rPr>
              <a:t>Slide 6  |  Evidence: ORB-10596c19</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C121C"/>
        </a:solidFill>
        <a:effectLst/>
      </p:bgPr>
    </p:bg>
    <p:spTree>
      <p:nvGrpSpPr>
        <p:cNvPr id="1" name=""/>
        <p:cNvGrpSpPr/>
        <p:nvPr/>
      </p:nvGrpSpPr>
      <p:grpSpPr/>
      <p:pic>
        <p:nvPicPr>
          <p:cNvPr id="2" name="Picture 1" descr="2a1de542-04c7-45ed-bd9b-f68586de0987.jpeg"/>
          <p:cNvPicPr>
            <a:picLocks noChangeAspect="1"/>
          </p:cNvPicPr>
          <p:nvPr/>
        </p:nvPicPr>
        <p:blipFill>
          <a:blip r:embed="rId2"/>
          <a:stretch>
            <a:fillRect/>
          </a:stretch>
        </p:blipFill>
        <p:spPr>
          <a:xfrm>
            <a:off x="0" y="0"/>
            <a:ext cx="12191695" cy="6858000"/>
          </a:xfrm>
          <a:prstGeom prst="rect">
            <a:avLst/>
          </a:prstGeom>
        </p:spPr>
      </p:pic>
      <p:sp>
        <p:nvSpPr>
          <p:cNvPr id="3" name="Rectangle 2"/>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347472"/>
          </a:xfrm>
          <a:prstGeom prst="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8549640" y="502920"/>
            <a:ext cx="3017520" cy="3017520"/>
          </a:xfrm>
          <a:prstGeom prst="ellipse">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58368" y="384048"/>
            <a:ext cx="1417320" cy="347472"/>
          </a:xfrm>
          <a:prstGeom prst="round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FFFFFF"/>
                </a:solidFill>
              </a:rPr>
              <a:t>SLIDE 07</a:t>
            </a:r>
          </a:p>
        </p:txBody>
      </p:sp>
      <p:sp>
        <p:nvSpPr>
          <p:cNvPr id="7" name="Rounded Rectangle 6"/>
          <p:cNvSpPr/>
          <p:nvPr/>
        </p:nvSpPr>
        <p:spPr>
          <a:xfrm>
            <a:off x="384048" y="841248"/>
            <a:ext cx="6583680" cy="50292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1005840"/>
            <a:ext cx="5852160" cy="822960"/>
          </a:xfrm>
          <a:prstGeom prst="rect">
            <a:avLst/>
          </a:prstGeom>
          <a:noFill/>
        </p:spPr>
        <p:txBody>
          <a:bodyPr wrap="square">
            <a:spAutoFit/>
          </a:bodyPr>
          <a:lstStyle/>
          <a:p>
            <a:r>
              <a:rPr sz="2400" b="1">
                <a:solidFill>
                  <a:srgbClr val="0F172A"/>
                </a:solidFill>
              </a:rPr>
              <a:t>Strategic Imperatives &amp; Risk Mitigation</a:t>
            </a:r>
          </a:p>
        </p:txBody>
      </p:sp>
      <p:sp>
        <p:nvSpPr>
          <p:cNvPr id="9" name="TextBox 8"/>
          <p:cNvSpPr txBox="1"/>
          <p:nvPr/>
        </p:nvSpPr>
        <p:spPr>
          <a:xfrm>
            <a:off x="694944" y="1572768"/>
            <a:ext cx="5760720" cy="438912"/>
          </a:xfrm>
          <a:prstGeom prst="rect">
            <a:avLst/>
          </a:prstGeom>
          <a:noFill/>
        </p:spPr>
        <p:txBody>
          <a:bodyPr wrap="none">
            <a:spAutoFit/>
          </a:bodyPr>
          <a:lstStyle/>
          <a:p>
            <a:r>
              <a:rPr sz="1200" b="1">
                <a:solidFill>
                  <a:srgbClr val="166534"/>
                </a:solidFill>
              </a:rPr>
              <a:t>To outline key strategic considerations and address potential risks for market entry.</a:t>
            </a:r>
          </a:p>
        </p:txBody>
      </p:sp>
      <p:sp>
        <p:nvSpPr>
          <p:cNvPr id="10" name="TextBox 9"/>
          <p:cNvSpPr txBox="1"/>
          <p:nvPr/>
        </p:nvSpPr>
        <p:spPr>
          <a:xfrm>
            <a:off x="731520" y="2011680"/>
            <a:ext cx="5486400" cy="1298448"/>
          </a:xfrm>
          <a:prstGeom prst="rect">
            <a:avLst/>
          </a:prstGeom>
          <a:noFill/>
        </p:spPr>
        <p:txBody>
          <a:bodyPr wrap="square">
            <a:normAutofit/>
          </a:bodyPr>
          <a:lstStyle/>
          <a:p>
            <a:r>
              <a:rPr sz="1400">
                <a:solidFill>
                  <a:srgbClr val="334155"/>
                </a:solidFill>
              </a:rPr>
              <a:t>Successfully navigating the Japanese Care-Bot market requires a clear strategy focused on value creation and commercial adoption. Key imperatives include understanding the regulatory landscape, building user trust through transparent AI, and ensuring seamless integration with existing care protocols. Addressing potential risks such as data privacy concerns and user acceptance proactively will be crucial for long-term success and market leadership.</a:t>
            </a:r>
          </a:p>
        </p:txBody>
      </p:sp>
      <p:sp>
        <p:nvSpPr>
          <p:cNvPr id="11" name="TextBox 10"/>
          <p:cNvSpPr txBox="1"/>
          <p:nvPr/>
        </p:nvSpPr>
        <p:spPr>
          <a:xfrm>
            <a:off x="786384" y="3429000"/>
            <a:ext cx="5440680" cy="1965960"/>
          </a:xfrm>
          <a:prstGeom prst="rect">
            <a:avLst/>
          </a:prstGeom>
          <a:noFill/>
        </p:spPr>
        <p:txBody>
          <a:bodyPr wrap="square">
            <a:normAutofit/>
          </a:bodyPr>
          <a:lstStyle/>
          <a:p>
            <a:pPr>
              <a:spcAft>
                <a:spcPts val="800"/>
              </a:spcAft>
              <a:defRPr sz="1600">
                <a:solidFill>
                  <a:srgbClr val="1F2937"/>
                </a:solidFill>
              </a:defRPr>
            </a:pPr>
            <a:r>
              <a:t>Prioritize regulatory compliance and ethical AI deployment.</a:t>
            </a:r>
          </a:p>
          <a:p>
            <a:pPr>
              <a:spcAft>
                <a:spcPts val="800"/>
              </a:spcAft>
              <a:defRPr sz="1600">
                <a:solidFill>
                  <a:srgbClr val="1F2937"/>
                </a:solidFill>
              </a:defRPr>
            </a:pPr>
            <a:r>
              <a:t>Invest in building public trust and demonstrating the value of SARs.</a:t>
            </a:r>
          </a:p>
          <a:p>
            <a:pPr>
              <a:spcAft>
                <a:spcPts val="800"/>
              </a:spcAft>
              <a:defRPr sz="1600">
                <a:solidFill>
                  <a:srgbClr val="1F2937"/>
                </a:solidFill>
              </a:defRPr>
            </a:pPr>
            <a:r>
              <a:t>Develop robust data security and privacy protocols.</a:t>
            </a:r>
          </a:p>
          <a:p>
            <a:pPr>
              <a:spcAft>
                <a:spcPts val="800"/>
              </a:spcAft>
              <a:defRPr sz="1600">
                <a:solidFill>
                  <a:srgbClr val="1F2937"/>
                </a:solidFill>
              </a:defRPr>
            </a:pPr>
            <a:r>
              <a:t>Foster partnerships with local healthcare providers and technology firms.</a:t>
            </a:r>
          </a:p>
          <a:p>
            <a:pPr>
              <a:spcAft>
                <a:spcPts val="800"/>
              </a:spcAft>
              <a:defRPr sz="1600">
                <a:solidFill>
                  <a:srgbClr val="1F2937"/>
                </a:solidFill>
              </a:defRPr>
            </a:pPr>
            <a:r>
              <a:t>Plan for phased implementation and continuous user feedback.</a:t>
            </a:r>
          </a:p>
        </p:txBody>
      </p:sp>
      <p:sp>
        <p:nvSpPr>
          <p:cNvPr id="12" name="Rounded Rectangle 11"/>
          <p:cNvSpPr/>
          <p:nvPr/>
        </p:nvSpPr>
        <p:spPr>
          <a:xfrm>
            <a:off x="7086600" y="1097280"/>
            <a:ext cx="4526280" cy="4526280"/>
          </a:xfrm>
          <a:prstGeom prst="roundRect">
            <a:avLst/>
          </a:prstGeom>
          <a:solidFill>
            <a:srgbClr val="FFFFFF"/>
          </a:solidFill>
          <a:ln>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166534"/>
                </a:solidFill>
              </a:rPr>
              <a:t>Process concept</a:t>
            </a:r>
          </a:p>
          <a:p>
            <a:pPr>
              <a:defRPr sz="1400">
                <a:solidFill>
                  <a:srgbClr val="334155"/>
                </a:solidFill>
              </a:defRPr>
            </a:pPr>
            <a:r>
              <a:t>A flowchart outlining the key steps for strategic market entry, including research, development, regulatory approval, pilot programs, and full-scale deployment, with risk mitigation points highlighted.</a:t>
            </a:r>
          </a:p>
        </p:txBody>
      </p:sp>
      <p:sp>
        <p:nvSpPr>
          <p:cNvPr id="13" name="Rounded Rectangle 12"/>
          <p:cNvSpPr/>
          <p:nvPr/>
        </p:nvSpPr>
        <p:spPr>
          <a:xfrm>
            <a:off x="7114032" y="5623560"/>
            <a:ext cx="4443984" cy="4572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a:solidFill>
                  <a:srgbClr val="1F2937"/>
                </a:solidFill>
              </a:rPr>
              <a:t>Evidence: reasoned synthesis</a:t>
            </a:r>
          </a:p>
        </p:txBody>
      </p:sp>
      <p:sp>
        <p:nvSpPr>
          <p:cNvPr id="14" name="TextBox 13"/>
          <p:cNvSpPr txBox="1"/>
          <p:nvPr/>
        </p:nvSpPr>
        <p:spPr>
          <a:xfrm>
            <a:off x="640080" y="6163056"/>
            <a:ext cx="10972800" cy="310896"/>
          </a:xfrm>
          <a:prstGeom prst="rect">
            <a:avLst/>
          </a:prstGeom>
          <a:noFill/>
        </p:spPr>
        <p:txBody>
          <a:bodyPr wrap="none">
            <a:spAutoFit/>
          </a:bodyPr>
          <a:lstStyle/>
          <a:p>
            <a:pPr algn="l"/>
            <a:r>
              <a:rPr sz="1000">
                <a:solidFill>
                  <a:srgbClr val="475569"/>
                </a:solidFill>
              </a:rPr>
              <a:t>Slide 7  |  Evidence: reasoned synthesis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C121C"/>
        </a:solidFill>
        <a:effectLst/>
      </p:bgPr>
    </p:bg>
    <p:spTree>
      <p:nvGrpSpPr>
        <p:cNvPr id="1" name=""/>
        <p:cNvGrpSpPr/>
        <p:nvPr/>
      </p:nvGrpSpPr>
      <p:grpSpPr/>
      <p:pic>
        <p:nvPicPr>
          <p:cNvPr id="2" name="Picture 1" descr="2a1de542-04c7-45ed-bd9b-f68586de0987.jpeg"/>
          <p:cNvPicPr>
            <a:picLocks noChangeAspect="1"/>
          </p:cNvPicPr>
          <p:nvPr/>
        </p:nvPicPr>
        <p:blipFill>
          <a:blip r:embed="rId2"/>
          <a:stretch>
            <a:fillRect/>
          </a:stretch>
        </p:blipFill>
        <p:spPr>
          <a:xfrm>
            <a:off x="0" y="0"/>
            <a:ext cx="12191695" cy="6858000"/>
          </a:xfrm>
          <a:prstGeom prst="rect">
            <a:avLst/>
          </a:prstGeom>
        </p:spPr>
      </p:pic>
      <p:sp>
        <p:nvSpPr>
          <p:cNvPr id="3" name="Rectangle 2"/>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347472"/>
          </a:xfrm>
          <a:prstGeom prst="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8549640" y="502920"/>
            <a:ext cx="3017520" cy="3017520"/>
          </a:xfrm>
          <a:prstGeom prst="ellipse">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58368" y="384048"/>
            <a:ext cx="1417320" cy="347472"/>
          </a:xfrm>
          <a:prstGeom prst="round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FFFFFF"/>
                </a:solidFill>
              </a:rPr>
              <a:t>SLIDE 08</a:t>
            </a:r>
          </a:p>
        </p:txBody>
      </p:sp>
      <p:sp>
        <p:nvSpPr>
          <p:cNvPr id="7" name="Rounded Rectangle 6"/>
          <p:cNvSpPr/>
          <p:nvPr/>
        </p:nvSpPr>
        <p:spPr>
          <a:xfrm>
            <a:off x="384048" y="841248"/>
            <a:ext cx="6583680" cy="50292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1005840"/>
            <a:ext cx="5852160" cy="822960"/>
          </a:xfrm>
          <a:prstGeom prst="rect">
            <a:avLst/>
          </a:prstGeom>
          <a:noFill/>
        </p:spPr>
        <p:txBody>
          <a:bodyPr wrap="square">
            <a:spAutoFit/>
          </a:bodyPr>
          <a:lstStyle/>
          <a:p>
            <a:r>
              <a:rPr sz="2400" b="1">
                <a:solidFill>
                  <a:srgbClr val="0F172A"/>
                </a:solidFill>
              </a:rPr>
              <a:t>Investing in the Future of Care</a:t>
            </a:r>
          </a:p>
        </p:txBody>
      </p:sp>
      <p:sp>
        <p:nvSpPr>
          <p:cNvPr id="9" name="TextBox 8"/>
          <p:cNvSpPr txBox="1"/>
          <p:nvPr/>
        </p:nvSpPr>
        <p:spPr>
          <a:xfrm>
            <a:off x="694944" y="1572768"/>
            <a:ext cx="5760720" cy="438912"/>
          </a:xfrm>
          <a:prstGeom prst="rect">
            <a:avLst/>
          </a:prstGeom>
          <a:noFill/>
        </p:spPr>
        <p:txBody>
          <a:bodyPr wrap="none">
            <a:spAutoFit/>
          </a:bodyPr>
          <a:lstStyle/>
          <a:p>
            <a:r>
              <a:rPr sz="1200" b="1">
                <a:solidFill>
                  <a:srgbClr val="166534"/>
                </a:solidFill>
              </a:rPr>
              <a:t>To conclude with a call to action, emphasizing the investment opportunity and future vision.</a:t>
            </a:r>
          </a:p>
        </p:txBody>
      </p:sp>
      <p:sp>
        <p:nvSpPr>
          <p:cNvPr id="10" name="TextBox 9"/>
          <p:cNvSpPr txBox="1"/>
          <p:nvPr/>
        </p:nvSpPr>
        <p:spPr>
          <a:xfrm>
            <a:off x="731520" y="2011680"/>
            <a:ext cx="5486400" cy="1298448"/>
          </a:xfrm>
          <a:prstGeom prst="rect">
            <a:avLst/>
          </a:prstGeom>
          <a:noFill/>
        </p:spPr>
        <p:txBody>
          <a:bodyPr wrap="square">
            <a:normAutofit/>
          </a:bodyPr>
          <a:lstStyle/>
          <a:p>
            <a:r>
              <a:rPr sz="1400">
                <a:solidFill>
                  <a:srgbClr val="334155"/>
                </a:solidFill>
              </a:rPr>
              <a:t>The 2026 Japanese Care-Bot market represents a unique confluence of demographic necessity, technological advancement, and cultural resonance. By investing in SARs powered by Sensory Fusion AI, we can address a critical societal need, capture significant market share, and redefine elder care with a blend of efficiency and heartfelt hospitality. This is an opportunity to lead in a rapidly growing sector and make a profound positive impact.</a:t>
            </a:r>
          </a:p>
        </p:txBody>
      </p:sp>
      <p:sp>
        <p:nvSpPr>
          <p:cNvPr id="11" name="TextBox 10"/>
          <p:cNvSpPr txBox="1"/>
          <p:nvPr/>
        </p:nvSpPr>
        <p:spPr>
          <a:xfrm>
            <a:off x="786384" y="3429000"/>
            <a:ext cx="5440680" cy="1965960"/>
          </a:xfrm>
          <a:prstGeom prst="rect">
            <a:avLst/>
          </a:prstGeom>
          <a:noFill/>
        </p:spPr>
        <p:txBody>
          <a:bodyPr wrap="square">
            <a:normAutofit/>
          </a:bodyPr>
          <a:lstStyle/>
          <a:p>
            <a:pPr>
              <a:spcAft>
                <a:spcPts val="800"/>
              </a:spcAft>
              <a:defRPr sz="1600">
                <a:solidFill>
                  <a:srgbClr val="1F2937"/>
                </a:solidFill>
              </a:defRPr>
            </a:pPr>
            <a:r>
              <a:t>Significant ROI potential in a high-growth market.</a:t>
            </a:r>
          </a:p>
          <a:p>
            <a:pPr>
              <a:spcAft>
                <a:spcPts val="800"/>
              </a:spcAft>
              <a:defRPr sz="1600">
                <a:solidFill>
                  <a:srgbClr val="1F2937"/>
                </a:solidFill>
              </a:defRPr>
            </a:pPr>
            <a:r>
              <a:t>Opportunity to be at the forefront of AI-driven elder care innovation.</a:t>
            </a:r>
          </a:p>
          <a:p>
            <a:pPr>
              <a:spcAft>
                <a:spcPts val="800"/>
              </a:spcAft>
              <a:defRPr sz="1600">
                <a:solidFill>
                  <a:srgbClr val="1F2937"/>
                </a:solidFill>
              </a:defRPr>
            </a:pPr>
            <a:r>
              <a:t>Aligning technology with Japanese cultural values for market acceptance.</a:t>
            </a:r>
          </a:p>
          <a:p>
            <a:pPr>
              <a:spcAft>
                <a:spcPts val="800"/>
              </a:spcAft>
              <a:defRPr sz="1600">
                <a:solidFill>
                  <a:srgbClr val="1F2937"/>
                </a:solidFill>
              </a:defRPr>
            </a:pPr>
            <a:r>
              <a:t>Partner with us to shape the future of care in Japan.</a:t>
            </a:r>
          </a:p>
        </p:txBody>
      </p:sp>
      <p:sp>
        <p:nvSpPr>
          <p:cNvPr id="12" name="Rounded Rectangle 11"/>
          <p:cNvSpPr/>
          <p:nvPr/>
        </p:nvSpPr>
        <p:spPr>
          <a:xfrm>
            <a:off x="7086600" y="1097280"/>
            <a:ext cx="4526280" cy="4526280"/>
          </a:xfrm>
          <a:prstGeom prst="roundRect">
            <a:avLst/>
          </a:prstGeom>
          <a:solidFill>
            <a:srgbClr val="FFFFFF"/>
          </a:solidFill>
          <a:ln>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166534"/>
                </a:solidFill>
              </a:rPr>
              <a:t>Closing concept</a:t>
            </a:r>
          </a:p>
          <a:p>
            <a:pPr>
              <a:defRPr sz="1400">
                <a:solidFill>
                  <a:srgbClr val="334155"/>
                </a:solidFill>
              </a:defRPr>
            </a:pPr>
            <a:r>
              <a:t>A forward-looking image combining elements of advanced technology (robotics, AI interfaces) with warm human interaction and subtle Japanese motifs. Include contact information and a clear call to action.</a:t>
            </a:r>
          </a:p>
        </p:txBody>
      </p:sp>
      <p:sp>
        <p:nvSpPr>
          <p:cNvPr id="13" name="Rounded Rectangle 12"/>
          <p:cNvSpPr/>
          <p:nvPr/>
        </p:nvSpPr>
        <p:spPr>
          <a:xfrm>
            <a:off x="7114032" y="5623560"/>
            <a:ext cx="4443984" cy="4572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a:solidFill>
                  <a:srgbClr val="1F2937"/>
                </a:solidFill>
              </a:rPr>
              <a:t>Evidence: reasoned synthesis</a:t>
            </a:r>
          </a:p>
        </p:txBody>
      </p:sp>
      <p:sp>
        <p:nvSpPr>
          <p:cNvPr id="14" name="TextBox 13"/>
          <p:cNvSpPr txBox="1"/>
          <p:nvPr/>
        </p:nvSpPr>
        <p:spPr>
          <a:xfrm>
            <a:off x="640080" y="6163056"/>
            <a:ext cx="10972800" cy="310896"/>
          </a:xfrm>
          <a:prstGeom prst="rect">
            <a:avLst/>
          </a:prstGeom>
          <a:noFill/>
        </p:spPr>
        <p:txBody>
          <a:bodyPr wrap="none">
            <a:spAutoFit/>
          </a:bodyPr>
          <a:lstStyle/>
          <a:p>
            <a:pPr algn="l"/>
            <a:r>
              <a:rPr sz="1000">
                <a:solidFill>
                  <a:srgbClr val="475569"/>
                </a:solidFill>
              </a:rPr>
              <a:t>Slide 8  |  Evidence: reasoned synthesis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