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Unsustainable Status Quo</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highlight the current challenges and missed opportunities in the traditional coffee market.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global coffee market is vast, yet often plagued by supply chain inefficiencies, inconsistent quality, and a growing consumer demand for ethical and sustainable options. Traditional models struggle to meet these evolving expectations, leaving a significant gap for innovative solutions.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The global coffee market faces increasing pressure for sustainability.</a:t>
            </a:r>
          </a:p>
          <a:p>
            <a:pPr>
              <a:spcAft>
                <a:spcPts val="800"/>
              </a:spcAft>
              <a:defRPr sz="1600">
                <a:solidFill>
                  <a:srgbClr val="1F2937"/>
                </a:solidFill>
              </a:defRPr>
            </a:pPr>
            <a:r>
              <a:t>Current models often lack transparency and direct consumer connection.</a:t>
            </a:r>
          </a:p>
          <a:p>
            <a:pPr>
              <a:spcAft>
                <a:spcPts val="800"/>
              </a:spcAft>
              <a:defRPr sz="1600">
                <a:solidFill>
                  <a:srgbClr val="1F2937"/>
                </a:solidFill>
              </a:defRPr>
            </a:pPr>
            <a:r>
              <a:t>Consumer preferences are shifting towards ethical and eco-conscious brands.</a:t>
            </a:r>
          </a:p>
          <a:p>
            <a:pPr>
              <a:spcAft>
                <a:spcPts val="800"/>
              </a:spcAft>
              <a:defRPr sz="1600">
                <a:solidFill>
                  <a:srgbClr val="1F2937"/>
                </a:solidFill>
              </a:defRPr>
            </a:pPr>
            <a:r>
              <a:t>Untapped potential in direct-to-consumer subscription models.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Title concept</a:t>
            </a:r>
          </a:p>
          <a:p>
            <a:pPr>
              <a:defRPr sz="1400">
                <a:solidFill>
                  <a:srgbClr val="334155"/>
                </a:solidFill>
              </a:defRPr>
            </a:pPr>
            <a:r>
              <a:t>A striking image of a coffee farm juxtaposed with a modern, sleek coffee cup, symbolizing the blend of tradition and innovation.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Growing Demand for Sustainable Coffee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establish the significant and growing market demand for sustainable coffee options.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Consumer consciousness around sustainability is at an all-time high, directly impacting purchasing decisions. This trend is particularly pronounced in the premium beverage sector, where consumers are actively seeking out ethically sourced and environmentally friendly products.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Increasing consumer awareness and preference for sustainable products.</a:t>
            </a:r>
          </a:p>
          <a:p>
            <a:pPr>
              <a:spcAft>
                <a:spcPts val="800"/>
              </a:spcAft>
              <a:defRPr sz="1600">
                <a:solidFill>
                  <a:srgbClr val="1F2937"/>
                </a:solidFill>
              </a:defRPr>
            </a:pPr>
            <a:r>
              <a:t>Growth in demand for ethically sourced and environmentally friendly coffee.</a:t>
            </a:r>
          </a:p>
          <a:p>
            <a:pPr>
              <a:spcAft>
                <a:spcPts val="800"/>
              </a:spcAft>
              <a:defRPr sz="1600">
                <a:solidFill>
                  <a:srgbClr val="1F2937"/>
                </a:solidFill>
              </a:defRPr>
            </a:pPr>
            <a:r>
              <a:t>The subscription model is ideal for meeting consistent demand for quality and sustainability.</a:t>
            </a:r>
          </a:p>
          <a:p>
            <a:pPr>
              <a:spcAft>
                <a:spcPts val="800"/>
              </a:spcAft>
              <a:defRPr sz="1600">
                <a:solidFill>
                  <a:srgbClr val="1F2937"/>
                </a:solidFill>
              </a:defRPr>
            </a:pPr>
            <a:r>
              <a:t>Projected market growth indicates a strong future for sustainable coffee.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bar chart showing projected market growth for sustainable coffee subscriptions, with a clear upward trend towards 2026. (Note: Actual 2026 data is unavailable, so this will be a projection based on current trends).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ORB-5a39225e</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ORB-5a39225e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Power of Loyalty-Driven Recurring Revenue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explain the business value of loyalty-driven recurring revenue in subscription models.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Our subscription model is built on the principle of loyalty-driven recurring revenue, fostering deep customer relationships and predictable income streams. This approach not only ensures consistent revenue but also cultivates brand advocacy and reduces customer acquisition costs over time.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Subscription models create predictable, recurring revenue.</a:t>
            </a:r>
          </a:p>
          <a:p>
            <a:pPr>
              <a:spcAft>
                <a:spcPts val="800"/>
              </a:spcAft>
              <a:defRPr sz="1600">
                <a:solidFill>
                  <a:srgbClr val="1F2937"/>
                </a:solidFill>
              </a:defRPr>
            </a:pPr>
            <a:r>
              <a:t>Loyalty programs enhance customer retention and lifetime value (LTV).</a:t>
            </a:r>
          </a:p>
          <a:p>
            <a:pPr>
              <a:spcAft>
                <a:spcPts val="800"/>
              </a:spcAft>
              <a:defRPr sz="1600">
                <a:solidFill>
                  <a:srgbClr val="1F2937"/>
                </a:solidFill>
              </a:defRPr>
            </a:pPr>
            <a:r>
              <a:t>Reduced marketing spend due to high customer retention.</a:t>
            </a:r>
          </a:p>
          <a:p>
            <a:pPr>
              <a:spcAft>
                <a:spcPts val="800"/>
              </a:spcAft>
              <a:defRPr sz="1600">
                <a:solidFill>
                  <a:srgbClr val="1F2937"/>
                </a:solidFill>
              </a:defRPr>
            </a:pPr>
            <a:r>
              <a:t>Stronger customer relationships translate to brand advocacy.</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diagram illustrating the customer lifecycle within a subscription model, highlighting retention, repeat purchases, and increasing LTV.</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ORB-19f8a133</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ORB-19f8a133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Operational Excellence: AI-Optimized Logistics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detail how AI optimizes delivery routes and reduces operational costs.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are leveraging cutting-edge AI to revolutionize our logistics and delivery operations. By optimizing delivery routes in real-time, we significantly reduce fuel consumption, delivery times, and overall operational costs, ensuring efficiency and sustainability.</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AI algorithms dynamically optimize delivery routes.</a:t>
            </a:r>
          </a:p>
          <a:p>
            <a:pPr>
              <a:spcAft>
                <a:spcPts val="800"/>
              </a:spcAft>
              <a:defRPr sz="1600">
                <a:solidFill>
                  <a:srgbClr val="1F2937"/>
                </a:solidFill>
              </a:defRPr>
            </a:pPr>
            <a:r>
              <a:t>Reduced fuel consumption and carbon footprint.</a:t>
            </a:r>
          </a:p>
          <a:p>
            <a:pPr>
              <a:spcAft>
                <a:spcPts val="800"/>
              </a:spcAft>
              <a:defRPr sz="1600">
                <a:solidFill>
                  <a:srgbClr val="1F2937"/>
                </a:solidFill>
              </a:defRPr>
            </a:pPr>
            <a:r>
              <a:t>Faster and more reliable delivery times for customers.</a:t>
            </a:r>
          </a:p>
          <a:p>
            <a:pPr>
              <a:spcAft>
                <a:spcPts val="800"/>
              </a:spcAft>
              <a:defRPr sz="1600">
                <a:solidFill>
                  <a:srgbClr val="1F2937"/>
                </a:solidFill>
              </a:defRPr>
            </a:pPr>
            <a:r>
              <a:t>Quantifiable cost savings in logistics operations.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 visual representation of AI-powered route optimization, showing a complex network of delivery paths being streamlined into efficient routes.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ORB-10f68860</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ORB-10f68860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Sustainable Packaging: Meeting Consumer Demand</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showcase the commitment to and market demand for compostable packaging.</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Our commitment to sustainability extends to our packaging. We are adopting advanced compostable packaging solutions that not only minimize environmental impact but also align with the growing consumer demand for eco-friendly products.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Utilizing fully compostable and biodegradable packaging materials.</a:t>
            </a:r>
          </a:p>
          <a:p>
            <a:pPr>
              <a:spcAft>
                <a:spcPts val="800"/>
              </a:spcAft>
              <a:defRPr sz="1600">
                <a:solidFill>
                  <a:srgbClr val="1F2937"/>
                </a:solidFill>
              </a:defRPr>
            </a:pPr>
            <a:r>
              <a:t>Addressing consumer concerns about single-use plastics.</a:t>
            </a:r>
          </a:p>
          <a:p>
            <a:pPr>
              <a:spcAft>
                <a:spcPts val="800"/>
              </a:spcAft>
              <a:defRPr sz="1600">
                <a:solidFill>
                  <a:srgbClr val="1F2937"/>
                </a:solidFill>
              </a:defRPr>
            </a:pPr>
            <a:r>
              <a:t>Enhancing brand image through visible sustainability efforts.</a:t>
            </a:r>
          </a:p>
          <a:p>
            <a:pPr>
              <a:spcAft>
                <a:spcPts val="800"/>
              </a:spcAft>
              <a:defRPr sz="1600">
                <a:solidFill>
                  <a:srgbClr val="1F2937"/>
                </a:solidFill>
              </a:defRPr>
            </a:pPr>
            <a:r>
              <a:t>Consumer willingness to pay a premium for sustainable packaging.</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Comparison concept</a:t>
            </a:r>
          </a:p>
          <a:p>
            <a:pPr>
              <a:defRPr sz="1400">
                <a:solidFill>
                  <a:srgbClr val="334155"/>
                </a:solidFill>
              </a:defRPr>
            </a:pPr>
            <a:r>
              <a:t>A side-by-side comparison of traditional plastic coffee packaging versus our innovative, compostable packaging, highlighting environmental benefits.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ORB-06193c14</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ORB-06193c14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Synergy: Digital Twins &amp; Operational Intelligence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illustrate how digital twin technology enhances operational oversight and decision-making.</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are integrating 'Digital Twin' technology to create a virtual replica of our operations. This allows for sophisticated simulation, predictive analysis, and enhanced decision-making, ensuring optimal performance across our supply chain and customer engagement.</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Digital Twins provide real-time operational visibility.</a:t>
            </a:r>
          </a:p>
          <a:p>
            <a:pPr>
              <a:spcAft>
                <a:spcPts val="800"/>
              </a:spcAft>
              <a:defRPr sz="1600">
                <a:solidFill>
                  <a:srgbClr val="1F2937"/>
                </a:solidFill>
              </a:defRPr>
            </a:pPr>
            <a:r>
              <a:t>Enables predictive maintenance and proactive issue resolution.</a:t>
            </a:r>
          </a:p>
          <a:p>
            <a:pPr>
              <a:spcAft>
                <a:spcPts val="800"/>
              </a:spcAft>
              <a:defRPr sz="1600">
                <a:solidFill>
                  <a:srgbClr val="1F2937"/>
                </a:solidFill>
              </a:defRPr>
            </a:pPr>
            <a:r>
              <a:t>Facilitates scenario planning and optimization.</a:t>
            </a:r>
          </a:p>
          <a:p>
            <a:pPr>
              <a:spcAft>
                <a:spcPts val="800"/>
              </a:spcAft>
              <a:defRPr sz="1600">
                <a:solidFill>
                  <a:srgbClr val="1F2937"/>
                </a:solidFill>
              </a:defRPr>
            </a:pPr>
            <a:r>
              <a:t>Drives continuous improvement in efficiency and sustainability.</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 diagram showing the concept of a Digital Twin, with a virtual space mirroring a real-world operational space, connected by data flows.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ORB-fa1f3ca0, ORB-4c201c15</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ORB-fa1f3ca0, ORB-4c201c15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Investment Opportunity &amp; Projected ROI</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clearly outline the investment required and the projected return on investment.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are seeking [Investment Amount] to scale our AI-driven logistics and expand our sustainable packaging initiatives. This investment will accelerate our market penetration, enhance operational efficiencies, and drive significant returns through our robust, loyalty-driven recurring revenue model.</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Seeking [Investment Amount] for strategic growth.</a:t>
            </a:r>
          </a:p>
          <a:p>
            <a:pPr>
              <a:spcAft>
                <a:spcPts val="800"/>
              </a:spcAft>
              <a:defRPr sz="1600">
                <a:solidFill>
                  <a:srgbClr val="1F2937"/>
                </a:solidFill>
              </a:defRPr>
            </a:pPr>
            <a:r>
              <a:t>Funds allocated to AI development and packaging innovation.</a:t>
            </a:r>
          </a:p>
          <a:p>
            <a:pPr>
              <a:spcAft>
                <a:spcPts val="800"/>
              </a:spcAft>
              <a:defRPr sz="1600">
                <a:solidFill>
                  <a:srgbClr val="1F2937"/>
                </a:solidFill>
              </a:defRPr>
            </a:pPr>
            <a:r>
              <a:t>Projected revenue growth of X% within Y years.</a:t>
            </a:r>
          </a:p>
          <a:p>
            <a:pPr>
              <a:spcAft>
                <a:spcPts val="800"/>
              </a:spcAft>
              <a:defRPr sz="1600">
                <a:solidFill>
                  <a:srgbClr val="1F2937"/>
                </a:solidFill>
              </a:defRPr>
            </a:pPr>
            <a:r>
              <a:t>Clear path to profitability and strong ROI for investors.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financial projection chart showing anticipated revenue growth, profitability, and ROI over a 3-5 year period.</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ORB-5c392235</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ORB-5c392235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Join Us in Brewing a Sustainable Future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provide a clear call to action and reiterate the value proposition.</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invite you to partner with us in capitalizing on the burgeoning sustainable coffee subscription market. By investing in our innovative, loyalty-driven, and technologically advanced model, you are investing in a future of consistent growth, operational excellence, and positive environmental impact.</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A unique opportunity in a high-growth, sustainable market.</a:t>
            </a:r>
          </a:p>
          <a:p>
            <a:pPr>
              <a:spcAft>
                <a:spcPts val="800"/>
              </a:spcAft>
              <a:defRPr sz="1600">
                <a:solidFill>
                  <a:srgbClr val="1F2937"/>
                </a:solidFill>
              </a:defRPr>
            </a:pPr>
            <a:r>
              <a:t>Proven business model with strong recurring revenue potential.</a:t>
            </a:r>
          </a:p>
          <a:p>
            <a:pPr>
              <a:spcAft>
                <a:spcPts val="800"/>
              </a:spcAft>
              <a:defRPr sz="1600">
                <a:solidFill>
                  <a:srgbClr val="1F2937"/>
                </a:solidFill>
              </a:defRPr>
            </a:pPr>
            <a:r>
              <a:t>Leveraging AI and sustainable tech for competitive advantage.</a:t>
            </a:r>
          </a:p>
          <a:p>
            <a:pPr>
              <a:spcAft>
                <a:spcPts val="800"/>
              </a:spcAft>
              <a:defRPr sz="1600">
                <a:solidFill>
                  <a:srgbClr val="1F2937"/>
                </a:solidFill>
              </a:defRPr>
            </a:pPr>
            <a:r>
              <a:t>Partner with us to shape the future of coffee consumption.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Closing concept</a:t>
            </a:r>
          </a:p>
          <a:p>
            <a:pPr>
              <a:defRPr sz="1400">
                <a:solidFill>
                  <a:srgbClr val="334155"/>
                </a:solidFill>
              </a:defRPr>
            </a:pPr>
            <a:r>
              <a:t>An inspiring image of diverse hands holding coffee cups, symbolizing community, sustainability, and shared success.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ORB-a131c70a</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ORB-a131c70a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