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01</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800" b="1">
                <a:solidFill>
                  <a:srgbClr val="0F172A"/>
                </a:solidFill>
              </a:rPr>
              <a:t>The Untapped Potential: A Growing Market for Conscious Consumption</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highlight the significant and expanding market for sustainable coffee and subscription services.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The demand for ethically sourced and environmentally friendly products is rapidly increasing. Consumers are actively seeking brands that align with their values, creating a fertile ground for sustainable coffee businesses. Subscription models further capitalize on this trend by offering convenience and consistent access to high-quality, conscious products.</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Surging consumer preference for sustainable and ethically sourced goods.</a:t>
            </a:r>
          </a:p>
          <a:p>
            <a:pPr>
              <a:spcAft>
                <a:spcPts val="800"/>
              </a:spcAft>
              <a:defRPr sz="1600">
                <a:solidFill>
                  <a:srgbClr val="1F2937"/>
                </a:solidFill>
              </a:defRPr>
            </a:pPr>
            <a:r>
              <a:t>Growth in the direct-to-consumer (DTC) coffee market.</a:t>
            </a:r>
          </a:p>
          <a:p>
            <a:pPr>
              <a:spcAft>
                <a:spcPts val="800"/>
              </a:spcAft>
              <a:defRPr sz="1600">
                <a:solidFill>
                  <a:srgbClr val="1F2937"/>
                </a:solidFill>
              </a:defRPr>
            </a:pPr>
            <a:r>
              <a:t>Increasing adoption of subscription services across various industries.</a:t>
            </a:r>
          </a:p>
          <a:p>
            <a:pPr>
              <a:spcAft>
                <a:spcPts val="800"/>
              </a:spcAft>
              <a:defRPr sz="1600">
                <a:solidFill>
                  <a:srgbClr val="1F2937"/>
                </a:solidFill>
              </a:defRPr>
            </a:pPr>
            <a:r>
              <a:t>Untapped potential for specialized, sustainable coffee offerings.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Timeline concept</a:t>
            </a:r>
          </a:p>
          <a:p>
            <a:pPr>
              <a:defRPr sz="1400">
                <a:solidFill>
                  <a:srgbClr val="334155"/>
                </a:solidFill>
              </a:defRPr>
            </a:pPr>
            <a:r>
              <a:t>A timeline graphic showing the projected growth of the sustainable coffee market and subscription service adoption over the next 5 years.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1  |  Evidence: reasoned synthesis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02</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The Power of Loyalty: Building Recurring Revenue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explain how loyalty-driven recurring revenue creates a stable and profitable business.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Our model is built on fostering deep customer loyalty, which translates directly into predictable, recurring revenue. By consistently delivering value and aligning with consumer ethics, we reduce customer acquisition costs and increase lifetime value. This creates a resilient business that is less susceptible to market fluctuations.</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Quantifiable benefits of loyalty programs in reducing churn.</a:t>
            </a:r>
          </a:p>
          <a:p>
            <a:pPr>
              <a:spcAft>
                <a:spcPts val="800"/>
              </a:spcAft>
              <a:defRPr sz="1600">
                <a:solidFill>
                  <a:srgbClr val="1F2937"/>
                </a:solidFill>
              </a:defRPr>
            </a:pPr>
            <a:r>
              <a:t>Higher Customer Lifetime Value (CLTV) compared to transactional models.</a:t>
            </a:r>
          </a:p>
          <a:p>
            <a:pPr>
              <a:spcAft>
                <a:spcPts val="800"/>
              </a:spcAft>
              <a:defRPr sz="1600">
                <a:solidFill>
                  <a:srgbClr val="1F2937"/>
                </a:solidFill>
              </a:defRPr>
            </a:pPr>
            <a:r>
              <a:t>Lower Customer Acquisition Cost (CAC) through organic growth and retention.</a:t>
            </a:r>
          </a:p>
          <a:p>
            <a:pPr>
              <a:spcAft>
                <a:spcPts val="800"/>
              </a:spcAft>
              <a:defRPr sz="1600">
                <a:solidFill>
                  <a:srgbClr val="1F2937"/>
                </a:solidFill>
              </a:defRPr>
            </a:pPr>
            <a:r>
              <a:t>Predictable revenue streams enabling better financial planning and investment.</a:t>
            </a:r>
          </a:p>
          <a:p>
            <a:pPr>
              <a:spcAft>
                <a:spcPts val="800"/>
              </a:spcAft>
              <a:defRPr sz="1600">
                <a:solidFill>
                  <a:srgbClr val="1F2937"/>
                </a:solidFill>
              </a:defRPr>
            </a:pPr>
            <a:r>
              <a:t>Building a community around shared values and quality coffee.</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Chart concept</a:t>
            </a:r>
          </a:p>
          <a:p>
            <a:pPr>
              <a:defRPr sz="1400">
                <a:solidFill>
                  <a:srgbClr val="334155"/>
                </a:solidFill>
              </a:defRPr>
            </a:pPr>
            <a:r>
              <a:t>A comparative chart illustrating the higher CLTV and lower CAC of a loyalty-driven recurring revenue model versus a traditional transactional model.</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ORB-19f8a133, ORB-67956677</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2  |  Evidence: ORB-19f8a133, ORB-67956677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03</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Our Solution: The Sustainable Subscription Ecosystem</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present our integrated approach to sustainable coffee subscriptions.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We offer a seamless and ethical coffee experience through a subscription model that prioritizes sustainability at every touchpoint. From sourcing to delivery, our operations are designed to minimize environmental impact while maximizing customer satisfaction and loyalty. This holistic approach differentiates us in a competitive market.</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Curated selection of ethically sourced, high-quality coffee beans.</a:t>
            </a:r>
          </a:p>
          <a:p>
            <a:pPr>
              <a:spcAft>
                <a:spcPts val="800"/>
              </a:spcAft>
              <a:defRPr sz="1600">
                <a:solidFill>
                  <a:srgbClr val="1F2937"/>
                </a:solidFill>
              </a:defRPr>
            </a:pPr>
            <a:r>
              <a:t>Convenient subscription options tailored to customer preferences.</a:t>
            </a:r>
          </a:p>
          <a:p>
            <a:pPr>
              <a:spcAft>
                <a:spcPts val="800"/>
              </a:spcAft>
              <a:defRPr sz="1600">
                <a:solidFill>
                  <a:srgbClr val="1F2937"/>
                </a:solidFill>
              </a:defRPr>
            </a:pPr>
            <a:r>
              <a:t>Commitment to eco-friendly packaging and reduced waste.</a:t>
            </a:r>
          </a:p>
          <a:p>
            <a:pPr>
              <a:spcAft>
                <a:spcPts val="800"/>
              </a:spcAft>
              <a:defRPr sz="1600">
                <a:solidFill>
                  <a:srgbClr val="1F2937"/>
                </a:solidFill>
              </a:defRPr>
            </a:pPr>
            <a:r>
              <a:t>Building a brand that resonates with conscious consumers.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Process concept</a:t>
            </a:r>
          </a:p>
          <a:p>
            <a:pPr>
              <a:defRPr sz="1400">
                <a:solidFill>
                  <a:srgbClr val="334155"/>
                </a:solidFill>
              </a:defRPr>
            </a:pPr>
            <a:r>
              <a:t>A flowchart illustrating the customer journey from subscription sign-up to receiving their sustainable coffee, highlighting key value-adds and sustainable practices.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3  |  Evidence: reasoned synthesis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04</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Technology Advantage: AI-Optimized Logistics</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showcase how AI enhances operational efficiency and scalability.</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We leverage cutting-edge AI to optimize our delivery routes, significantly reducing operational costs and environmental footprint. This intelligent system ensures timely deliveries, minimizes fuel consumption, and allows for rapid scaling of our operations. The efficiency gains translate directly into improved margins and a competitive edge.</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AI-powered route optimization for reduced delivery times and costs.</a:t>
            </a:r>
          </a:p>
          <a:p>
            <a:pPr>
              <a:spcAft>
                <a:spcPts val="800"/>
              </a:spcAft>
              <a:defRPr sz="1600">
                <a:solidFill>
                  <a:srgbClr val="1F2937"/>
                </a:solidFill>
              </a:defRPr>
            </a:pPr>
            <a:r>
              <a:t>Lowered carbon emissions through efficient logistics planning.</a:t>
            </a:r>
          </a:p>
          <a:p>
            <a:pPr>
              <a:spcAft>
                <a:spcPts val="800"/>
              </a:spcAft>
              <a:defRPr sz="1600">
                <a:solidFill>
                  <a:srgbClr val="1F2937"/>
                </a:solidFill>
              </a:defRPr>
            </a:pPr>
            <a:r>
              <a:t>Enhanced scalability to meet growing demand without proportional cost increases.</a:t>
            </a:r>
          </a:p>
          <a:p>
            <a:pPr>
              <a:spcAft>
                <a:spcPts val="800"/>
              </a:spcAft>
              <a:defRPr sz="1600">
                <a:solidFill>
                  <a:srgbClr val="1F2937"/>
                </a:solidFill>
              </a:defRPr>
            </a:pPr>
            <a:r>
              <a:t>Data-driven insights for continuous operational improvement.</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Architecture concept</a:t>
            </a:r>
          </a:p>
          <a:p>
            <a:pPr>
              <a:defRPr sz="1400">
                <a:solidFill>
                  <a:srgbClr val="334155"/>
                </a:solidFill>
              </a:defRPr>
            </a:pPr>
            <a:r>
              <a:t>A diagram illustrating the AI logistics system, showing data inputs (orders, traffic, weather) and outputs (optimized routes, delivery schedules).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4  |  Evidence: reasoned synthesis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05</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Technology Advantage: Next-Gen Compostable Packaging</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demonstrate the market appeal and risk mitigation offered by our packaging solutions.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Our commitment to sustainability extends to our packaging, utilizing advanced compostable materials. This not only appeals to environmentally conscious consumers but also mitigates risks associated with traditional plastic waste regulations and consumer backlash. It's a key differentiator that enhances brand perception and marketability.</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Use of certified compostable and biodegradable packaging materials.</a:t>
            </a:r>
          </a:p>
          <a:p>
            <a:pPr>
              <a:spcAft>
                <a:spcPts val="800"/>
              </a:spcAft>
              <a:defRPr sz="1600">
                <a:solidFill>
                  <a:srgbClr val="1F2937"/>
                </a:solidFill>
              </a:defRPr>
            </a:pPr>
            <a:r>
              <a:t>Meeting and exceeding consumer expectations for eco-friendly products.</a:t>
            </a:r>
          </a:p>
          <a:p>
            <a:pPr>
              <a:spcAft>
                <a:spcPts val="800"/>
              </a:spcAft>
              <a:defRPr sz="1600">
                <a:solidFill>
                  <a:srgbClr val="1F2937"/>
                </a:solidFill>
              </a:defRPr>
            </a:pPr>
            <a:r>
              <a:t>Reducing environmental impact and waste associated with coffee consumption.</a:t>
            </a:r>
          </a:p>
          <a:p>
            <a:pPr>
              <a:spcAft>
                <a:spcPts val="800"/>
              </a:spcAft>
              <a:defRPr sz="1600">
                <a:solidFill>
                  <a:srgbClr val="1F2937"/>
                </a:solidFill>
              </a:defRPr>
            </a:pPr>
            <a:r>
              <a:t>Mitigating regulatory risks and enhancing brand reputation.</a:t>
            </a:r>
          </a:p>
          <a:p>
            <a:pPr>
              <a:spcAft>
                <a:spcPts val="800"/>
              </a:spcAft>
              <a:defRPr sz="1600">
                <a:solidFill>
                  <a:srgbClr val="1F2937"/>
                </a:solidFill>
              </a:defRPr>
            </a:pPr>
            <a:r>
              <a:t>Consumer validation of sustainable packaging as a purchasing driver.</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Comparison concept</a:t>
            </a:r>
          </a:p>
          <a:p>
            <a:pPr>
              <a:defRPr sz="1400">
                <a:solidFill>
                  <a:srgbClr val="334155"/>
                </a:solidFill>
              </a:defRPr>
            </a:pPr>
            <a:r>
              <a:t>A visual comparison of traditional coffee packaging versus our compostable packaging, highlighting environmental benefits and consumer appeal.</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5  |  Evidence: reasoned synthesis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06</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Addressing the Investment: Risks and Returns</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transparently address potential risks and outline the strong return on investment.</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We acknowledge the upfront investment required for advanced technology and sustainable materials. However, these investments yield significant long-term savings through operational efficiencies and reduced waste. Our robust business model, driven by customer loyalty and market differentiation, ensures a strong and sustainable return on investment for our partners.</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Clear breakdown of upfront investment versus long-term operational savings.</a:t>
            </a:r>
          </a:p>
          <a:p>
            <a:pPr>
              <a:spcAft>
                <a:spcPts val="800"/>
              </a:spcAft>
              <a:defRPr sz="1600">
                <a:solidFill>
                  <a:srgbClr val="1F2937"/>
                </a:solidFill>
              </a:defRPr>
            </a:pPr>
            <a:r>
              <a:t>Strategies for mitigating market saturation and competitive pressures.</a:t>
            </a:r>
          </a:p>
          <a:p>
            <a:pPr>
              <a:spcAft>
                <a:spcPts val="800"/>
              </a:spcAft>
              <a:defRPr sz="1600">
                <a:solidFill>
                  <a:srgbClr val="1F2937"/>
                </a:solidFill>
              </a:defRPr>
            </a:pPr>
            <a:r>
              <a:t>Projected ROI based on conservative growth and retention estimates.</a:t>
            </a:r>
          </a:p>
          <a:p>
            <a:pPr>
              <a:spcAft>
                <a:spcPts val="800"/>
              </a:spcAft>
              <a:defRPr sz="1600">
                <a:solidFill>
                  <a:srgbClr val="1F2937"/>
                </a:solidFill>
              </a:defRPr>
            </a:pPr>
            <a:r>
              <a:t>Path to profitability and market leadership.</a:t>
            </a:r>
          </a:p>
          <a:p>
            <a:pPr>
              <a:spcAft>
                <a:spcPts val="800"/>
              </a:spcAft>
              <a:defRPr sz="1600">
                <a:solidFill>
                  <a:srgbClr val="1F2937"/>
                </a:solidFill>
              </a:defRPr>
            </a:pPr>
            <a:r>
              <a:t>Scalability of the model to capture significant market share.</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Chart concept</a:t>
            </a:r>
          </a:p>
          <a:p>
            <a:pPr>
              <a:defRPr sz="1400">
                <a:solidFill>
                  <a:srgbClr val="334155"/>
                </a:solidFill>
              </a:defRPr>
            </a:pPr>
            <a:r>
              <a:t>A projection chart showing the investment timeline, cost savings from AI and packaging, and projected revenue growth leading to a strong ROI.</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6  |  Evidence: reasoned synthesis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07</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Market Validation: Consumer Adoption and Loyalty</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provide evidence of consumer demand and loyalty for sustainable coffee.</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Our strategy is validated by growing consumer demand for sustainable products and a proven willingness to pay a premium for them. Customer feedback and early adoption rates indicate strong loyalty to brands that prioritize ethical sourcing and environmental responsibility. This demonstrates a clear market appetite for our offering.</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Data on consumer willingness to pay more for sustainable products.</a:t>
            </a:r>
          </a:p>
          <a:p>
            <a:pPr>
              <a:spcAft>
                <a:spcPts val="800"/>
              </a:spcAft>
              <a:defRPr sz="1600">
                <a:solidFill>
                  <a:srgbClr val="1F2937"/>
                </a:solidFill>
              </a:defRPr>
            </a:pPr>
            <a:r>
              <a:t>Case studies of successful sustainable brands and their loyal customer bases.</a:t>
            </a:r>
          </a:p>
          <a:p>
            <a:pPr>
              <a:spcAft>
                <a:spcPts val="800"/>
              </a:spcAft>
              <a:defRPr sz="1600">
                <a:solidFill>
                  <a:srgbClr val="1F2937"/>
                </a:solidFill>
              </a:defRPr>
            </a:pPr>
            <a:r>
              <a:t>Positive consumer response to eco-friendly packaging initiatives.</a:t>
            </a:r>
          </a:p>
          <a:p>
            <a:pPr>
              <a:spcAft>
                <a:spcPts val="800"/>
              </a:spcAft>
              <a:defRPr sz="1600">
                <a:solidFill>
                  <a:srgbClr val="1F2937"/>
                </a:solidFill>
              </a:defRPr>
            </a:pPr>
            <a:r>
              <a:t>High engagement rates and repeat purchases in subscription models.</a:t>
            </a:r>
          </a:p>
          <a:p>
            <a:pPr>
              <a:spcAft>
                <a:spcPts val="800"/>
              </a:spcAft>
              <a:defRPr sz="1600">
                <a:solidFill>
                  <a:srgbClr val="1F2937"/>
                </a:solidFill>
              </a:defRPr>
            </a:pPr>
            <a:r>
              <a:t>Building a brand that fosters genuine customer connection.</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Case Study concept</a:t>
            </a:r>
          </a:p>
          <a:p>
            <a:pPr>
              <a:defRPr sz="1400">
                <a:solidFill>
                  <a:srgbClr val="334155"/>
                </a:solidFill>
              </a:defRPr>
            </a:pPr>
            <a:r>
              <a:t>A brief case study highlighting a successful sustainable brand that has leveraged consumer loyalty and eco-friendly practices to achieve significant growth.</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7  |  Evidence: reasoned synthesis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08</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Join Us: Investing in a Sustainable Future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invite investors to partner in this high-growth, sustainable venture.</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This is a unique opportunity to invest in a business that combines strong financial returns with positive environmental and social impact. Our loyalty-driven recurring revenue model, powered by innovative technology and a deep commitment to sustainability, positions us for significant growth and market leadership. Partner with us to shape the future of coffee.</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Summary of the compelling investment opportunity.</a:t>
            </a:r>
          </a:p>
          <a:p>
            <a:pPr>
              <a:spcAft>
                <a:spcPts val="800"/>
              </a:spcAft>
              <a:defRPr sz="1600">
                <a:solidFill>
                  <a:srgbClr val="1F2937"/>
                </a:solidFill>
              </a:defRPr>
            </a:pPr>
            <a:r>
              <a:t>Vision for future growth and market expansion.</a:t>
            </a:r>
          </a:p>
          <a:p>
            <a:pPr>
              <a:spcAft>
                <a:spcPts val="800"/>
              </a:spcAft>
              <a:defRPr sz="1600">
                <a:solidFill>
                  <a:srgbClr val="1F2937"/>
                </a:solidFill>
              </a:defRPr>
            </a:pPr>
            <a:r>
              <a:t>Call to action for investment partnership.</a:t>
            </a:r>
          </a:p>
          <a:p>
            <a:pPr>
              <a:spcAft>
                <a:spcPts val="800"/>
              </a:spcAft>
              <a:defRPr sz="1600">
                <a:solidFill>
                  <a:srgbClr val="1F2937"/>
                </a:solidFill>
              </a:defRPr>
            </a:pPr>
            <a:r>
              <a:t>Commitment to transparency and stakeholder value.</a:t>
            </a:r>
          </a:p>
          <a:p>
            <a:pPr>
              <a:spcAft>
                <a:spcPts val="800"/>
              </a:spcAft>
              <a:defRPr sz="1600">
                <a:solidFill>
                  <a:srgbClr val="1F2937"/>
                </a:solidFill>
              </a:defRPr>
            </a:pPr>
            <a:r>
              <a:t>Building a profitable business with a purpose.</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Closing concept</a:t>
            </a:r>
          </a:p>
          <a:p>
            <a:pPr>
              <a:defRPr sz="1400">
                <a:solidFill>
                  <a:srgbClr val="334155"/>
                </a:solidFill>
              </a:defRPr>
            </a:pPr>
            <a:r>
              <a:t>A visually appealing slide with a clear call to action, contact information, and a reinforcing image of sustainable coffee and happy consumers.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8  |  Evidence: reasoned synthesis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