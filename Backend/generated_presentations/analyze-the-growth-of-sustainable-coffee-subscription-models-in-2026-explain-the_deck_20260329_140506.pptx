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01</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800" b="1">
                <a:solidFill>
                  <a:srgbClr val="0F172A"/>
                </a:solidFill>
              </a:rPr>
              <a:t>The Sustainable Coffee Revolution is Here</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establish the current and projected growth of the sustainable coffee market.</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The global demand for sustainably sourced coffee is experiencing unprecedented growth. Consumers are increasingly prioritizing ethical and environmental considerations in their purchasing decisions, creating a fertile ground for businesses that align with these values. This trend is not a fleeting fad but a fundamental shift in consumer behavior, poised for significant expansion by 2026.</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Growing consumer consciousness around ethical sourcing and environmental impact.</a:t>
            </a:r>
          </a:p>
          <a:p>
            <a:pPr>
              <a:spcAft>
                <a:spcPts val="800"/>
              </a:spcAft>
              <a:defRPr sz="1600">
                <a:solidFill>
                  <a:srgbClr val="1F2937"/>
                </a:solidFill>
              </a:defRPr>
            </a:pPr>
            <a:r>
              <a:t>Increasing market share for brands with verifiable sustainability practices.</a:t>
            </a:r>
          </a:p>
          <a:p>
            <a:pPr>
              <a:spcAft>
                <a:spcPts val="800"/>
              </a:spcAft>
              <a:defRPr sz="1600">
                <a:solidFill>
                  <a:srgbClr val="1F2937"/>
                </a:solidFill>
              </a:defRPr>
            </a:pPr>
            <a:r>
              <a:t>Projected significant expansion of the sustainable coffee market by 2026.</a:t>
            </a:r>
          </a:p>
          <a:p>
            <a:pPr>
              <a:spcAft>
                <a:spcPts val="800"/>
              </a:spcAft>
              <a:defRPr sz="1600">
                <a:solidFill>
                  <a:srgbClr val="1F2937"/>
                </a:solidFill>
              </a:defRPr>
            </a:pPr>
            <a:r>
              <a:t>Consumer willingness to pay a premium for sustainable products.</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Chart concept</a:t>
            </a:r>
          </a:p>
          <a:p>
            <a:pPr>
              <a:defRPr sz="1400">
                <a:solidFill>
                  <a:srgbClr val="334155"/>
                </a:solidFill>
              </a:defRPr>
            </a:pPr>
            <a:r>
              <a:t>A bar chart showing the projected growth of the sustainable coffee market from 2023 to 2026, with a clear upward trend. Highlight key growth drivers.</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ORB-872f7835, ORB-7ab80b94, ORB-f64821e0</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1  |  Evidence: ORB-872f7835, ORB-7ab80b94, ORB-f64821e0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02</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The Power of Loyalty: Recurring Revenue in Coffee</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explain the business value and mechanics of loyalty-driven recurring revenue models in the coffee sector.</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Subscription models offer a powerful pathway to predictable revenue streams, transforming one-time purchases into ongoing customer relationships. By fostering loyalty, coffee businesses can secure a consistent income, reduce customer acquisition costs, and increase overall customer lifetime value. This model shifts the focus from transactional sales to building enduring connections with consumers.</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Subscription models provide predictable and stable revenue.</a:t>
            </a:r>
          </a:p>
          <a:p>
            <a:pPr>
              <a:spcAft>
                <a:spcPts val="800"/>
              </a:spcAft>
              <a:defRPr sz="1600">
                <a:solidFill>
                  <a:srgbClr val="1F2937"/>
                </a:solidFill>
              </a:defRPr>
            </a:pPr>
            <a:r>
              <a:t>Loyalty is the cornerstone of successful recurring revenue.</a:t>
            </a:r>
          </a:p>
          <a:p>
            <a:pPr>
              <a:spcAft>
                <a:spcPts val="800"/>
              </a:spcAft>
              <a:defRPr sz="1600">
                <a:solidFill>
                  <a:srgbClr val="1F2937"/>
                </a:solidFill>
              </a:defRPr>
            </a:pPr>
            <a:r>
              <a:t>Reduced marketing spend due to higher customer retention.</a:t>
            </a:r>
          </a:p>
          <a:p>
            <a:pPr>
              <a:spcAft>
                <a:spcPts val="800"/>
              </a:spcAft>
              <a:defRPr sz="1600">
                <a:solidFill>
                  <a:srgbClr val="1F2937"/>
                </a:solidFill>
              </a:defRPr>
            </a:pPr>
            <a:r>
              <a:t>Increased profitability through higher customer lifetime value.</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Process concept</a:t>
            </a:r>
          </a:p>
          <a:p>
            <a:pPr>
              <a:defRPr sz="1400">
                <a:solidFill>
                  <a:srgbClr val="334155"/>
                </a:solidFill>
              </a:defRPr>
            </a:pPr>
            <a:r>
              <a:t>A flowchart illustrating how customer loyalty translates into recurring revenue, highlighting touchpoints like subscription sign-up, regular deliveries, and engagement leading to retention.</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ORB-fcda2df4, ORB-71d63a9c, ORB-975165ce</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2  |  Evidence: ORB-fcda2df4, ORB-71d63a9c, ORB-975165ce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03</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Quantifying the ROI of Customer Loyalty</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present data-backed evidence on the financial benefits of customer loyalty in subscription businesses.</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Investing in customer loyalty yields significant financial returns, particularly within subscription-based models. Loyal customers tend to spend more, refer new customers, and are less price-sensitive, directly impacting profitability. Understanding and optimizing for customer lifetime value is paramount for sustainable business growth and competitive advantage.</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Loyal customers contribute disproportionately to revenue.</a:t>
            </a:r>
          </a:p>
          <a:p>
            <a:pPr>
              <a:spcAft>
                <a:spcPts val="800"/>
              </a:spcAft>
              <a:defRPr sz="1600">
                <a:solidFill>
                  <a:srgbClr val="1F2937"/>
                </a:solidFill>
              </a:defRPr>
            </a:pPr>
            <a:r>
              <a:t>The cost of retaining a customer is significantly lower than acquiring a new one.</a:t>
            </a:r>
          </a:p>
          <a:p>
            <a:pPr>
              <a:spcAft>
                <a:spcPts val="800"/>
              </a:spcAft>
              <a:defRPr sz="1600">
                <a:solidFill>
                  <a:srgbClr val="1F2937"/>
                </a:solidFill>
              </a:defRPr>
            </a:pPr>
            <a:r>
              <a:t>High customer lifetime value (CLTV) is a key indicator of subscription success.</a:t>
            </a:r>
          </a:p>
          <a:p>
            <a:pPr>
              <a:spcAft>
                <a:spcPts val="800"/>
              </a:spcAft>
              <a:defRPr sz="1600">
                <a:solidFill>
                  <a:srgbClr val="1F2937"/>
                </a:solidFill>
              </a:defRPr>
            </a:pPr>
            <a:r>
              <a:t>Loyalty programs can boost CLTV by up to 50%.</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Chart concept</a:t>
            </a:r>
          </a:p>
          <a:p>
            <a:pPr>
              <a:defRPr sz="1400">
                <a:solidFill>
                  <a:srgbClr val="334155"/>
                </a:solidFill>
              </a:defRPr>
            </a:pPr>
            <a:r>
              <a:t>A comparison chart showing the average customer lifetime value (CLTV) for loyal vs. non-loyal customers, and a separate chart illustrating the cost difference between customer acquisition and retention.</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ORB-cee9d362, ORB-df9291a8</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3  |  Evidence: ORB-cee9d362, ORB-df9291a8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04</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The Synergistic Advantage: Sustainability Meets Loyalty</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demonstrate how sustainability enhances customer loyalty and drives recurring revenue.</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For the modern consumer, sustainability is no longer a secondary consideration but a core value that influences purchasing decisions. Brands that authentically integrate sustainable practices into their offerings can forge deeper emotional connections with their customer base. This alignment of values naturally fosters greater loyalty, making customers more likely to commit to recurring subscriptions and advocate for the brand.</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Consumers increasingly choose brands that align with their ethical and environmental values.</a:t>
            </a:r>
          </a:p>
          <a:p>
            <a:pPr>
              <a:spcAft>
                <a:spcPts val="800"/>
              </a:spcAft>
              <a:defRPr sz="1600">
                <a:solidFill>
                  <a:srgbClr val="1F2937"/>
                </a:solidFill>
              </a:defRPr>
            </a:pPr>
            <a:r>
              <a:t>Authentic sustainability efforts build trust and emotional connection.</a:t>
            </a:r>
          </a:p>
          <a:p>
            <a:pPr>
              <a:spcAft>
                <a:spcPts val="800"/>
              </a:spcAft>
              <a:defRPr sz="1600">
                <a:solidFill>
                  <a:srgbClr val="1F2937"/>
                </a:solidFill>
              </a:defRPr>
            </a:pPr>
            <a:r>
              <a:t>Value-aligned customers exhibit higher retention rates.</a:t>
            </a:r>
          </a:p>
          <a:p>
            <a:pPr>
              <a:spcAft>
                <a:spcPts val="800"/>
              </a:spcAft>
              <a:defRPr sz="1600">
                <a:solidFill>
                  <a:srgbClr val="1F2937"/>
                </a:solidFill>
              </a:defRPr>
            </a:pPr>
            <a:r>
              <a:t>Sustainability acts as a powerful differentiator in a crowded market.</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Comparison concept</a:t>
            </a:r>
          </a:p>
          <a:p>
            <a:pPr>
              <a:defRPr sz="1400">
                <a:solidFill>
                  <a:srgbClr val="334155"/>
                </a:solidFill>
              </a:defRPr>
            </a:pPr>
            <a:r>
              <a:t>A Venn diagram illustrating the overlap between 'Sustainable Consumer Values' and 'Subscription Loyalty Drivers', showing how sustainability acts as a key driver for loyal subscription customers.</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ORB-872f7835, ORB-cee9d362</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4  |  Evidence: ORB-872f7835, ORB-cee9d362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05</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Navigating the Operational Landscape</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identify key operational challenges and strategic imperatives for sustainable coffee subscription success.</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While the market opportunity is clear, scaling sustainable coffee subscriptions requires meticulous attention to operational details. Managing supply chain integrity, ensuring consistent quality, and optimizing logistics are critical. Proactive planning and investment in these areas will mitigate risks and ensure a seamless customer experience, which is vital for maintaining loyalty.</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Ensuring ethical and sustainable sourcing at scale.</a:t>
            </a:r>
          </a:p>
          <a:p>
            <a:pPr>
              <a:spcAft>
                <a:spcPts val="800"/>
              </a:spcAft>
              <a:defRPr sz="1600">
                <a:solidFill>
                  <a:srgbClr val="1F2937"/>
                </a:solidFill>
              </a:defRPr>
            </a:pPr>
            <a:r>
              <a:t>Maintaining consistent product quality across all batches.</a:t>
            </a:r>
          </a:p>
          <a:p>
            <a:pPr>
              <a:spcAft>
                <a:spcPts val="800"/>
              </a:spcAft>
              <a:defRPr sz="1600">
                <a:solidFill>
                  <a:srgbClr val="1F2937"/>
                </a:solidFill>
              </a:defRPr>
            </a:pPr>
            <a:r>
              <a:t>Optimizing logistics for timely and cost-effective delivery.</a:t>
            </a:r>
          </a:p>
          <a:p>
            <a:pPr>
              <a:spcAft>
                <a:spcPts val="800"/>
              </a:spcAft>
              <a:defRPr sz="1600">
                <a:solidFill>
                  <a:srgbClr val="1F2937"/>
                </a:solidFill>
              </a:defRPr>
            </a:pPr>
            <a:r>
              <a:t>Implementing robust quality control measures throughout the supply chain.</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Process concept</a:t>
            </a:r>
          </a:p>
          <a:p>
            <a:pPr>
              <a:defRPr sz="1400">
                <a:solidFill>
                  <a:srgbClr val="334155"/>
                </a:solidFill>
              </a:defRPr>
            </a:pPr>
            <a:r>
              <a:t>A process map detailing the key operational stages of a sustainable coffee subscription, from sourcing and roasting to packaging and delivery, highlighting critical control points.</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reasoned synthesis</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5  |  Evidence: reasoned synthesis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06</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Mitigating Business Risks</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address potential risks and gaps in the sustainable coffee subscription model.</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Several potential risks must be proactively managed to ensure the long-term viability of sustainable coffee subscriptions. Accurately quantifying the direct impact of sustainability on customer loyalty, balancing customer acquisition costs against lifetime value, and ensuring the scalability of ethical sourcing and operational models are paramount. Addressing these challenges head-on will build a resilient and profitable business.</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Accurately measuring the ROI of sustainability initiatives on customer loyalty.</a:t>
            </a:r>
          </a:p>
          <a:p>
            <a:pPr>
              <a:spcAft>
                <a:spcPts val="800"/>
              </a:spcAft>
              <a:defRPr sz="1600">
                <a:solidFill>
                  <a:srgbClr val="1F2937"/>
                </a:solidFill>
              </a:defRPr>
            </a:pPr>
            <a:r>
              <a:t>Optimizing the balance between customer acquisition cost (CAC) and customer lifetime value (CLTV).</a:t>
            </a:r>
          </a:p>
          <a:p>
            <a:pPr>
              <a:spcAft>
                <a:spcPts val="800"/>
              </a:spcAft>
              <a:defRPr sz="1600">
                <a:solidFill>
                  <a:srgbClr val="1F2937"/>
                </a:solidFill>
              </a:defRPr>
            </a:pPr>
            <a:r>
              <a:t>Ensuring the scalability of sustainable sourcing and operational processes.</a:t>
            </a:r>
          </a:p>
          <a:p>
            <a:pPr>
              <a:spcAft>
                <a:spcPts val="800"/>
              </a:spcAft>
              <a:defRPr sz="1600">
                <a:solidFill>
                  <a:srgbClr val="1F2937"/>
                </a:solidFill>
              </a:defRPr>
            </a:pPr>
            <a:r>
              <a:t>Managing potential fluctuations in the cost of ethically sourced beans.</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Comparison concept</a:t>
            </a:r>
          </a:p>
          <a:p>
            <a:pPr>
              <a:defRPr sz="1400">
                <a:solidFill>
                  <a:srgbClr val="334155"/>
                </a:solidFill>
              </a:defRPr>
            </a:pPr>
            <a:r>
              <a:t>A risk matrix plotting key risks against their potential impact and likelihood, with proposed mitigation strategies for each.</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reasoned synthesis</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6  |  Evidence: reasoned synthesis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07</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Strategic Imperatives for 2026</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outline the core strategic pillars for capitalizing on the sustainable coffee subscription market.</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To thrive in the 2026 market, businesses must focus on three core strategic imperatives: deeply embedding sustainability into the brand's DNA, leveraging loyalty-driven recurring revenue as the primary growth engine, and meticulously managing operational costs and quality. These pillars, when executed effectively, will create a defensible market position and drive sustained profitability.</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Prioritize authentic and transparent sustainability practices.</a:t>
            </a:r>
          </a:p>
          <a:p>
            <a:pPr>
              <a:spcAft>
                <a:spcPts val="800"/>
              </a:spcAft>
              <a:defRPr sz="1600">
                <a:solidFill>
                  <a:srgbClr val="1F2937"/>
                </a:solidFill>
              </a:defRPr>
            </a:pPr>
            <a:r>
              <a:t>Build and nurture customer loyalty through exceptional experiences.</a:t>
            </a:r>
          </a:p>
          <a:p>
            <a:pPr>
              <a:spcAft>
                <a:spcPts val="800"/>
              </a:spcAft>
              <a:defRPr sz="1600">
                <a:solidFill>
                  <a:srgbClr val="1F2937"/>
                </a:solidFill>
              </a:defRPr>
            </a:pPr>
            <a:r>
              <a:t>Optimize operational efficiency to manage costs effectively.</a:t>
            </a:r>
          </a:p>
          <a:p>
            <a:pPr>
              <a:spcAft>
                <a:spcPts val="800"/>
              </a:spcAft>
              <a:defRPr sz="1600">
                <a:solidFill>
                  <a:srgbClr val="1F2937"/>
                </a:solidFill>
              </a:defRPr>
            </a:pPr>
            <a:r>
              <a:t>Continuously innovate in product offerings and customer engagement.</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Architecture concept</a:t>
            </a:r>
          </a:p>
          <a:p>
            <a:pPr>
              <a:defRPr sz="1400">
                <a:solidFill>
                  <a:srgbClr val="334155"/>
                </a:solidFill>
              </a:defRPr>
            </a:pPr>
            <a:r>
              <a:t>A diagram showing three interconnected pillars: 'Sustainability', 'Loyalty &amp; Recurring Revenue', and 'Operational Excellence', supporting the overarching goal of 'Market Leadership in 2026'.</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ORB-872f7835, ORB-fcda2df4, ORB-cee9d362</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7  |  Evidence: ORB-872f7835, ORB-fcda2df4, ORB-cee9d362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41732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SLIDE 08</a:t>
            </a:r>
          </a:p>
        </p:txBody>
      </p:sp>
      <p:sp>
        <p:nvSpPr>
          <p:cNvPr id="7" name="Rounded Rectangle 6"/>
          <p:cNvSpPr/>
          <p:nvPr/>
        </p:nvSpPr>
        <p:spPr>
          <a:xfrm>
            <a:off x="384048" y="841248"/>
            <a:ext cx="65836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005840"/>
            <a:ext cx="5852160" cy="822960"/>
          </a:xfrm>
          <a:prstGeom prst="rect">
            <a:avLst/>
          </a:prstGeom>
          <a:noFill/>
        </p:spPr>
        <p:txBody>
          <a:bodyPr wrap="square">
            <a:spAutoFit/>
          </a:bodyPr>
          <a:lstStyle/>
          <a:p>
            <a:r>
              <a:rPr sz="2400" b="1">
                <a:solidFill>
                  <a:srgbClr val="0F172A"/>
                </a:solidFill>
              </a:rPr>
              <a:t>Seizing the Opportunity: Invest in the Future of Coffee</a:t>
            </a:r>
          </a:p>
        </p:txBody>
      </p:sp>
      <p:sp>
        <p:nvSpPr>
          <p:cNvPr id="9" name="TextBox 8"/>
          <p:cNvSpPr txBox="1"/>
          <p:nvPr/>
        </p:nvSpPr>
        <p:spPr>
          <a:xfrm>
            <a:off x="694944" y="1572768"/>
            <a:ext cx="5760720" cy="438912"/>
          </a:xfrm>
          <a:prstGeom prst="rect">
            <a:avLst/>
          </a:prstGeom>
          <a:noFill/>
        </p:spPr>
        <p:txBody>
          <a:bodyPr wrap="none">
            <a:spAutoFit/>
          </a:bodyPr>
          <a:lstStyle/>
          <a:p>
            <a:r>
              <a:rPr sz="1200" b="1">
                <a:solidFill>
                  <a:srgbClr val="166534"/>
                </a:solidFill>
              </a:rPr>
              <a:t>To conclude with a confident call to action, reinforcing the market opportunity and strategic advantage.</a:t>
            </a:r>
          </a:p>
        </p:txBody>
      </p:sp>
      <p:sp>
        <p:nvSpPr>
          <p:cNvPr id="10" name="TextBox 9"/>
          <p:cNvSpPr txBox="1"/>
          <p:nvPr/>
        </p:nvSpPr>
        <p:spPr>
          <a:xfrm>
            <a:off x="731520" y="2011680"/>
            <a:ext cx="5486400" cy="1298448"/>
          </a:xfrm>
          <a:prstGeom prst="rect">
            <a:avLst/>
          </a:prstGeom>
          <a:noFill/>
        </p:spPr>
        <p:txBody>
          <a:bodyPr wrap="square">
            <a:normAutofit/>
          </a:bodyPr>
          <a:lstStyle/>
          <a:p>
            <a:r>
              <a:rPr sz="1400">
                <a:solidFill>
                  <a:srgbClr val="334155"/>
                </a:solidFill>
              </a:rPr>
              <a:t>The convergence of consumer demand for sustainability and the proven power of loyalty-driven recurring revenue presents a unique and compelling market opportunity. By strategically addressing operational challenges and mitigating risks, businesses can position themselves for significant growth and leadership in the evolving coffee landscape. Now is the time to invest in a sustainable, loyal, and profitable future.</a:t>
            </a:r>
          </a:p>
        </p:txBody>
      </p:sp>
      <p:sp>
        <p:nvSpPr>
          <p:cNvPr id="11" name="TextBox 10"/>
          <p:cNvSpPr txBox="1"/>
          <p:nvPr/>
        </p:nvSpPr>
        <p:spPr>
          <a:xfrm>
            <a:off x="786384" y="3429000"/>
            <a:ext cx="5440680" cy="1965960"/>
          </a:xfrm>
          <a:prstGeom prst="rect">
            <a:avLst/>
          </a:prstGeom>
          <a:noFill/>
        </p:spPr>
        <p:txBody>
          <a:bodyPr wrap="square">
            <a:normAutofit/>
          </a:bodyPr>
          <a:lstStyle/>
          <a:p>
            <a:pPr>
              <a:spcAft>
                <a:spcPts val="800"/>
              </a:spcAft>
              <a:defRPr sz="1600">
                <a:solidFill>
                  <a:srgbClr val="1F2937"/>
                </a:solidFill>
              </a:defRPr>
            </a:pPr>
            <a:r>
              <a:t>The sustainable coffee market is poised for substantial growth.</a:t>
            </a:r>
          </a:p>
          <a:p>
            <a:pPr>
              <a:spcAft>
                <a:spcPts val="800"/>
              </a:spcAft>
              <a:defRPr sz="1600">
                <a:solidFill>
                  <a:srgbClr val="1F2937"/>
                </a:solidFill>
              </a:defRPr>
            </a:pPr>
            <a:r>
              <a:t>Loyalty-driven recurring revenue offers a robust business model.</a:t>
            </a:r>
          </a:p>
          <a:p>
            <a:pPr>
              <a:spcAft>
                <a:spcPts val="800"/>
              </a:spcAft>
              <a:defRPr sz="1600">
                <a:solidFill>
                  <a:srgbClr val="1F2937"/>
                </a:solidFill>
              </a:defRPr>
            </a:pPr>
            <a:r>
              <a:t>Strategic focus on sustainability and operational excellence is key.</a:t>
            </a:r>
          </a:p>
          <a:p>
            <a:pPr>
              <a:spcAft>
                <a:spcPts val="800"/>
              </a:spcAft>
              <a:defRPr sz="1600">
                <a:solidFill>
                  <a:srgbClr val="1F2937"/>
                </a:solidFill>
              </a:defRPr>
            </a:pPr>
            <a:r>
              <a:t>This is a prime opportunity for market leadership and strong ROI.</a:t>
            </a:r>
          </a:p>
        </p:txBody>
      </p:sp>
      <p:sp>
        <p:nvSpPr>
          <p:cNvPr id="12" name="Rounded Rectangle 11"/>
          <p:cNvSpPr/>
          <p:nvPr/>
        </p:nvSpPr>
        <p:spPr>
          <a:xfrm>
            <a:off x="7086600" y="1097280"/>
            <a:ext cx="4526280" cy="4526280"/>
          </a:xfrm>
          <a:prstGeom prst="roundRect">
            <a:avLst/>
          </a:prstGeom>
          <a:solidFill>
            <a:srgbClr val="FFFFFF"/>
          </a:solidFill>
          <a:ln>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6534"/>
                </a:solidFill>
              </a:rPr>
              <a:t>Closing concept</a:t>
            </a:r>
          </a:p>
          <a:p>
            <a:pPr>
              <a:defRPr sz="1400">
                <a:solidFill>
                  <a:srgbClr val="334155"/>
                </a:solidFill>
              </a:defRPr>
            </a:pPr>
            <a:r>
              <a:t>A visually impactful slide with a strong headline, perhaps a compelling image of sustainable coffee farming or a satisfied customer, and clear contact information or next steps.</a:t>
            </a:r>
          </a:p>
        </p:txBody>
      </p:sp>
      <p:sp>
        <p:nvSpPr>
          <p:cNvPr id="13" name="Rounded Rectangle 12"/>
          <p:cNvSpPr/>
          <p:nvPr/>
        </p:nvSpPr>
        <p:spPr>
          <a:xfrm>
            <a:off x="7114032" y="5623560"/>
            <a:ext cx="4443984"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a:solidFill>
                  <a:srgbClr val="1F2937"/>
                </a:solidFill>
              </a:rPr>
              <a:t>Evidence: reasoned synthesis</a:t>
            </a:r>
          </a:p>
        </p:txBody>
      </p:sp>
      <p:sp>
        <p:nvSpPr>
          <p:cNvPr id="14" name="TextBox 13"/>
          <p:cNvSpPr txBox="1"/>
          <p:nvPr/>
        </p:nvSpPr>
        <p:spPr>
          <a:xfrm>
            <a:off x="640080" y="6163056"/>
            <a:ext cx="10972800" cy="310896"/>
          </a:xfrm>
          <a:prstGeom prst="rect">
            <a:avLst/>
          </a:prstGeom>
          <a:noFill/>
        </p:spPr>
        <p:txBody>
          <a:bodyPr wrap="none">
            <a:spAutoFit/>
          </a:bodyPr>
          <a:lstStyle/>
          <a:p>
            <a:pPr algn="l"/>
            <a:r>
              <a:rPr sz="1000">
                <a:solidFill>
                  <a:srgbClr val="475569"/>
                </a:solidFill>
              </a:rPr>
              <a:t>Slide 8  |  Evidence: reasoned synthesis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